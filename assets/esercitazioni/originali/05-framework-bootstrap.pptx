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embeddedFontLst>
    <p:embeddedFont>
      <p:font typeface="Montserrat"/>
      <p:regular r:id="rId37"/>
      <p:bold r:id="rId38"/>
      <p:italic r:id="rId39"/>
      <p:boldItalic r:id="rId40"/>
    </p:embeddedFont>
    <p:embeddedFont>
      <p:font typeface="Fira Code"/>
      <p:regular r:id="rId41"/>
      <p:bold r:id="rId42"/>
    </p:embeddedFont>
    <p:embeddedFont>
      <p:font typeface="Karla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6.xml"/><Relationship Id="rId42" Type="http://schemas.openxmlformats.org/officeDocument/2006/relationships/font" Target="fonts/FiraCode-bold.fntdata"/><Relationship Id="rId41" Type="http://schemas.openxmlformats.org/officeDocument/2006/relationships/font" Target="fonts/FiraCode-regular.fntdata"/><Relationship Id="rId22" Type="http://schemas.openxmlformats.org/officeDocument/2006/relationships/slide" Target="slides/slide18.xml"/><Relationship Id="rId44" Type="http://schemas.openxmlformats.org/officeDocument/2006/relationships/font" Target="fonts/Karla-bold.fntdata"/><Relationship Id="rId21" Type="http://schemas.openxmlformats.org/officeDocument/2006/relationships/slide" Target="slides/slide17.xml"/><Relationship Id="rId43" Type="http://schemas.openxmlformats.org/officeDocument/2006/relationships/font" Target="fonts/Karla-regular.fntdata"/><Relationship Id="rId24" Type="http://schemas.openxmlformats.org/officeDocument/2006/relationships/slide" Target="slides/slide20.xml"/><Relationship Id="rId46" Type="http://schemas.openxmlformats.org/officeDocument/2006/relationships/font" Target="fonts/Karla-boldItalic.fntdata"/><Relationship Id="rId23" Type="http://schemas.openxmlformats.org/officeDocument/2006/relationships/slide" Target="slides/slide19.xml"/><Relationship Id="rId45" Type="http://schemas.openxmlformats.org/officeDocument/2006/relationships/font" Target="fonts/Karla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2.xml"/><Relationship Id="rId38" Type="http://schemas.openxmlformats.org/officeDocument/2006/relationships/font" Target="fonts/Montserrat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621cb6a7f4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621cb6a7f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6e9097d0cf_0_2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6e9097d0c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b23d5e08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b23d5e08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b23d5e084_0_6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b23d5e084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b23d5e0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b23d5e0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L’idea è quella di non reinvetare la ruota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6e9097d0c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6e9097d0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7c478357c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7c478357c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7c478357c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7c478357c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7c478357c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7c478357c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7c478357c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7c478357c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6e9097d0cf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6e9097d0c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7c478357c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7c478357c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7c478357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7c478357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7c478357c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7c478357c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7c478357c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7c478357c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7c478357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7c478357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7c478357c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7c478357c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7c478357c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7c478357c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7c478357cb_0_1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7c478357c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7c478357c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7c478357c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7c478357c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7c478357c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6e9097d0c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6e9097d0c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7c478357c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7c478357c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7c478357c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7c478357c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7c478357cb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7c478357c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7c478357c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7c478357c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7c478357c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7c478357c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6e9097d0cf_0_2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6e9097d0c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4fb1b6093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4fb1b609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4fb1b60937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4fb1b6093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4fb1b60937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4fb1b6093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9caecedcd2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9caecedcd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1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2" name="Google Shape;32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Google Shape;33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8" name="Google Shape;38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4" name="Google Shape;44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+2 columns">
  <p:cSld name="TITLE_AND_TWO_COLUMNS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1" name="Google Shape;51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84100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367385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838250" y="1504950"/>
            <a:ext cx="55074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9" name="Google Shape;59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7" name="Google Shape;67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2" name="Google Shape;72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7" name="Google Shape;77;p13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r">
  <p:cSld name="BLANK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529500" y="556000"/>
            <a:ext cx="8085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01525" y="1515201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4944100" y="1582226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▸"/>
              <a:defRPr sz="1600">
                <a:solidFill>
                  <a:srgbClr val="FFFFFF"/>
                </a:solidFill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BLANK_1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full">
  <p:cSld name="BLANK_1_2">
    <p:bg>
      <p:bgPr>
        <a:solidFill>
          <a:srgbClr val="33333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838200" y="255000"/>
            <a:ext cx="7467600" cy="4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▸"/>
              <a:defRPr>
                <a:solidFill>
                  <a:srgbClr val="FFFFFF"/>
                </a:solidFill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8">
          <p15:clr>
            <a:srgbClr val="FA7B17"/>
          </p15:clr>
        </p15:guide>
        <p15:guide id="2" pos="52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BLANK_1_1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>
  <p:cSld name="BLANK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 flipH="1">
            <a:off x="0" y="159275"/>
            <a:ext cx="9143546" cy="499750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94" name="Google Shape;94;p18"/>
          <p:cNvSpPr/>
          <p:nvPr/>
        </p:nvSpPr>
        <p:spPr>
          <a:xfrm flipH="1">
            <a:off x="225" y="238925"/>
            <a:ext cx="9143546" cy="491804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861825" y="1455400"/>
            <a:ext cx="74058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▸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7">
          <p15:clr>
            <a:srgbClr val="FA7B17"/>
          </p15:clr>
        </p15:guide>
        <p15:guide id="2" pos="5193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BLANK_1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">
  <p:cSld name="BLANK_1_1_2">
    <p:bg>
      <p:bgPr>
        <a:solidFill>
          <a:srgbClr val="3333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1227210" y="-10450"/>
            <a:ext cx="7915701" cy="5164387"/>
            <a:chOff x="1113125" y="-10450"/>
            <a:chExt cx="8443415" cy="5164387"/>
          </a:xfrm>
        </p:grpSpPr>
        <p:sp>
          <p:nvSpPr>
            <p:cNvPr id="102" name="Google Shape;102;p20"/>
            <p:cNvSpPr/>
            <p:nvPr/>
          </p:nvSpPr>
          <p:spPr>
            <a:xfrm rot="10800000">
              <a:off x="11131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000000">
                <a:alpha val="7310"/>
              </a:srgbClr>
            </a:solidFill>
            <a:ln>
              <a:noFill/>
            </a:ln>
          </p:spPr>
        </p:sp>
        <p:sp>
          <p:nvSpPr>
            <p:cNvPr id="103" name="Google Shape;103;p20"/>
            <p:cNvSpPr/>
            <p:nvPr/>
          </p:nvSpPr>
          <p:spPr>
            <a:xfrm rot="10800000">
              <a:off x="13272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36375" y="1989650"/>
            <a:ext cx="1483200" cy="27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000"/>
              <a:buFont typeface="Fira Code"/>
              <a:buNone/>
              <a:defRPr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2692125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1">
  <p:cSld name="BLANK_1_1_2_1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0" y="0"/>
            <a:ext cx="2379000" cy="515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819450" y="1504950"/>
            <a:ext cx="58233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2377450" y="0"/>
            <a:ext cx="543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">
  <p:cSld name="TITLE_AND_BODY_1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838350" y="893500"/>
            <a:ext cx="7188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838250" y="1504950"/>
            <a:ext cx="75405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3">
  <p:cSld name="BLANK_1_5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3333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▸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tackblitz.com/edit/stackblitz-starters-mmxdal?file=index.html" TargetMode="External"/><Relationship Id="rId4" Type="http://schemas.openxmlformats.org/officeDocument/2006/relationships/hyperlink" Target="#PROGRESS_BAR_I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hyperlink" Target="#PROGRESS_BAR_I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#PROGRESS_BAR_I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#PROGRESS_BAR_I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#PROGRESS_BAR_I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#PROGRESS_BAR_I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#PROGRESS_BAR_I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#PROGRESS_BAR_I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#PROGRESS_BAR_I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#PROGRESS_BAR_I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#PROGRESS_BAR_I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hyperlink" Target="#PROGRESS_BAR_I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etbootstrap.com/docs/5.3/getting-started/download/" TargetMode="External"/><Relationship Id="rId4" Type="http://schemas.openxmlformats.org/officeDocument/2006/relationships/hyperlink" Target="#PROGRESS_BAR_I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ass-lang.com/" TargetMode="External"/><Relationship Id="rId4" Type="http://schemas.openxmlformats.org/officeDocument/2006/relationships/hyperlink" Target="#PROGRESS_BAR_I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etbootstrap.com/docs/5.3/customize/overview/" TargetMode="External"/><Relationship Id="rId4" Type="http://schemas.openxmlformats.org/officeDocument/2006/relationships/hyperlink" Target="#PROGRESS_BAR_I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etbootstrap.com/docs/5.3/getting-started/download/#compiled-css-and-js" TargetMode="External"/><Relationship Id="rId4" Type="http://schemas.openxmlformats.org/officeDocument/2006/relationships/hyperlink" Target="#PROGRESS_BAR_I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jsdelivr.com/" TargetMode="External"/><Relationship Id="rId4" Type="http://schemas.openxmlformats.org/officeDocument/2006/relationships/hyperlink" Target="https://getbootstrap.com/docs/5.3/getting-started/download/#cdn-via-jsdelivr" TargetMode="External"/><Relationship Id="rId5" Type="http://schemas.openxmlformats.org/officeDocument/2006/relationships/hyperlink" Target="#PROGRESS_BAR_ID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#PROGRESS_BAR_I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hyperlink" Target="#PROGRESS_BAR_I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etbootstrap.com/docs/5.3/layout/containers/" TargetMode="External"/><Relationship Id="rId4" Type="http://schemas.openxmlformats.org/officeDocument/2006/relationships/hyperlink" Target="#PROGRESS_BAR_ID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etbootstrap.com/docs/5.3/layout/grid/" TargetMode="External"/><Relationship Id="rId4" Type="http://schemas.openxmlformats.org/officeDocument/2006/relationships/hyperlink" Target="#PROGRESS_BAR_I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hyperlink" Target="#PROGRESS_BAR_I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etbootstrap.com/docs/5.3/examples/grid/" TargetMode="External"/><Relationship Id="rId4" Type="http://schemas.openxmlformats.org/officeDocument/2006/relationships/hyperlink" Target="#PROGRESS_BAR_I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etbootstrap.com/docs/5.3/layout/grid/#nesting" TargetMode="External"/><Relationship Id="rId4" Type="http://schemas.openxmlformats.org/officeDocument/2006/relationships/hyperlink" Target="#PROGRESS_BAR_I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hyperlink" Target="#PROGRESS_BAR_ID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#PROGRESS_BAR_I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hyperlink" Target="#PROGRESS_BAR_I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upport.google.com/adsense/answer/132618?hl=it" TargetMode="External"/><Relationship Id="rId4" Type="http://schemas.openxmlformats.org/officeDocument/2006/relationships/hyperlink" Target="#PROGRESS_BAR_ID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hyperlink" Target="#PROGRESS_BAR_ID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hyperlink" Target="#PROGRESS_BAR_I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#PROGRESS_BAR_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CVeDI (8 CFU)</a:t>
            </a:r>
            <a:r>
              <a:rPr lang="en"/>
              <a:t> </a:t>
            </a:r>
            <a:endParaRPr/>
          </a:p>
        </p:txBody>
      </p:sp>
      <p:grpSp>
        <p:nvGrpSpPr>
          <p:cNvPr id="125" name="Google Shape;125;p24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126" name="Google Shape;126;p24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8" name="Google Shape;128;p24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4"/>
          <p:cNvSpPr txBox="1"/>
          <p:nvPr/>
        </p:nvSpPr>
        <p:spPr>
          <a:xfrm>
            <a:off x="682250" y="2416625"/>
            <a:ext cx="2870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ESERCITAZIONE 5</a:t>
            </a:r>
            <a:endParaRPr b="1" sz="12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459" y="209475"/>
            <a:ext cx="885366" cy="96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4"/>
          <p:cNvGrpSpPr/>
          <p:nvPr/>
        </p:nvGrpSpPr>
        <p:grpSpPr>
          <a:xfrm>
            <a:off x="7075525" y="209475"/>
            <a:ext cx="935100" cy="965400"/>
            <a:chOff x="2211650" y="411500"/>
            <a:chExt cx="935100" cy="965400"/>
          </a:xfrm>
        </p:grpSpPr>
        <p:sp>
          <p:nvSpPr>
            <p:cNvPr id="132" name="Google Shape;132;p24"/>
            <p:cNvSpPr/>
            <p:nvPr/>
          </p:nvSpPr>
          <p:spPr>
            <a:xfrm>
              <a:off x="2211650" y="411500"/>
              <a:ext cx="935100" cy="96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" name="Google Shape;133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41325" y="456337"/>
              <a:ext cx="875725" cy="87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4"/>
          <p:cNvSpPr txBox="1"/>
          <p:nvPr/>
        </p:nvSpPr>
        <p:spPr>
          <a:xfrm>
            <a:off x="5802725" y="3214950"/>
            <a:ext cx="2948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 Guarnieri</a:t>
            </a:r>
            <a:endParaRPr b="1" sz="13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elia.guarnieri@unimib.it</a:t>
            </a:r>
            <a:endParaRPr b="1" i="1" sz="11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5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3</a:t>
            </a:r>
            <a:endParaRPr/>
          </a:p>
        </p:txBody>
      </p:sp>
      <p:sp>
        <p:nvSpPr>
          <p:cNvPr id="141" name="Google Shape;141;p25"/>
          <p:cNvSpPr txBox="1"/>
          <p:nvPr>
            <p:ph idx="4294967295" type="body"/>
          </p:nvPr>
        </p:nvSpPr>
        <p:spPr>
          <a:xfrm>
            <a:off x="838250" y="1504950"/>
            <a:ext cx="58428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Possibile soluzione all’esercizio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https://stackblitz.com/edit/stackblitz-starters-mmxdal?file=index.html</a:t>
            </a:r>
            <a:endParaRPr sz="1500"/>
          </a:p>
        </p:txBody>
      </p:sp>
      <p:grpSp>
        <p:nvGrpSpPr>
          <p:cNvPr id="142" name="Google Shape;142;p25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143" name="Google Shape;143;p25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5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5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5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5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25">
            <a:hlinkClick r:id="rId4"/>
          </p:cNvPr>
          <p:cNvSpPr/>
          <p:nvPr/>
        </p:nvSpPr>
        <p:spPr>
          <a:xfrm>
            <a:off x="0" y="5092700"/>
            <a:ext cx="326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Introduzione ai </a:t>
            </a:r>
            <a:br>
              <a:rPr lang="en"/>
            </a:br>
            <a:r>
              <a:rPr lang="en"/>
              <a:t>framework e a Bootstrap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Framework, toolkit e librerie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Introduzione a Bootstrap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Bootstrap e il layout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6">
            <a:hlinkClick r:id="rId3"/>
          </p:cNvPr>
          <p:cNvSpPr/>
          <p:nvPr/>
        </p:nvSpPr>
        <p:spPr>
          <a:xfrm>
            <a:off x="0" y="5092700"/>
            <a:ext cx="653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ctrTitle"/>
          </p:nvPr>
        </p:nvSpPr>
        <p:spPr>
          <a:xfrm>
            <a:off x="648300" y="1354750"/>
            <a:ext cx="40086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FRAMEWORK, TOOLKIT, LIBRERIE</a:t>
            </a:r>
            <a:endParaRPr/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64" name="Google Shape;164;p27">
            <a:hlinkClick r:id="rId3"/>
          </p:cNvPr>
          <p:cNvSpPr/>
          <p:nvPr/>
        </p:nvSpPr>
        <p:spPr>
          <a:xfrm>
            <a:off x="0" y="5092700"/>
            <a:ext cx="979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Cosa è una libreria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838250" y="1504950"/>
            <a:ext cx="5324100" cy="19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complessità delle applicazioni odierne rende consigliabile combinare il proprio codice con porzioni di codice condiviso che aiutino ad agevolare lo sviluppo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Lo scopo delle </a:t>
            </a:r>
            <a:r>
              <a:rPr b="1" lang="en" sz="1500"/>
              <a:t>librerie </a:t>
            </a:r>
            <a:r>
              <a:rPr lang="en" sz="1500"/>
              <a:t>è fornire una collezione di entità riutilizzabili, che lo sviluppatore può utilizzare per </a:t>
            </a:r>
            <a:r>
              <a:rPr b="1" lang="en" sz="1500"/>
              <a:t>evitare di dover riscrivere</a:t>
            </a:r>
            <a:r>
              <a:rPr lang="en" sz="1500"/>
              <a:t> ogni volta le stesse funzioni, facilitando così le operazioni di sviluppo e manutenzione</a:t>
            </a:r>
            <a:endParaRPr sz="1500"/>
          </a:p>
        </p:txBody>
      </p:sp>
      <p:sp>
        <p:nvSpPr>
          <p:cNvPr id="172" name="Google Shape;172;p28">
            <a:hlinkClick r:id="rId3"/>
          </p:cNvPr>
          <p:cNvSpPr/>
          <p:nvPr/>
        </p:nvSpPr>
        <p:spPr>
          <a:xfrm>
            <a:off x="0" y="5092700"/>
            <a:ext cx="1306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Cosa è un framework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838250" y="1504950"/>
            <a:ext cx="5324100" cy="21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Quando si parla di applicazioni web, il </a:t>
            </a:r>
            <a:r>
              <a:rPr b="1" lang="en" sz="1500"/>
              <a:t>framework </a:t>
            </a:r>
            <a:r>
              <a:rPr lang="en" sz="1500"/>
              <a:t>può essere definito come una “</a:t>
            </a:r>
            <a:r>
              <a:rPr b="1" lang="en" sz="1500"/>
              <a:t>cornice</a:t>
            </a:r>
            <a:r>
              <a:rPr lang="en" sz="1500"/>
              <a:t>” applicabile ad un linguaggio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Un framework è solitamente un sistema distribuito in cartelle e sotto forma di alcune porzioni di codice prestabilite che, connesse attraverso un </a:t>
            </a:r>
            <a:r>
              <a:rPr b="1" lang="en" sz="1500"/>
              <a:t>design concettuale</a:t>
            </a:r>
            <a:r>
              <a:rPr lang="en" sz="1500"/>
              <a:t> </a:t>
            </a:r>
            <a:r>
              <a:rPr b="1" lang="en" sz="1500"/>
              <a:t>univoco</a:t>
            </a:r>
            <a:r>
              <a:rPr lang="en" sz="1500"/>
              <a:t>, sono state create per la realizzazione di alcune specifiche funzioni</a:t>
            </a:r>
            <a:endParaRPr sz="1500"/>
          </a:p>
        </p:txBody>
      </p:sp>
      <p:sp>
        <p:nvSpPr>
          <p:cNvPr id="180" name="Google Shape;180;p29">
            <a:hlinkClick r:id="rId3"/>
          </p:cNvPr>
          <p:cNvSpPr/>
          <p:nvPr/>
        </p:nvSpPr>
        <p:spPr>
          <a:xfrm>
            <a:off x="0" y="5092700"/>
            <a:ext cx="1632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Cosa è un toolkit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838250" y="1504950"/>
            <a:ext cx="53241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Ancora non esiste una definizione articolata e condivisa di toolkit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Il toolkit può essere visto come una </a:t>
            </a:r>
            <a:r>
              <a:rPr b="1" lang="en" sz="1500"/>
              <a:t>collezione di risorse</a:t>
            </a:r>
            <a:r>
              <a:rPr lang="en" sz="1500"/>
              <a:t> che possono essere sfruttate insieme per svolgere determinate funzioni</a:t>
            </a:r>
            <a:endParaRPr sz="1500"/>
          </a:p>
        </p:txBody>
      </p:sp>
      <p:sp>
        <p:nvSpPr>
          <p:cNvPr id="188" name="Google Shape;188;p30">
            <a:hlinkClick r:id="rId3"/>
          </p:cNvPr>
          <p:cNvSpPr/>
          <p:nvPr/>
        </p:nvSpPr>
        <p:spPr>
          <a:xfrm>
            <a:off x="0" y="5092700"/>
            <a:ext cx="1959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Librerie vs toolkit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838250" y="1504950"/>
            <a:ext cx="5324100" cy="16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differenza tra un gruppo di librerie indipendenti e un toolkit è </a:t>
            </a:r>
            <a:r>
              <a:rPr b="1" lang="en" sz="1500"/>
              <a:t>l’integrazione</a:t>
            </a:r>
            <a:r>
              <a:rPr lang="en" sz="1500"/>
              <a:t>: nel primo caso potrebbe rendersi necessario un ulteriore sforzo per farle funzionare insieme nel modo corretto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Il toolkit, </a:t>
            </a:r>
            <a:r>
              <a:rPr lang="en" sz="1500"/>
              <a:t>invece,</a:t>
            </a:r>
            <a:r>
              <a:rPr lang="en" sz="1500"/>
              <a:t> può comprendere diverse risorse che sono state pensate per integrarsi e operare insieme</a:t>
            </a:r>
            <a:endParaRPr sz="1500"/>
          </a:p>
        </p:txBody>
      </p:sp>
      <p:sp>
        <p:nvSpPr>
          <p:cNvPr id="196" name="Google Shape;196;p31">
            <a:hlinkClick r:id="rId3"/>
          </p:cNvPr>
          <p:cNvSpPr/>
          <p:nvPr/>
        </p:nvSpPr>
        <p:spPr>
          <a:xfrm>
            <a:off x="0" y="5092700"/>
            <a:ext cx="2286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2"/>
          <p:cNvSpPr txBox="1"/>
          <p:nvPr>
            <p:ph type="title"/>
          </p:nvPr>
        </p:nvSpPr>
        <p:spPr>
          <a:xfrm>
            <a:off x="838309" y="93462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Librerie vs framework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838250" y="1546075"/>
            <a:ext cx="3148200" cy="26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Oltre 10 anni fa l’informatico Martin Fowler ha pubblicato un influente articolo </a:t>
            </a:r>
            <a:r>
              <a:rPr b="1" lang="en" sz="1300"/>
              <a:t>sull’inversione di controllo</a:t>
            </a:r>
            <a:r>
              <a:rPr lang="en" sz="1300"/>
              <a:t>, che può essere vista come la principale differenza tra libreria e framework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Quando utilizziamo una libreria, abbiamo noi il controllo di ciò che stiamo facendo. Quando lavoriamo con un framework, invece, è lui ad averlo: il flusso di controllo è già definito, e noi avremo semplicemente una serie di spazi da riempire con il nostro codice</a:t>
            </a:r>
            <a:endParaRPr sz="1300"/>
          </a:p>
        </p:txBody>
      </p:sp>
      <p:pic>
        <p:nvPicPr>
          <p:cNvPr id="204" name="Google Shape;204;p32"/>
          <p:cNvPicPr preferRelativeResize="0"/>
          <p:nvPr/>
        </p:nvPicPr>
        <p:blipFill rotWithShape="1">
          <a:blip r:embed="rId3">
            <a:alphaModFix/>
          </a:blip>
          <a:srcRect b="0" l="0" r="56275" t="0"/>
          <a:stretch/>
        </p:blipFill>
        <p:spPr>
          <a:xfrm>
            <a:off x="5737650" y="469375"/>
            <a:ext cx="2218100" cy="19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3">
            <a:alphaModFix/>
          </a:blip>
          <a:srcRect b="0" l="56275" r="0" t="0"/>
          <a:stretch/>
        </p:blipFill>
        <p:spPr>
          <a:xfrm>
            <a:off x="5737650" y="2675775"/>
            <a:ext cx="2218100" cy="19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>
            <a:hlinkClick r:id="rId4"/>
          </p:cNvPr>
          <p:cNvSpPr/>
          <p:nvPr/>
        </p:nvSpPr>
        <p:spPr>
          <a:xfrm>
            <a:off x="0" y="5092700"/>
            <a:ext cx="2612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3"/>
          <p:cNvSpPr txBox="1"/>
          <p:nvPr>
            <p:ph type="title"/>
          </p:nvPr>
        </p:nvSpPr>
        <p:spPr>
          <a:xfrm>
            <a:off x="838350" y="893500"/>
            <a:ext cx="541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Esempi di librerie, toolkit e framework per applicazioni web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838250" y="1504950"/>
            <a:ext cx="5324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Librerie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500"/>
              <a:buChar char="▸"/>
            </a:pPr>
            <a:r>
              <a:rPr lang="en" sz="1500"/>
              <a:t>Front-end: jQuery/React</a:t>
            </a:r>
            <a:endParaRPr sz="1500"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838250" y="2151450"/>
            <a:ext cx="5324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Toolkit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500"/>
              <a:buChar char="▸"/>
            </a:pPr>
            <a:r>
              <a:rPr lang="en" sz="1500"/>
              <a:t>Front-end: Bootstrap</a:t>
            </a:r>
            <a:endParaRPr sz="1500"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838250" y="2797950"/>
            <a:ext cx="5324100" cy="10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Framework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Back-end</a:t>
            </a:r>
            <a:r>
              <a:rPr lang="en" sz="1500"/>
              <a:t>: Laravel (php), Django (python), Express (js)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▸"/>
            </a:pPr>
            <a:r>
              <a:rPr lang="en" sz="1500"/>
              <a:t>Front-end: Angular/Vue (js)</a:t>
            </a:r>
            <a:endParaRPr sz="1500"/>
          </a:p>
        </p:txBody>
      </p:sp>
      <p:sp>
        <p:nvSpPr>
          <p:cNvPr id="216" name="Google Shape;216;p33">
            <a:hlinkClick r:id="rId3"/>
          </p:cNvPr>
          <p:cNvSpPr/>
          <p:nvPr/>
        </p:nvSpPr>
        <p:spPr>
          <a:xfrm>
            <a:off x="0" y="5092700"/>
            <a:ext cx="2939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INTRODUZIONE A BOOTSTRAP</a:t>
            </a:r>
            <a:endParaRPr/>
          </a:p>
        </p:txBody>
      </p:sp>
      <p:sp>
        <p:nvSpPr>
          <p:cNvPr id="222" name="Google Shape;222;p3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23" name="Google Shape;223;p34">
            <a:hlinkClick r:id="rId3"/>
          </p:cNvPr>
          <p:cNvSpPr/>
          <p:nvPr/>
        </p:nvSpPr>
        <p:spPr>
          <a:xfrm>
            <a:off x="0" y="5092700"/>
            <a:ext cx="3265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Cosa è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838250" y="1504950"/>
            <a:ext cx="53241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Bootstrap è un toolkit open-source che </a:t>
            </a:r>
            <a:r>
              <a:rPr b="1" lang="en" sz="1500"/>
              <a:t>agevola fortemente lo sviluppo di siti web responsive</a:t>
            </a:r>
            <a:r>
              <a:rPr lang="en" sz="1500"/>
              <a:t>, facilitando soprattutto la gestione della griglia e del flusso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Bootstrap mette a disposizione una serie di </a:t>
            </a:r>
            <a:r>
              <a:rPr b="1" lang="en" sz="1500"/>
              <a:t>classi CSS pre-costituite</a:t>
            </a:r>
            <a:r>
              <a:rPr lang="en" sz="1500"/>
              <a:t>, oltre ad utili plugin JavaScript</a:t>
            </a:r>
            <a:endParaRPr sz="1500"/>
          </a:p>
        </p:txBody>
      </p:sp>
      <p:sp>
        <p:nvSpPr>
          <p:cNvPr id="231" name="Google Shape;231;p35">
            <a:hlinkClick r:id="rId3"/>
          </p:cNvPr>
          <p:cNvSpPr/>
          <p:nvPr/>
        </p:nvSpPr>
        <p:spPr>
          <a:xfrm>
            <a:off x="0" y="5092700"/>
            <a:ext cx="3592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 vantaggi di usare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838250" y="1504950"/>
            <a:ext cx="53241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La scrittura del codice e l’implementazione del sito è più veloce e meno frustrante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Si tratta di un toolkit che è facile da installare e da imparare ad utilizzare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Vi aiuta a gestire la griglia, garantendo allo stesso tempo una grande flessibilità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Implementa stili per diversi elementi html (bottoni, form, tabelle…) e componenti (breadcrumbs, alert, dropdown) lasciando però spazio a una forte personalizzazione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Ha una buona documentazione</a:t>
            </a:r>
            <a:endParaRPr sz="1500"/>
          </a:p>
        </p:txBody>
      </p:sp>
      <p:sp>
        <p:nvSpPr>
          <p:cNvPr id="239" name="Google Shape;239;p36">
            <a:hlinkClick r:id="rId3"/>
          </p:cNvPr>
          <p:cNvSpPr/>
          <p:nvPr/>
        </p:nvSpPr>
        <p:spPr>
          <a:xfrm>
            <a:off x="0" y="5092700"/>
            <a:ext cx="3918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Installazione di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838250" y="1504950"/>
            <a:ext cx="53241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/>
              <a:t>Ci sono diverse opzioni</a:t>
            </a:r>
            <a:endParaRPr sz="1500"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838250" y="1920450"/>
            <a:ext cx="5324100" cy="12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CSS precompilato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Scaricando i file e includendoli nella cartella del vostro progetto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▸"/>
            </a:pPr>
            <a:r>
              <a:rPr lang="en" sz="1500"/>
              <a:t>Utilizzando una CDN</a:t>
            </a:r>
            <a:endParaRPr sz="1500"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838250" y="3157050"/>
            <a:ext cx="53241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Codice sorgente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500"/>
              <a:buChar char="▸"/>
            </a:pPr>
            <a:r>
              <a:rPr lang="en" sz="1500"/>
              <a:t>Scaricando il codice sorgente (sass) e compilandolo sulla macchina</a:t>
            </a:r>
            <a:endParaRPr sz="1500"/>
          </a:p>
        </p:txBody>
      </p:sp>
      <p:sp>
        <p:nvSpPr>
          <p:cNvPr id="249" name="Google Shape;249;p37"/>
          <p:cNvSpPr txBox="1"/>
          <p:nvPr/>
        </p:nvSpPr>
        <p:spPr>
          <a:xfrm>
            <a:off x="818550" y="4300200"/>
            <a:ext cx="534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https://getbootstrap.com/docs/5.3/getting-started/download/</a:t>
            </a:r>
            <a:endParaRPr/>
          </a:p>
        </p:txBody>
      </p:sp>
      <p:sp>
        <p:nvSpPr>
          <p:cNvPr id="250" name="Google Shape;250;p37">
            <a:hlinkClick r:id="rId4"/>
          </p:cNvPr>
          <p:cNvSpPr/>
          <p:nvPr/>
        </p:nvSpPr>
        <p:spPr>
          <a:xfrm>
            <a:off x="0" y="5092700"/>
            <a:ext cx="4245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Sass e compilatori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838250" y="1504950"/>
            <a:ext cx="53241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SASS </a:t>
            </a:r>
            <a:r>
              <a:rPr lang="en" sz="1500"/>
              <a:t>(Syntactically Awesome StyleSheets) è un'estensione del linguaggio CSS che permette di utilizzare variabili, di creare funzioni e di organizzare il foglio di stile in più file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Esso si affida a un </a:t>
            </a:r>
            <a:r>
              <a:rPr b="1" lang="en" sz="1500"/>
              <a:t>preprocessore CSS</a:t>
            </a:r>
            <a:r>
              <a:rPr lang="en" sz="1500"/>
              <a:t>, il quale serve a definire fogli di stile con una forma più semplice, completa e potente rispetto ai CSS e a generare file CSS ottimizzati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 preprocessori permettono di definire variabili, funzioni e molto altro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Per generare un .css a partire da un preprocessore serve un </a:t>
            </a:r>
            <a:r>
              <a:rPr b="1" lang="en" sz="1500"/>
              <a:t>compilatore</a:t>
            </a:r>
            <a:r>
              <a:rPr lang="en" sz="1500"/>
              <a:t>, un programma che “traduce” il vostro .scss</a:t>
            </a:r>
            <a:endParaRPr sz="1500"/>
          </a:p>
        </p:txBody>
      </p:sp>
      <p:sp>
        <p:nvSpPr>
          <p:cNvPr id="258" name="Google Shape;258;p38"/>
          <p:cNvSpPr txBox="1"/>
          <p:nvPr/>
        </p:nvSpPr>
        <p:spPr>
          <a:xfrm>
            <a:off x="838250" y="4508900"/>
            <a:ext cx="532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Per approfondire:</a:t>
            </a:r>
            <a:r>
              <a:rPr lang="en"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https://sass-lang.com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9" name="Google Shape;259;p38">
            <a:hlinkClick r:id="rId4"/>
          </p:cNvPr>
          <p:cNvSpPr/>
          <p:nvPr/>
        </p:nvSpPr>
        <p:spPr>
          <a:xfrm>
            <a:off x="0" y="5092700"/>
            <a:ext cx="4572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Configurazione e personalizzazione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838250" y="1504950"/>
            <a:ext cx="5324100" cy="25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Scaricare il codice sorgente di Bootstrap in formato .scss (non ancora compilato) permette dunque di personalizzare stili e comportamenti sovrascrivendo direttamente le </a:t>
            </a:r>
            <a:r>
              <a:rPr b="1" lang="en" sz="1500"/>
              <a:t>variabili Sass</a:t>
            </a:r>
            <a:r>
              <a:rPr lang="en" sz="1500"/>
              <a:t>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In questo modo è possibile compilare un .css di Bootstrap personalizzato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Si può anche scegliere di importare il .css di Bootstrap già compilato, sovrascrivendo le classi necessarie sfruttando le </a:t>
            </a:r>
            <a:r>
              <a:rPr b="1" lang="en" sz="1500"/>
              <a:t>regole di priorità dei CSS</a:t>
            </a:r>
            <a:endParaRPr sz="1500"/>
          </a:p>
        </p:txBody>
      </p:sp>
      <p:sp>
        <p:nvSpPr>
          <p:cNvPr id="267" name="Google Shape;267;p39"/>
          <p:cNvSpPr txBox="1"/>
          <p:nvPr/>
        </p:nvSpPr>
        <p:spPr>
          <a:xfrm>
            <a:off x="838250" y="4508900"/>
            <a:ext cx="532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https://getbootstrap.com/docs/5.3/customize/overview/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68" name="Google Shape;268;p39">
            <a:hlinkClick r:id="rId4"/>
          </p:cNvPr>
          <p:cNvSpPr/>
          <p:nvPr/>
        </p:nvSpPr>
        <p:spPr>
          <a:xfrm>
            <a:off x="0" y="5092700"/>
            <a:ext cx="4898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4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Bootstrap precompilato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838250" y="1504950"/>
            <a:ext cx="5324100" cy="16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Per iniziare potrebbe essere più semplice utilizzare Bootstrap precompilato, che consiste in un .css pronto per essere incluso nei vostri documenti, oltre a dei plugin JavaScript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Per farlo, un’opzione è scaricare la cartella compressa messa a disposizione dal sito ufficiale</a:t>
            </a:r>
            <a:endParaRPr sz="1500"/>
          </a:p>
        </p:txBody>
      </p:sp>
      <p:sp>
        <p:nvSpPr>
          <p:cNvPr id="276" name="Google Shape;276;p40"/>
          <p:cNvSpPr txBox="1"/>
          <p:nvPr/>
        </p:nvSpPr>
        <p:spPr>
          <a:xfrm>
            <a:off x="838250" y="4134250"/>
            <a:ext cx="53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https://getbootstrap.com/docs/5.3/getting-started/download/#compiled-css-and-js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7" name="Google Shape;277;p40">
            <a:hlinkClick r:id="rId4"/>
          </p:cNvPr>
          <p:cNvSpPr/>
          <p:nvPr/>
        </p:nvSpPr>
        <p:spPr>
          <a:xfrm>
            <a:off x="0" y="5092700"/>
            <a:ext cx="5225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Cos’è una CDN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838250" y="1504950"/>
            <a:ext cx="53241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Se si vuole saltare il download, Bootstrap offre la possibilità di sfruttare una CDN.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CDN è l’acronimo di </a:t>
            </a:r>
            <a:r>
              <a:rPr b="1" lang="en" sz="1500"/>
              <a:t>Content Delivery Network</a:t>
            </a:r>
            <a:r>
              <a:rPr lang="en" sz="1500"/>
              <a:t> (rete di consegna dei contenuti): è una rete di server geograficamente distribuiti che forniscono rapidamente contenuti di vario tipo.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Bootstrap usa la CDN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JsDelivr</a:t>
            </a:r>
            <a:endParaRPr sz="1500"/>
          </a:p>
        </p:txBody>
      </p:sp>
      <p:sp>
        <p:nvSpPr>
          <p:cNvPr id="285" name="Google Shape;285;p41"/>
          <p:cNvSpPr txBox="1"/>
          <p:nvPr/>
        </p:nvSpPr>
        <p:spPr>
          <a:xfrm>
            <a:off x="838250" y="4175025"/>
            <a:ext cx="53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https://getbootstrap.com/docs/5.3/getting-started/download/#cdn-via-jsdelivr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86" name="Google Shape;286;p41">
            <a:hlinkClick r:id="rId5"/>
          </p:cNvPr>
          <p:cNvSpPr/>
          <p:nvPr/>
        </p:nvSpPr>
        <p:spPr>
          <a:xfrm>
            <a:off x="0" y="5092700"/>
            <a:ext cx="5551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E IL LAYOUT</a:t>
            </a:r>
            <a:endParaRPr/>
          </a:p>
        </p:txBody>
      </p:sp>
      <p:sp>
        <p:nvSpPr>
          <p:cNvPr id="292" name="Google Shape;292;p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93" name="Google Shape;293;p42">
            <a:hlinkClick r:id="rId3"/>
          </p:cNvPr>
          <p:cNvSpPr/>
          <p:nvPr/>
        </p:nvSpPr>
        <p:spPr>
          <a:xfrm>
            <a:off x="0" y="5092700"/>
            <a:ext cx="5878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43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 breakpoint di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838250" y="1504950"/>
            <a:ext cx="5324100" cy="22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Bootstrap è un grande alleato per quanto riguarda l’implementazione dei siti responsive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Il suo approccio mobile-first definisce diversi breakpoint: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Dispositivi extra-small (</a:t>
            </a:r>
            <a:r>
              <a:rPr b="1" lang="en" sz="1500"/>
              <a:t>xs</a:t>
            </a:r>
            <a:r>
              <a:rPr lang="en" sz="1500"/>
              <a:t>) sotto i 576 pixel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Dispositivi small (</a:t>
            </a:r>
            <a:r>
              <a:rPr b="1" lang="en" sz="1500"/>
              <a:t>sm</a:t>
            </a:r>
            <a:r>
              <a:rPr lang="en" sz="1500"/>
              <a:t>) &gt;= 576 e &lt; 768 pixel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Dispositivi medium (</a:t>
            </a:r>
            <a:r>
              <a:rPr b="1" lang="en" sz="1500"/>
              <a:t>md</a:t>
            </a:r>
            <a:r>
              <a:rPr lang="en" sz="1500"/>
              <a:t>) &gt;= 768 e &lt; 992 pixel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Dispositivi large (</a:t>
            </a:r>
            <a:r>
              <a:rPr b="1" lang="en" sz="1500"/>
              <a:t>lg</a:t>
            </a:r>
            <a:r>
              <a:rPr lang="en" sz="1500"/>
              <a:t>) &gt;= 992 e &lt; 1200 pixel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Dispositivi extra-large (</a:t>
            </a:r>
            <a:r>
              <a:rPr b="1" lang="en" sz="1500"/>
              <a:t>xl</a:t>
            </a:r>
            <a:r>
              <a:rPr lang="en" sz="1500"/>
              <a:t>) sopra i 1200 pixel</a:t>
            </a:r>
            <a:endParaRPr sz="1500"/>
          </a:p>
        </p:txBody>
      </p:sp>
      <p:sp>
        <p:nvSpPr>
          <p:cNvPr id="301" name="Google Shape;301;p43">
            <a:hlinkClick r:id="rId3"/>
          </p:cNvPr>
          <p:cNvSpPr/>
          <p:nvPr/>
        </p:nvSpPr>
        <p:spPr>
          <a:xfrm>
            <a:off x="0" y="5092700"/>
            <a:ext cx="6204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4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 container di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08" name="Google Shape;308;p44"/>
          <p:cNvSpPr txBox="1"/>
          <p:nvPr>
            <p:ph idx="1" type="body"/>
          </p:nvPr>
        </p:nvSpPr>
        <p:spPr>
          <a:xfrm>
            <a:off x="838250" y="1504950"/>
            <a:ext cx="5324100" cy="24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I container sono un elemento fondamentale del layout di Bootstrap e il loro inserimento è sempre necessario per garantire il corretto funzionamento della griglia del sito che state sviluppando.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Esistono tre tipi di container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▸"/>
            </a:pPr>
            <a:r>
              <a:rPr b="1" lang="en" sz="1300"/>
              <a:t>.container</a:t>
            </a:r>
            <a:r>
              <a:rPr lang="en" sz="1300"/>
              <a:t>, che imposta una larghezza massima predefinita per ogni breakpoint (es. 1140px per schermi xl)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b="1" lang="en" sz="1300"/>
              <a:t>.container-fluid</a:t>
            </a:r>
            <a:r>
              <a:rPr lang="en" sz="1300"/>
              <a:t> che ha una larghezza del 100%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b="1" lang="en" sz="1300"/>
              <a:t>.container-{breakpoint}</a:t>
            </a:r>
            <a:r>
              <a:rPr lang="en" sz="1300"/>
              <a:t> che ha una larghezza del 100% finché non si supera un determinato breakpoint (es. md ha una larghezza 100% su schermi inferiori a 768px)</a:t>
            </a:r>
            <a:endParaRPr sz="1300"/>
          </a:p>
        </p:txBody>
      </p:sp>
      <p:sp>
        <p:nvSpPr>
          <p:cNvPr id="309" name="Google Shape;309;p44"/>
          <p:cNvSpPr txBox="1"/>
          <p:nvPr/>
        </p:nvSpPr>
        <p:spPr>
          <a:xfrm>
            <a:off x="838250" y="4327525"/>
            <a:ext cx="53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https://getbootstrap.com/docs/5.3/layout/containers/</a:t>
            </a:r>
            <a:endParaRPr/>
          </a:p>
        </p:txBody>
      </p:sp>
      <p:sp>
        <p:nvSpPr>
          <p:cNvPr id="310" name="Google Shape;310;p44">
            <a:hlinkClick r:id="rId4"/>
          </p:cNvPr>
          <p:cNvSpPr/>
          <p:nvPr/>
        </p:nvSpPr>
        <p:spPr>
          <a:xfrm>
            <a:off x="0" y="5092700"/>
            <a:ext cx="6531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5"/>
          <p:cNvSpPr txBox="1"/>
          <p:nvPr>
            <p:ph type="title"/>
          </p:nvPr>
        </p:nvSpPr>
        <p:spPr>
          <a:xfrm>
            <a:off x="838309" y="857675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La griglia di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17" name="Google Shape;317;p45"/>
          <p:cNvSpPr txBox="1"/>
          <p:nvPr>
            <p:ph idx="1" type="body"/>
          </p:nvPr>
        </p:nvSpPr>
        <p:spPr>
          <a:xfrm>
            <a:off x="838250" y="1469125"/>
            <a:ext cx="3148200" cy="30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A partire dalla versione 4, Bootstrap utilizza una griglia basata su flexbox. 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La griglia ha </a:t>
            </a:r>
            <a:r>
              <a:rPr b="1" lang="en" sz="1300"/>
              <a:t>12 colonne</a:t>
            </a:r>
            <a:r>
              <a:rPr lang="en" sz="1300"/>
              <a:t> e, come già detto, implementa una responsiveness a 5 livelli.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Per creare la griglia dovete inserire un div con classe .row dentro a un div di tipo container. 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Dentro a .row andrete a creare un certo numero di colonne.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Se non specificate la dimensione delle colonne, lo spazio sarà distribuito equamente tra di esse</a:t>
            </a:r>
            <a:endParaRPr sz="1300"/>
          </a:p>
        </p:txBody>
      </p:sp>
      <p:sp>
        <p:nvSpPr>
          <p:cNvPr id="318" name="Google Shape;318;p45"/>
          <p:cNvSpPr txBox="1"/>
          <p:nvPr>
            <p:ph idx="1" type="body"/>
          </p:nvPr>
        </p:nvSpPr>
        <p:spPr>
          <a:xfrm>
            <a:off x="838300" y="4496825"/>
            <a:ext cx="39204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https://getbootstrap.com/docs/5.3/layout/grid/</a:t>
            </a:r>
            <a:endParaRPr sz="1300"/>
          </a:p>
        </p:txBody>
      </p:sp>
      <p:sp>
        <p:nvSpPr>
          <p:cNvPr id="319" name="Google Shape;319;p45"/>
          <p:cNvSpPr txBox="1"/>
          <p:nvPr/>
        </p:nvSpPr>
        <p:spPr>
          <a:xfrm>
            <a:off x="5543225" y="1082550"/>
            <a:ext cx="3000000" cy="2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"container"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"row"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"col"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One of three columns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"col"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One of three columns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"col"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One of three columns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&lt;/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45">
            <a:hlinkClick r:id="rId4"/>
          </p:cNvPr>
          <p:cNvSpPr/>
          <p:nvPr/>
        </p:nvSpPr>
        <p:spPr>
          <a:xfrm>
            <a:off x="0" y="5092700"/>
            <a:ext cx="6858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La gestione delle colonne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27" name="Google Shape;327;p46"/>
          <p:cNvSpPr txBox="1"/>
          <p:nvPr>
            <p:ph idx="1" type="body"/>
          </p:nvPr>
        </p:nvSpPr>
        <p:spPr>
          <a:xfrm>
            <a:off x="838250" y="1504950"/>
            <a:ext cx="53241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Potete utilizzare le classi </a:t>
            </a:r>
            <a:r>
              <a:rPr b="1" lang="en" sz="1500"/>
              <a:t>.col-{n}</a:t>
            </a:r>
            <a:r>
              <a:rPr lang="en" sz="1500"/>
              <a:t> per specificare quante colonne devono essere occupate dall’elemento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Ad esempio, creando tre .col-4 potete impostare tre div che occupino ognuno un terzo dello spazio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Creando un .col-4 e quattro .col-2 avrete un elemento che è il doppio degli altri</a:t>
            </a:r>
            <a:endParaRPr sz="1500"/>
          </a:p>
        </p:txBody>
      </p:sp>
      <p:sp>
        <p:nvSpPr>
          <p:cNvPr id="328" name="Google Shape;328;p46">
            <a:hlinkClick r:id="rId3"/>
          </p:cNvPr>
          <p:cNvSpPr/>
          <p:nvPr/>
        </p:nvSpPr>
        <p:spPr>
          <a:xfrm>
            <a:off x="0" y="5092700"/>
            <a:ext cx="7184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Le colonne e i breakpoint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35" name="Google Shape;335;p47"/>
          <p:cNvSpPr txBox="1"/>
          <p:nvPr>
            <p:ph idx="1" type="body"/>
          </p:nvPr>
        </p:nvSpPr>
        <p:spPr>
          <a:xfrm>
            <a:off x="838250" y="1504950"/>
            <a:ext cx="5324100" cy="16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Anche alle colonne, come ai container, possiamo assegnare i breakpoint. Per farlo, occorrerà usare le classi </a:t>
            </a:r>
            <a:r>
              <a:rPr b="1" lang="en" sz="1500"/>
              <a:t>.col-{breakpoint}-{n}</a:t>
            </a:r>
            <a:endParaRPr b="1"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Ad esempio, col-md-4 occuperà un terzo dello spazio su schermi a partire da 768px, e il 100% dello spazio su schermi inferiori</a:t>
            </a:r>
            <a:endParaRPr sz="1500"/>
          </a:p>
        </p:txBody>
      </p:sp>
      <p:sp>
        <p:nvSpPr>
          <p:cNvPr id="336" name="Google Shape;336;p47"/>
          <p:cNvSpPr txBox="1"/>
          <p:nvPr/>
        </p:nvSpPr>
        <p:spPr>
          <a:xfrm>
            <a:off x="838250" y="4091050"/>
            <a:ext cx="532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https://getbootstrap.com/docs/5.3/examples/grid/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7" name="Google Shape;337;p47">
            <a:hlinkClick r:id="rId4"/>
          </p:cNvPr>
          <p:cNvSpPr/>
          <p:nvPr/>
        </p:nvSpPr>
        <p:spPr>
          <a:xfrm>
            <a:off x="0" y="5092700"/>
            <a:ext cx="7511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4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Annidamento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44" name="Google Shape;344;p48"/>
          <p:cNvSpPr txBox="1"/>
          <p:nvPr>
            <p:ph idx="1" type="body"/>
          </p:nvPr>
        </p:nvSpPr>
        <p:spPr>
          <a:xfrm>
            <a:off x="838250" y="1504950"/>
            <a:ext cx="53241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Potete inserire una .row dentro a una colonna per creare colonne annidate dentro ad altre colonne 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L’unico accorgimento importante da seguire è che dentro alle righe possono esserci sempre solo colonne, e che le colonne possono contenere solo righe!</a:t>
            </a:r>
            <a:endParaRPr sz="1500"/>
          </a:p>
        </p:txBody>
      </p:sp>
      <p:sp>
        <p:nvSpPr>
          <p:cNvPr id="345" name="Google Shape;345;p48"/>
          <p:cNvSpPr txBox="1"/>
          <p:nvPr/>
        </p:nvSpPr>
        <p:spPr>
          <a:xfrm>
            <a:off x="838250" y="4091050"/>
            <a:ext cx="532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https://getbootstrap.com/docs/5.3/layout/grid/#nesting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6" name="Google Shape;346;p48">
            <a:hlinkClick r:id="rId4"/>
          </p:cNvPr>
          <p:cNvSpPr/>
          <p:nvPr/>
        </p:nvSpPr>
        <p:spPr>
          <a:xfrm>
            <a:off x="0" y="5092700"/>
            <a:ext cx="7837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4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Margini e padding di rows e columns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53" name="Google Shape;353;p49"/>
          <p:cNvSpPr txBox="1"/>
          <p:nvPr>
            <p:ph idx="1" type="body"/>
          </p:nvPr>
        </p:nvSpPr>
        <p:spPr>
          <a:xfrm>
            <a:off x="838250" y="1504950"/>
            <a:ext cx="5324100" cy="26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L’accorgimento a cui abbiamo accennato è necessario perché le rows hanno un margine negativo destro e sinistro di 15px. 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Le colonne hanno invece un padding destro e sinistro di 15px. Questo è il motivo per cui righe e colonne devono essere sempre utilizzate insieme.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Questo funzionamento di righe e colonne serve a mantenere il contenuto allineato in modo uniforme sui bordi del layout, evitando così che si crei uno spazio indesiderato a sinistra della prima colonna.</a:t>
            </a:r>
            <a:endParaRPr sz="1500"/>
          </a:p>
        </p:txBody>
      </p:sp>
      <p:sp>
        <p:nvSpPr>
          <p:cNvPr id="354" name="Google Shape;354;p49">
            <a:hlinkClick r:id="rId3"/>
          </p:cNvPr>
          <p:cNvSpPr/>
          <p:nvPr/>
        </p:nvSpPr>
        <p:spPr>
          <a:xfrm>
            <a:off x="0" y="5092700"/>
            <a:ext cx="8164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5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Offset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61" name="Google Shape;361;p50"/>
          <p:cNvSpPr txBox="1"/>
          <p:nvPr>
            <p:ph idx="1" type="body"/>
          </p:nvPr>
        </p:nvSpPr>
        <p:spPr>
          <a:xfrm>
            <a:off x="838250" y="1504950"/>
            <a:ext cx="5324100" cy="1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Se avete bisogno di inserire colonne vuote nel vostro layout, potete utilizzare .offset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Assegnando queste classi a una colonna, create uno spazio vuoto prima della colonna stessa </a:t>
            </a:r>
            <a:endParaRPr b="1" sz="1500"/>
          </a:p>
        </p:txBody>
      </p:sp>
      <p:sp>
        <p:nvSpPr>
          <p:cNvPr id="362" name="Google Shape;362;p50"/>
          <p:cNvSpPr txBox="1"/>
          <p:nvPr/>
        </p:nvSpPr>
        <p:spPr>
          <a:xfrm>
            <a:off x="838350" y="2970675"/>
            <a:ext cx="532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Offset segue lo stesso naming delle colonne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.offset-{breakpoint}-{n}</a:t>
            </a:r>
            <a:endParaRPr/>
          </a:p>
        </p:txBody>
      </p:sp>
      <p:sp>
        <p:nvSpPr>
          <p:cNvPr id="363" name="Google Shape;363;p50">
            <a:hlinkClick r:id="rId3"/>
          </p:cNvPr>
          <p:cNvSpPr/>
          <p:nvPr/>
        </p:nvSpPr>
        <p:spPr>
          <a:xfrm>
            <a:off x="0" y="5092700"/>
            <a:ext cx="8490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1</a:t>
            </a:r>
            <a:endParaRPr/>
          </a:p>
        </p:txBody>
      </p:sp>
      <p:sp>
        <p:nvSpPr>
          <p:cNvPr id="370" name="Google Shape;370;p51"/>
          <p:cNvSpPr txBox="1"/>
          <p:nvPr>
            <p:ph idx="4294967295" type="body"/>
          </p:nvPr>
        </p:nvSpPr>
        <p:spPr>
          <a:xfrm>
            <a:off x="838250" y="1504950"/>
            <a:ext cx="5842800" cy="31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Includete Bootstrap in una pagina web utilizzando la CDN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Create un container e posizionate al suo interno due colonne, una per il contenuto principale e una per un menù laterale (all’interno delle colonne scrivete soltanto “Contenuto” e “Menù”)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Fate in modo che su dispositivi mobili (sm) la colonna menù fluisca sotto la colonna contenuto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All’interno del contenuto inserite una riga con 4 box, riempiendoli con testo segnaposto. Fate in modo che i box si posizionino su 2 righe su dispositivi piccoli (sm) e su 4 righe soltanto su dispositivi molto piccoli (xs)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Utilizzate la documentazione per implementare una row con colonne che sfruttino allineamenti flex</a:t>
            </a:r>
            <a:endParaRPr sz="1500"/>
          </a:p>
        </p:txBody>
      </p:sp>
      <p:grpSp>
        <p:nvGrpSpPr>
          <p:cNvPr id="371" name="Google Shape;371;p51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372" name="Google Shape;372;p51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1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1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1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1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1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51">
            <a:hlinkClick r:id="rId3"/>
          </p:cNvPr>
          <p:cNvSpPr/>
          <p:nvPr/>
        </p:nvSpPr>
        <p:spPr>
          <a:xfrm>
            <a:off x="0" y="5092700"/>
            <a:ext cx="8817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52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2 </a:t>
            </a:r>
            <a:endParaRPr/>
          </a:p>
        </p:txBody>
      </p:sp>
      <p:sp>
        <p:nvSpPr>
          <p:cNvPr id="385" name="Google Shape;385;p52"/>
          <p:cNvSpPr txBox="1"/>
          <p:nvPr>
            <p:ph idx="4294967295" type="body"/>
          </p:nvPr>
        </p:nvSpPr>
        <p:spPr>
          <a:xfrm>
            <a:off x="838250" y="1504950"/>
            <a:ext cx="5842800" cy="32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Utilizzando Bootstrap</a:t>
            </a:r>
            <a:r>
              <a:rPr lang="en" sz="1500"/>
              <a:t> c</a:t>
            </a:r>
            <a:r>
              <a:rPr lang="en" sz="1500"/>
              <a:t>ercate di riprodurre il layout delle slide successive.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linea tratteggiata delimita la viewport e divide (approssimativamente) i contenuti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above the fold</a:t>
            </a:r>
            <a:r>
              <a:rPr lang="en" sz="1500"/>
              <a:t> da quelli below the fold.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stringa di testo nel riquadro azzurro deve essere esattamente quella riportata in figura, o comunque una stringa con lo stesso numero di caratteri.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 numeri grigi indicano proporzioni che devono essere rispettate.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Potete adattare la visualizzazione per fare in modo che gli elementi con bordo verde assumano una larghezza a vostra scelta rispetto alla larghezza totale della viewport</a:t>
            </a:r>
            <a:endParaRPr sz="1500"/>
          </a:p>
        </p:txBody>
      </p:sp>
      <p:grpSp>
        <p:nvGrpSpPr>
          <p:cNvPr id="386" name="Google Shape;386;p52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387" name="Google Shape;387;p52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2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2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2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2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52">
            <a:hlinkClick r:id="rId4"/>
          </p:cNvPr>
          <p:cNvSpPr/>
          <p:nvPr/>
        </p:nvSpPr>
        <p:spPr>
          <a:xfrm>
            <a:off x="0" y="5092700"/>
            <a:ext cx="8312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53"/>
          <p:cNvSpPr txBox="1"/>
          <p:nvPr/>
        </p:nvSpPr>
        <p:spPr>
          <a:xfrm>
            <a:off x="585475" y="544150"/>
            <a:ext cx="79578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00" name="Google Shape;400;p53"/>
          <p:cNvCxnSpPr/>
          <p:nvPr/>
        </p:nvCxnSpPr>
        <p:spPr>
          <a:xfrm>
            <a:off x="4692225" y="7826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53"/>
          <p:cNvSpPr/>
          <p:nvPr/>
        </p:nvSpPr>
        <p:spPr>
          <a:xfrm>
            <a:off x="2474125" y="956225"/>
            <a:ext cx="3488100" cy="10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2" name="Google Shape;402;p53"/>
          <p:cNvCxnSpPr/>
          <p:nvPr/>
        </p:nvCxnSpPr>
        <p:spPr>
          <a:xfrm>
            <a:off x="315250" y="564125"/>
            <a:ext cx="0" cy="1791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53"/>
          <p:cNvSpPr txBox="1"/>
          <p:nvPr/>
        </p:nvSpPr>
        <p:spPr>
          <a:xfrm>
            <a:off x="-34350" y="1294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60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04" name="Google Shape;404;p53"/>
          <p:cNvCxnSpPr/>
          <p:nvPr/>
        </p:nvCxnSpPr>
        <p:spPr>
          <a:xfrm>
            <a:off x="3022813" y="561250"/>
            <a:ext cx="0" cy="367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53"/>
          <p:cNvCxnSpPr/>
          <p:nvPr/>
        </p:nvCxnSpPr>
        <p:spPr>
          <a:xfrm>
            <a:off x="3022813" y="2006900"/>
            <a:ext cx="0" cy="367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53"/>
          <p:cNvSpPr txBox="1"/>
          <p:nvPr/>
        </p:nvSpPr>
        <p:spPr>
          <a:xfrm>
            <a:off x="2474125" y="5450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07" name="Google Shape;407;p53"/>
          <p:cNvSpPr txBox="1"/>
          <p:nvPr/>
        </p:nvSpPr>
        <p:spPr>
          <a:xfrm>
            <a:off x="2474125" y="19907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08" name="Google Shape;408;p53"/>
          <p:cNvSpPr txBox="1"/>
          <p:nvPr/>
        </p:nvSpPr>
        <p:spPr>
          <a:xfrm>
            <a:off x="2674951" y="1210025"/>
            <a:ext cx="29202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Lorem ipsum dolor sit amet, consectetur adipiscing elit. Fusce id euismod purus. Proin id egestas turpis, quis semper est. Suspendisse fringilla dui eu egestas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09" name="Google Shape;409;p53"/>
          <p:cNvSpPr txBox="1"/>
          <p:nvPr/>
        </p:nvSpPr>
        <p:spPr>
          <a:xfrm>
            <a:off x="2741313" y="962225"/>
            <a:ext cx="285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Titolo h1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10" name="Google Shape;410;p53"/>
          <p:cNvCxnSpPr>
            <a:endCxn id="403" idx="3"/>
          </p:cNvCxnSpPr>
          <p:nvPr/>
        </p:nvCxnSpPr>
        <p:spPr>
          <a:xfrm flipH="1">
            <a:off x="514350" y="1493675"/>
            <a:ext cx="19227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3"/>
          <p:cNvCxnSpPr/>
          <p:nvPr/>
        </p:nvCxnSpPr>
        <p:spPr>
          <a:xfrm rot="10800000">
            <a:off x="6009325" y="1494725"/>
            <a:ext cx="2508600" cy="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53"/>
          <p:cNvSpPr txBox="1"/>
          <p:nvPr/>
        </p:nvSpPr>
        <p:spPr>
          <a:xfrm>
            <a:off x="1199625" y="10954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3" name="Google Shape;413;p53"/>
          <p:cNvSpPr txBox="1"/>
          <p:nvPr/>
        </p:nvSpPr>
        <p:spPr>
          <a:xfrm>
            <a:off x="7109775" y="10954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25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4" name="Google Shape;414;p53"/>
          <p:cNvSpPr txBox="1"/>
          <p:nvPr/>
        </p:nvSpPr>
        <p:spPr>
          <a:xfrm>
            <a:off x="593100" y="2478950"/>
            <a:ext cx="17463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5" name="Google Shape;415;p53"/>
          <p:cNvSpPr txBox="1"/>
          <p:nvPr/>
        </p:nvSpPr>
        <p:spPr>
          <a:xfrm>
            <a:off x="2474125" y="2478950"/>
            <a:ext cx="43785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6" name="Google Shape;416;p53"/>
          <p:cNvSpPr txBox="1"/>
          <p:nvPr/>
        </p:nvSpPr>
        <p:spPr>
          <a:xfrm>
            <a:off x="6987350" y="2478950"/>
            <a:ext cx="15558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(IMMAGINE)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17" name="Google Shape;417;p53"/>
          <p:cNvCxnSpPr/>
          <p:nvPr/>
        </p:nvCxnSpPr>
        <p:spPr>
          <a:xfrm>
            <a:off x="-24000" y="3915700"/>
            <a:ext cx="9192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8" name="Google Shape;418;p53"/>
          <p:cNvSpPr txBox="1"/>
          <p:nvPr/>
        </p:nvSpPr>
        <p:spPr>
          <a:xfrm>
            <a:off x="2617125" y="2571000"/>
            <a:ext cx="2452200" cy="10779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1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9" name="Google Shape;419;p53"/>
          <p:cNvSpPr txBox="1"/>
          <p:nvPr/>
        </p:nvSpPr>
        <p:spPr>
          <a:xfrm>
            <a:off x="5180100" y="2571000"/>
            <a:ext cx="1571100" cy="16335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	3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0" name="Google Shape;420;p53"/>
          <p:cNvSpPr txBox="1"/>
          <p:nvPr/>
        </p:nvSpPr>
        <p:spPr>
          <a:xfrm>
            <a:off x="2617125" y="3715600"/>
            <a:ext cx="2452200" cy="4890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2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1" name="Google Shape;421;p53"/>
          <p:cNvSpPr/>
          <p:nvPr/>
        </p:nvSpPr>
        <p:spPr>
          <a:xfrm>
            <a:off x="798850" y="263482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3"/>
          <p:cNvSpPr/>
          <p:nvPr/>
        </p:nvSpPr>
        <p:spPr>
          <a:xfrm>
            <a:off x="1636488" y="263482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3"/>
          <p:cNvSpPr txBox="1"/>
          <p:nvPr/>
        </p:nvSpPr>
        <p:spPr>
          <a:xfrm>
            <a:off x="798850" y="3200025"/>
            <a:ext cx="5487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1637050" y="3200025"/>
            <a:ext cx="5487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25" name="Google Shape;425;p53"/>
          <p:cNvCxnSpPr/>
          <p:nvPr/>
        </p:nvCxnSpPr>
        <p:spPr>
          <a:xfrm rot="10800000">
            <a:off x="585525" y="363450"/>
            <a:ext cx="7938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53"/>
          <p:cNvSpPr txBox="1"/>
          <p:nvPr/>
        </p:nvSpPr>
        <p:spPr>
          <a:xfrm>
            <a:off x="1748325" y="-455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7" name="Google Shape;427;p53">
            <a:hlinkClick r:id="rId3"/>
          </p:cNvPr>
          <p:cNvSpPr/>
          <p:nvPr/>
        </p:nvSpPr>
        <p:spPr>
          <a:xfrm>
            <a:off x="0" y="5092700"/>
            <a:ext cx="8589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4"/>
          <p:cNvSpPr txBox="1"/>
          <p:nvPr/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54"/>
          <p:cNvSpPr txBox="1"/>
          <p:nvPr/>
        </p:nvSpPr>
        <p:spPr>
          <a:xfrm>
            <a:off x="1012350" y="470825"/>
            <a:ext cx="1995300" cy="250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35" name="Google Shape;435;p54"/>
          <p:cNvCxnSpPr/>
          <p:nvPr/>
        </p:nvCxnSpPr>
        <p:spPr>
          <a:xfrm>
            <a:off x="4692225" y="7826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54"/>
          <p:cNvCxnSpPr/>
          <p:nvPr/>
        </p:nvCxnSpPr>
        <p:spPr>
          <a:xfrm flipH="1">
            <a:off x="350300" y="399575"/>
            <a:ext cx="21000" cy="2571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54"/>
          <p:cNvSpPr txBox="1"/>
          <p:nvPr/>
        </p:nvSpPr>
        <p:spPr>
          <a:xfrm>
            <a:off x="-34350" y="1294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38" name="Google Shape;438;p54"/>
          <p:cNvCxnSpPr/>
          <p:nvPr/>
        </p:nvCxnSpPr>
        <p:spPr>
          <a:xfrm>
            <a:off x="1803613" y="485050"/>
            <a:ext cx="0" cy="167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54"/>
          <p:cNvSpPr txBox="1"/>
          <p:nvPr/>
        </p:nvSpPr>
        <p:spPr>
          <a:xfrm>
            <a:off x="1494300" y="3946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40" name="Google Shape;440;p54"/>
          <p:cNvCxnSpPr>
            <a:stCxn id="437" idx="3"/>
            <a:endCxn id="437" idx="3"/>
          </p:cNvCxnSpPr>
          <p:nvPr/>
        </p:nvCxnSpPr>
        <p:spPr>
          <a:xfrm>
            <a:off x="514350" y="1494275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54"/>
          <p:cNvCxnSpPr/>
          <p:nvPr/>
        </p:nvCxnSpPr>
        <p:spPr>
          <a:xfrm rot="10800000">
            <a:off x="982200" y="1495175"/>
            <a:ext cx="2835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54"/>
          <p:cNvSpPr txBox="1"/>
          <p:nvPr/>
        </p:nvSpPr>
        <p:spPr>
          <a:xfrm>
            <a:off x="982200" y="1093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3" name="Google Shape;443;p54"/>
          <p:cNvSpPr txBox="1"/>
          <p:nvPr/>
        </p:nvSpPr>
        <p:spPr>
          <a:xfrm>
            <a:off x="2521488" y="1093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1181075" y="721000"/>
            <a:ext cx="1669500" cy="194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4"/>
          <p:cNvSpPr txBox="1"/>
          <p:nvPr/>
        </p:nvSpPr>
        <p:spPr>
          <a:xfrm>
            <a:off x="1161033" y="1033950"/>
            <a:ext cx="14916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Lorem ipsum dolor sit amet, consectetur adipiscing elit. Fusce id euismod purus. Proin id egestas turpis, quis semper est. Suspendisse fringilla dui eu egestas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6" name="Google Shape;446;p54"/>
          <p:cNvSpPr txBox="1"/>
          <p:nvPr/>
        </p:nvSpPr>
        <p:spPr>
          <a:xfrm>
            <a:off x="1239819" y="721000"/>
            <a:ext cx="149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Titolo h1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7" name="Google Shape;447;p54"/>
          <p:cNvSpPr txBox="1"/>
          <p:nvPr/>
        </p:nvSpPr>
        <p:spPr>
          <a:xfrm>
            <a:off x="1018175" y="3086500"/>
            <a:ext cx="1995300" cy="194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48" name="Google Shape;448;p54"/>
          <p:cNvCxnSpPr/>
          <p:nvPr/>
        </p:nvCxnSpPr>
        <p:spPr>
          <a:xfrm>
            <a:off x="-42050" y="2848900"/>
            <a:ext cx="45135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9" name="Google Shape;449;p54"/>
          <p:cNvSpPr/>
          <p:nvPr/>
        </p:nvSpPr>
        <p:spPr>
          <a:xfrm>
            <a:off x="1765494" y="320797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4"/>
          <p:cNvSpPr/>
          <p:nvPr/>
        </p:nvSpPr>
        <p:spPr>
          <a:xfrm>
            <a:off x="1765494" y="416272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4"/>
          <p:cNvSpPr txBox="1"/>
          <p:nvPr/>
        </p:nvSpPr>
        <p:spPr>
          <a:xfrm>
            <a:off x="1735650" y="36643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2" name="Google Shape;452;p54"/>
          <p:cNvSpPr txBox="1"/>
          <p:nvPr/>
        </p:nvSpPr>
        <p:spPr>
          <a:xfrm>
            <a:off x="1735650" y="4576600"/>
            <a:ext cx="548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3" name="Google Shape;453;p54"/>
          <p:cNvSpPr txBox="1"/>
          <p:nvPr/>
        </p:nvSpPr>
        <p:spPr>
          <a:xfrm>
            <a:off x="6426750" y="380225"/>
            <a:ext cx="15558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(IMMAGINE)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54" name="Google Shape;454;p54"/>
          <p:cNvCxnSpPr/>
          <p:nvPr/>
        </p:nvCxnSpPr>
        <p:spPr>
          <a:xfrm flipH="1">
            <a:off x="4470825" y="164275"/>
            <a:ext cx="9900" cy="4758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54"/>
          <p:cNvSpPr txBox="1"/>
          <p:nvPr/>
        </p:nvSpPr>
        <p:spPr>
          <a:xfrm>
            <a:off x="6426750" y="2474700"/>
            <a:ext cx="1555800" cy="250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6" name="Google Shape;456;p54"/>
          <p:cNvSpPr txBox="1"/>
          <p:nvPr/>
        </p:nvSpPr>
        <p:spPr>
          <a:xfrm>
            <a:off x="6698250" y="2571000"/>
            <a:ext cx="1012800" cy="10779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1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7" name="Google Shape;457;p54"/>
          <p:cNvSpPr txBox="1"/>
          <p:nvPr/>
        </p:nvSpPr>
        <p:spPr>
          <a:xfrm>
            <a:off x="6751200" y="4386450"/>
            <a:ext cx="960000" cy="4890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	3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8" name="Google Shape;458;p54"/>
          <p:cNvSpPr txBox="1"/>
          <p:nvPr/>
        </p:nvSpPr>
        <p:spPr>
          <a:xfrm>
            <a:off x="6751200" y="3773175"/>
            <a:ext cx="960000" cy="4890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2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59" name="Google Shape;459;p54"/>
          <p:cNvCxnSpPr/>
          <p:nvPr/>
        </p:nvCxnSpPr>
        <p:spPr>
          <a:xfrm rot="10800000">
            <a:off x="1010575" y="363450"/>
            <a:ext cx="1976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54"/>
          <p:cNvSpPr txBox="1"/>
          <p:nvPr/>
        </p:nvSpPr>
        <p:spPr>
          <a:xfrm>
            <a:off x="1748325" y="-455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1" name="Google Shape;461;p54">
            <a:hlinkClick r:id="rId3"/>
          </p:cNvPr>
          <p:cNvSpPr/>
          <p:nvPr/>
        </p:nvSpPr>
        <p:spPr>
          <a:xfrm>
            <a:off x="0" y="5092700"/>
            <a:ext cx="8866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5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</a:t>
            </a:r>
            <a:endParaRPr sz="3000"/>
          </a:p>
        </p:txBody>
      </p:sp>
      <p:grpSp>
        <p:nvGrpSpPr>
          <p:cNvPr id="467" name="Google Shape;467;p55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468" name="Google Shape;468;p55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5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0" name="Google Shape;470;p55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55"/>
          <p:cNvSpPr txBox="1"/>
          <p:nvPr>
            <p:ph type="ctrTitle"/>
          </p:nvPr>
        </p:nvSpPr>
        <p:spPr>
          <a:xfrm>
            <a:off x="682250" y="2416625"/>
            <a:ext cx="1754700" cy="3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ESERCITAZIONE 4</a:t>
            </a:r>
            <a:endParaRPr sz="1200"/>
          </a:p>
        </p:txBody>
      </p:sp>
      <p:sp>
        <p:nvSpPr>
          <p:cNvPr id="472" name="Google Shape;472;p55">
            <a:hlinkClick r:id="rId3"/>
          </p:cNvPr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viragus template">
  <a:themeElements>
    <a:clrScheme name="Custom 347">
      <a:dk1>
        <a:srgbClr val="555555"/>
      </a:dk1>
      <a:lt1>
        <a:srgbClr val="FFFFFF"/>
      </a:lt1>
      <a:dk2>
        <a:srgbClr val="838383"/>
      </a:dk2>
      <a:lt2>
        <a:srgbClr val="FFFFFF"/>
      </a:lt2>
      <a:accent1>
        <a:srgbClr val="5D2C3E"/>
      </a:accent1>
      <a:accent2>
        <a:srgbClr val="EAAD38"/>
      </a:accent2>
      <a:accent3>
        <a:srgbClr val="035162"/>
      </a:accent3>
      <a:accent4>
        <a:srgbClr val="CC0000"/>
      </a:accent4>
      <a:accent5>
        <a:srgbClr val="FF9800"/>
      </a:accent5>
      <a:accent6>
        <a:srgbClr val="FFEB3B"/>
      </a:accent6>
      <a:hlink>
        <a:srgbClr val="2196F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