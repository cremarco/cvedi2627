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Montserrat"/>
      <p:regular r:id="rId41"/>
      <p:bold r:id="rId42"/>
      <p:italic r:id="rId43"/>
      <p:boldItalic r:id="rId44"/>
    </p:embeddedFont>
    <p:embeddedFont>
      <p:font typeface="Fira Code"/>
      <p:regular r:id="rId45"/>
      <p:bold r:id="rId46"/>
    </p:embeddedFont>
    <p:embeddedFont>
      <p:font typeface="Karla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FiraCode-bold.fntdata"/><Relationship Id="rId45" Type="http://schemas.openxmlformats.org/officeDocument/2006/relationships/font" Target="fonts/FiraCod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Karla-bold.fntdata"/><Relationship Id="rId47" Type="http://schemas.openxmlformats.org/officeDocument/2006/relationships/font" Target="fonts/Karla-regular.fntdata"/><Relationship Id="rId49" Type="http://schemas.openxmlformats.org/officeDocument/2006/relationships/font" Target="fonts/Karl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Karl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6e9097d0c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6e9097d0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7c478357c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7c478357c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7c478357c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7c478357c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7c478357c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7c478357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7c478357c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7c478357c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83f151aae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83f151aae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6e9097d0cf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6e9097d0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7c478357c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7c478357c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83f151aae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83f151aae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83f151aae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83f151aae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7c478357c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7c478357c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83f151aa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83f151aa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83f151aae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83f151aae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83f151aae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83f151aae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83f151aae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83f151aae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84e8a5ee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84e8a5ee3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3f151aae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3f151aae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83f151aae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83f151aae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7c478357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7c478357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84e8a5ee3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84e8a5ee3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83f151aae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83f151aae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83f151aae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83f151aae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83f151aae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83f151aae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7c478357cb_0_1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7c478357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7c478357c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7c478357c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7c478357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7c478357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7c478357c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7c478357c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3f151aaef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3f151aae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83f151aae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83f151aae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83f151aaef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83f151aae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6e9097d0cf_0_2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6e9097d0c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necolas/normalize.css/blob/master/normalize.css" TargetMode="External"/><Relationship Id="rId4" Type="http://schemas.openxmlformats.org/officeDocument/2006/relationships/hyperlink" Target="https://meyerweb.com/eric/tools/css/reset/" TargetMode="External"/><Relationship Id="rId5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#PROGRESS_BAR_I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tbootstrap.com/docs/5.3/content/tables/" TargetMode="External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tbootstrap.com/docs/5.3/content/typography/" TargetMode="External"/><Relationship Id="rId4" Type="http://schemas.openxmlformats.org/officeDocument/2006/relationships/hyperlink" Target="https://getbootstrap.com/docs/5.3/utilities/text/#word-break" TargetMode="External"/><Relationship Id="rId5" Type="http://schemas.openxmlformats.org/officeDocument/2006/relationships/hyperlink" Target="https://getbootstrap.com/docs/5.3/utilities/text/#text-transform" TargetMode="External"/><Relationship Id="rId6" Type="http://schemas.openxmlformats.org/officeDocument/2006/relationships/hyperlink" Target="https://getbootstrap.com/docs/5.3/utilities/text/#font-weight-and-italics" TargetMode="External"/><Relationship Id="rId7" Type="http://schemas.openxmlformats.org/officeDocument/2006/relationships/hyperlink" Target="https://getbootstrap.com/docs/5.3/utilities/text/#text-wrapping-and-overflow" TargetMode="External"/><Relationship Id="rId8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hyperlink" Target="#PROGRESS_BAR_ID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etbootstrap.com/docs/5.3/components/card" TargetMode="External"/><Relationship Id="rId4" Type="http://schemas.openxmlformats.org/officeDocument/2006/relationships/hyperlink" Target="https://getbootstrap.com/docs/5.3/components/alerts/" TargetMode="External"/><Relationship Id="rId9" Type="http://schemas.openxmlformats.org/officeDocument/2006/relationships/hyperlink" Target="https://getbootstrap.com/docs/5.3/components/navbar/" TargetMode="External"/><Relationship Id="rId5" Type="http://schemas.openxmlformats.org/officeDocument/2006/relationships/hyperlink" Target="https://getbootstrap.com/docs/5.3/components/breadcrumb/" TargetMode="External"/><Relationship Id="rId6" Type="http://schemas.openxmlformats.org/officeDocument/2006/relationships/hyperlink" Target="https://getbootstrap.com/docs/5.3/components/dropdowns/" TargetMode="External"/><Relationship Id="rId7" Type="http://schemas.openxmlformats.org/officeDocument/2006/relationships/hyperlink" Target="https://getbootstrap.com/docs/5.3/forms/overview/" TargetMode="External"/><Relationship Id="rId8" Type="http://schemas.openxmlformats.org/officeDocument/2006/relationships/hyperlink" Target="https://getbootstrap.com/docs/5.3/forms/input-grou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Relationship Id="rId5" Type="http://schemas.openxmlformats.org/officeDocument/2006/relationships/image" Target="../media/image9.jpg"/><Relationship Id="rId6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etbootstrap.com/docs/5.3/components/card/#grid-cards" TargetMode="External"/><Relationship Id="rId4" Type="http://schemas.openxmlformats.org/officeDocument/2006/relationships/image" Target="../media/image5.jpg"/><Relationship Id="rId5" Type="http://schemas.openxmlformats.org/officeDocument/2006/relationships/hyperlink" Target="#PROGRESS_BAR_I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hyperlink" Target="#PROGRESS_BAR_I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etbootstrap.com/docs/5.3/components/alerts/#dismissing" TargetMode="External"/><Relationship Id="rId4" Type="http://schemas.openxmlformats.org/officeDocument/2006/relationships/hyperlink" Target="#PROGRESS_BAR_I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hyperlink" Target="#PROGRESS_BAR_I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gif"/><Relationship Id="rId4" Type="http://schemas.openxmlformats.org/officeDocument/2006/relationships/hyperlink" Target="#PROGRESS_BAR_I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#PROGRESS_BAR_I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etbootstrap.com/docs/5.3/forms/overview/" TargetMode="External"/><Relationship Id="rId4" Type="http://schemas.openxmlformats.org/officeDocument/2006/relationships/hyperlink" Target="#PROGRESS_BAR_I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hyperlink" Target="https://getbootstrap.com/docs/5.3/forms/input-group/#basic-example" TargetMode="External"/><Relationship Id="rId5" Type="http://schemas.openxmlformats.org/officeDocument/2006/relationships/hyperlink" Target="#PROGRESS_BAR_I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tbootstrap.com/docs/5.3/components/navbar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hyperlink" Target="#PROGRESS_BAR_I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hyperlink" Target="#PROGRESS_BAR_I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hyperlink" Target="#PROGRESS_BAR_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#PROGRESS_BAR_I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hyperlink" Target="#PROGRESS_BAR_I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etbootstrap.com/docs/5.3/utilities/display/" TargetMode="External"/><Relationship Id="rId4" Type="http://schemas.openxmlformats.org/officeDocument/2006/relationships/hyperlink" Target="https://getbootstrap.com/docs/5.3/utilities/spacing/" TargetMode="External"/><Relationship Id="rId5" Type="http://schemas.openxmlformats.org/officeDocument/2006/relationships/hyperlink" Target="https://getbootstrap.com/docs/5.3/utilities/flex/" TargetMode="External"/><Relationship Id="rId6" Type="http://schemas.openxmlformats.org/officeDocument/2006/relationships/hyperlink" Target="#PROGRESS_BAR_I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hyperlink" Target="#PROGRESS_BAR_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hyperlink" Target="#PROGRESS_BAR_ID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hyperlink" Target="#PROGRESS_BAR_ID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etbootstrap.com/docs/5.3/utilities/sizing/" TargetMode="External"/><Relationship Id="rId4" Type="http://schemas.openxmlformats.org/officeDocument/2006/relationships/hyperlink" Target="https://getbootstrap.com/docs/5.3/utilities/borders/" TargetMode="External"/><Relationship Id="rId9" Type="http://schemas.openxmlformats.org/officeDocument/2006/relationships/hyperlink" Target="#PROGRESS_BAR_ID" TargetMode="External"/><Relationship Id="rId5" Type="http://schemas.openxmlformats.org/officeDocument/2006/relationships/hyperlink" Target="https://getbootstrap.com/docs/5.3/utilities/position/" TargetMode="External"/><Relationship Id="rId6" Type="http://schemas.openxmlformats.org/officeDocument/2006/relationships/hyperlink" Target="https://getbootstrap.com/docs/5.3/utilities/float/" TargetMode="External"/><Relationship Id="rId7" Type="http://schemas.openxmlformats.org/officeDocument/2006/relationships/hyperlink" Target="https://getbootstrap.com/docs/5.3/utilities/overflow/" TargetMode="External"/><Relationship Id="rId8" Type="http://schemas.openxmlformats.org/officeDocument/2006/relationships/hyperlink" Target="https://getbootstrap.com/docs/5.3/utilities/text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hyperlink" Target="#PROGRESS_BAR_ID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6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Altri elementi di Bootstrap: content, component, utilities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Bootstrap: reboot e stili preimpostati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Bootstrap: componenti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Bootstrap: utilities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>
            <a:hlinkClick r:id="rId3"/>
          </p:cNvPr>
          <p:cNvSpPr/>
          <p:nvPr/>
        </p:nvSpPr>
        <p:spPr>
          <a:xfrm>
            <a:off x="0" y="5092700"/>
            <a:ext cx="26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BOOTSTRAP: REBOOT E STILI PREIMPOSTATI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9" name="Google Shape;149;p26">
            <a:hlinkClick r:id="rId3"/>
          </p:cNvPr>
          <p:cNvSpPr/>
          <p:nvPr/>
        </p:nvSpPr>
        <p:spPr>
          <a:xfrm>
            <a:off x="0" y="5092700"/>
            <a:ext cx="522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Reboot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838250" y="1504950"/>
            <a:ext cx="5324100" cy="22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Nel file .css di Bootstrap è compreso un </a:t>
            </a:r>
            <a:r>
              <a:rPr b="1" lang="en" sz="1500"/>
              <a:t>reboot degli stili </a:t>
            </a:r>
            <a:r>
              <a:rPr lang="en" sz="1500"/>
              <a:t>assegnati di default dai browser ad alcuni elementi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Per farlo, Bootstrap riscrive le proprietà associate  ai semplici selettori di elemento (come “p” o “h1”)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“Reboot, una collezione di cambiamenti di CSS specifici per determinati elementi compresa in un solo file, fornisce a Boostrap una base elegante e coerente su cui costruire il resto”</a:t>
            </a:r>
            <a:endParaRPr sz="1500"/>
          </a:p>
        </p:txBody>
      </p:sp>
      <p:sp>
        <p:nvSpPr>
          <p:cNvPr id="157" name="Google Shape;157;p27">
            <a:hlinkClick r:id="rId3"/>
          </p:cNvPr>
          <p:cNvSpPr/>
          <p:nvPr/>
        </p:nvSpPr>
        <p:spPr>
          <a:xfrm>
            <a:off x="0" y="5092700"/>
            <a:ext cx="783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User agent stylesheet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838350" y="1386600"/>
            <a:ext cx="5324100" cy="23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Quando il browser renderizza una pagina, applica degli </a:t>
            </a:r>
            <a:r>
              <a:rPr b="1" lang="en" sz="1300"/>
              <a:t>stili di base predefinit</a:t>
            </a:r>
            <a:r>
              <a:rPr b="1" lang="en" sz="1300"/>
              <a:t>i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Per fare un esempio semplice, è evidente che i tag h1-h6 appaiano diversi dal testo normale, anche prima che voi abbiate scritto qualsiasi CSS.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Tutti i browser applicano questi stili di base, ma gli stili di ogni browser potrebbero differire leggermente da quelli degli altri. 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Ovviamente questo causa un problema a livello di coerenza. Per questo si rendono necessari approcci di reboot dei Css</a:t>
            </a:r>
            <a:endParaRPr sz="1300"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800" y="3717725"/>
            <a:ext cx="3034999" cy="13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>
            <a:hlinkClick r:id="rId4"/>
          </p:cNvPr>
          <p:cNvSpPr/>
          <p:nvPr/>
        </p:nvSpPr>
        <p:spPr>
          <a:xfrm>
            <a:off x="0" y="5092700"/>
            <a:ext cx="1044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Normalize vs Reset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838250" y="1504950"/>
            <a:ext cx="5324100" cy="31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Bootstrap effettua il reboot utilizzando </a:t>
            </a:r>
            <a:r>
              <a:rPr b="1" lang="en" sz="1500"/>
              <a:t>Normalize</a:t>
            </a:r>
            <a:r>
              <a:rPr lang="en" sz="1500"/>
              <a:t>, </a:t>
            </a:r>
            <a:r>
              <a:rPr lang="en" sz="1500"/>
              <a:t>progetto open-source sviluppato collaborativamente su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Github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 Css di Normalize creano coerenza tra gli stili di quegli elementi che potrebbero avere un aspetto diverso su diversi browser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Una soluzione più aggressiva per il reboot sarebbe il </a:t>
            </a:r>
            <a:r>
              <a:rPr b="1" lang="en" sz="1500"/>
              <a:t>Reset </a:t>
            </a:r>
            <a:r>
              <a:rPr lang="en" sz="1500"/>
              <a:t>(uno dei più famosi è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quello di Eric Meyer</a:t>
            </a:r>
            <a:r>
              <a:rPr lang="en" sz="1500"/>
              <a:t>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Nel Reset, differentemente da Normalize, a tutti gli elementi HTML vengono tolti padding, margini, bordi, allineamenti e font-size</a:t>
            </a:r>
            <a:endParaRPr sz="1500"/>
          </a:p>
        </p:txBody>
      </p:sp>
      <p:sp>
        <p:nvSpPr>
          <p:cNvPr id="174" name="Google Shape;174;p29">
            <a:hlinkClick r:id="rId5"/>
          </p:cNvPr>
          <p:cNvSpPr/>
          <p:nvPr/>
        </p:nvSpPr>
        <p:spPr>
          <a:xfrm>
            <a:off x="0" y="5092700"/>
            <a:ext cx="130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Stili aggiuntivi e classi per i contenuti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838250" y="1504950"/>
            <a:ext cx="5324100" cy="19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Per compensare gli effetti del reboot, Bootstrap offre diverse classi che forniscono un po’ di eleganza agli elementi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Per quanto riguarda i contenuti più comuni, inoltre, come ad esempio tipografia, immagini e tabelle, </a:t>
            </a:r>
            <a:r>
              <a:rPr b="1" lang="en" sz="1500"/>
              <a:t>esistono sia classi che modificano il design sia classi con uno scopo funzionale (utilities)</a:t>
            </a:r>
            <a:endParaRPr b="1" sz="1500"/>
          </a:p>
        </p:txBody>
      </p:sp>
      <p:sp>
        <p:nvSpPr>
          <p:cNvPr id="182" name="Google Shape;182;p30">
            <a:hlinkClick r:id="rId3"/>
          </p:cNvPr>
          <p:cNvSpPr/>
          <p:nvPr/>
        </p:nvSpPr>
        <p:spPr>
          <a:xfrm>
            <a:off x="0" y="5092700"/>
            <a:ext cx="1567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1"/>
          <p:cNvSpPr txBox="1"/>
          <p:nvPr>
            <p:ph type="title"/>
          </p:nvPr>
        </p:nvSpPr>
        <p:spPr>
          <a:xfrm>
            <a:off x="838309" y="93462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Tabelle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838250" y="1546075"/>
            <a:ext cx="31482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Ad esempio, le tabelle normalizzate da Bootstrap appaiono così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Assegnando semplicemente la classe </a:t>
            </a:r>
            <a:r>
              <a:rPr b="1" lang="en" sz="1300"/>
              <a:t>.table</a:t>
            </a:r>
            <a:r>
              <a:rPr lang="en" sz="1300"/>
              <a:t>, però, otteniamo già un elemento più elegante, che può essere a sua volta una base di partenza per applicare stili personalizzati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 le tabelle, Bootstrap, fornisce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molte altre classi</a:t>
            </a:r>
            <a:r>
              <a:rPr lang="en" sz="1300"/>
              <a:t>, che aiutano a gestire bordi, header, caption e responsiveness.</a:t>
            </a:r>
            <a:endParaRPr sz="1300"/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34011" l="0" r="0" t="0"/>
          <a:stretch/>
        </p:blipFill>
        <p:spPr>
          <a:xfrm>
            <a:off x="5307800" y="1457200"/>
            <a:ext cx="3540799" cy="94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 rotWithShape="1">
          <a:blip r:embed="rId5">
            <a:alphaModFix/>
          </a:blip>
          <a:srcRect b="0" l="0" r="17417" t="0"/>
          <a:stretch/>
        </p:blipFill>
        <p:spPr>
          <a:xfrm>
            <a:off x="5307800" y="3090649"/>
            <a:ext cx="3540799" cy="9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/>
          <p:nvPr/>
        </p:nvSpPr>
        <p:spPr>
          <a:xfrm>
            <a:off x="5213675" y="2744438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Tabella con classe .table</a:t>
            </a:r>
            <a:endParaRPr sz="1050">
              <a:solidFill>
                <a:srgbClr val="5C6370"/>
              </a:solidFill>
              <a:highlight>
                <a:srgbClr val="282C34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5213675" y="1110988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Tabella senza classe .table</a:t>
            </a:r>
            <a:endParaRPr sz="1050">
              <a:solidFill>
                <a:srgbClr val="5C6370"/>
              </a:solidFill>
              <a:highlight>
                <a:srgbClr val="282C34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4" name="Google Shape;194;p31">
            <a:hlinkClick r:id="rId6"/>
          </p:cNvPr>
          <p:cNvSpPr/>
          <p:nvPr/>
        </p:nvSpPr>
        <p:spPr>
          <a:xfrm>
            <a:off x="0" y="5092700"/>
            <a:ext cx="1828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2"/>
          <p:cNvSpPr txBox="1"/>
          <p:nvPr>
            <p:ph type="title"/>
          </p:nvPr>
        </p:nvSpPr>
        <p:spPr>
          <a:xfrm>
            <a:off x="838350" y="893500"/>
            <a:ext cx="541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Tipografia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838250" y="1504950"/>
            <a:ext cx="5324100" cy="25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Ai tag headings (h1, h2, etc.) Bootstrap assegna una dimensione definita in rem. Mette anche a disposizione classi come </a:t>
            </a:r>
            <a:r>
              <a:rPr b="1" lang="en" sz="1300"/>
              <a:t>.h1</a:t>
            </a:r>
            <a:r>
              <a:rPr lang="en" sz="1300"/>
              <a:t> per dare ad un altro tipo di elemento lo stesso aspetto di un heading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Altri elementi che il toolkit si è premurato di ridisegnare sono, ad esempio, </a:t>
            </a:r>
            <a:r>
              <a:rPr b="1" lang="en" sz="1300"/>
              <a:t>&lt;blockquote&gt;</a:t>
            </a:r>
            <a:r>
              <a:rPr lang="en" sz="1300"/>
              <a:t> e gli heading display (</a:t>
            </a:r>
            <a:r>
              <a:rPr b="1" lang="en" sz="1300"/>
              <a:t>.display-{n}</a:t>
            </a:r>
            <a:r>
              <a:rPr lang="en" sz="1300"/>
              <a:t>) per creare testi in evidenza di grosse dimensioni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https://getbootstrap.com/docs/5.3/content/typography/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Ci sono anche diverse utilities: e.g. classi per assegnare velocemente le proprietà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word-break</a:t>
            </a:r>
            <a:r>
              <a:rPr lang="en" sz="1300"/>
              <a:t>,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text-transform</a:t>
            </a:r>
            <a:r>
              <a:rPr lang="en" sz="1300"/>
              <a:t>,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font-weight</a:t>
            </a:r>
            <a:r>
              <a:rPr lang="en" sz="1300"/>
              <a:t>, </a:t>
            </a:r>
            <a:r>
              <a:rPr lang="en" sz="1300" u="sng">
                <a:solidFill>
                  <a:schemeClr val="hlink"/>
                </a:solidFill>
                <a:hlinkClick r:id="rId7"/>
              </a:rPr>
              <a:t>wrap</a:t>
            </a:r>
            <a:endParaRPr sz="1300"/>
          </a:p>
        </p:txBody>
      </p:sp>
      <p:sp>
        <p:nvSpPr>
          <p:cNvPr id="202" name="Google Shape;202;p32">
            <a:hlinkClick r:id="rId8"/>
          </p:cNvPr>
          <p:cNvSpPr/>
          <p:nvPr/>
        </p:nvSpPr>
        <p:spPr>
          <a:xfrm>
            <a:off x="0" y="5092700"/>
            <a:ext cx="2090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3"/>
          <p:cNvSpPr txBox="1"/>
          <p:nvPr>
            <p:ph type="title"/>
          </p:nvPr>
        </p:nvSpPr>
        <p:spPr>
          <a:xfrm>
            <a:off x="838350" y="893500"/>
            <a:ext cx="541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Immagini e figure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838250" y="1504950"/>
            <a:ext cx="5324100" cy="21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Bootstrap permette di creare immediatamente un’immagine con una larghezza che non superi il 100%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.img-fluid </a:t>
            </a:r>
            <a:r>
              <a:rPr lang="en" sz="1300"/>
              <a:t>- assegna max-width: 100%; height: auto all’elemento a cui viene assegnata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.img-thumbnail</a:t>
            </a:r>
            <a:r>
              <a:rPr lang="en" sz="1300"/>
              <a:t> - crea una sottile cornice intorno all’immagine, con i bordi lievemente arrotondati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.rounded</a:t>
            </a:r>
            <a:r>
              <a:rPr lang="en" sz="1300"/>
              <a:t> (che fa parte delle utilities dei bordi) assegna un border-radius un poco più marcato</a:t>
            </a:r>
            <a:endParaRPr sz="1300"/>
          </a:p>
        </p:txBody>
      </p:sp>
      <p:sp>
        <p:nvSpPr>
          <p:cNvPr id="210" name="Google Shape;210;p33">
            <a:hlinkClick r:id="rId3"/>
          </p:cNvPr>
          <p:cNvSpPr/>
          <p:nvPr/>
        </p:nvSpPr>
        <p:spPr>
          <a:xfrm>
            <a:off x="0" y="5092700"/>
            <a:ext cx="2351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BOOTSTRAP: COMPONENTI</a:t>
            </a:r>
            <a:endParaRPr/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17" name="Google Shape;217;p34">
            <a:hlinkClick r:id="rId3"/>
          </p:cNvPr>
          <p:cNvSpPr/>
          <p:nvPr/>
        </p:nvSpPr>
        <p:spPr>
          <a:xfrm>
            <a:off x="0" y="5092700"/>
            <a:ext cx="26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Cos’è un componente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838250" y="1504950"/>
            <a:ext cx="53241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 componenti di Bootstrap sono elementi più complessi, molto spesso contenenti molteplici, specifici tag Html (anche innestati uno dentro l’altro) e classi CSS e attributi definiti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In alcuni casi questi elementi sono resi reattivi dall’integrazione di codice JavaScript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I componenti sono elementi utili pronti per l’utilizzo</a:t>
            </a:r>
            <a:endParaRPr sz="1500"/>
          </a:p>
        </p:txBody>
      </p:sp>
      <p:sp>
        <p:nvSpPr>
          <p:cNvPr id="225" name="Google Shape;225;p35">
            <a:hlinkClick r:id="rId3"/>
          </p:cNvPr>
          <p:cNvSpPr/>
          <p:nvPr/>
        </p:nvSpPr>
        <p:spPr>
          <a:xfrm>
            <a:off x="0" y="5092700"/>
            <a:ext cx="2873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Cos’è un componente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838250" y="1504950"/>
            <a:ext cx="5324100" cy="19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Nella maggior parte dei casi gli elementi dei componenti sono </a:t>
            </a:r>
            <a:r>
              <a:rPr b="1" lang="en" sz="1500"/>
              <a:t>interdipendenti 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Per l’applicazione del corretto stile e del corretto funzionamento, ad esempio, fanno uso di selettori relazione e proprio per questo bisogna stare attenti a non utilizzare i genitori di un componente senza i figli per lui previsti, e i figli senza i genitori</a:t>
            </a:r>
            <a:endParaRPr sz="1500"/>
          </a:p>
        </p:txBody>
      </p:sp>
      <p:sp>
        <p:nvSpPr>
          <p:cNvPr id="233" name="Google Shape;233;p36">
            <a:hlinkClick r:id="rId3"/>
          </p:cNvPr>
          <p:cNvSpPr/>
          <p:nvPr/>
        </p:nvSpPr>
        <p:spPr>
          <a:xfrm>
            <a:off x="0" y="5092700"/>
            <a:ext cx="3135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Alcuni componenti utili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838250" y="150495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Card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https://getbootstrap.com/docs/5.3/components/card</a:t>
            </a:r>
            <a:endParaRPr sz="1300"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838250" y="188985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Alert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https://getbootstrap.com/docs/5.3/components/alerts/</a:t>
            </a:r>
            <a:endParaRPr sz="1300"/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838250" y="227475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Breadcrumbs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https://getbootstrap.com/docs/5.3/components/breadcrumb/</a:t>
            </a:r>
            <a:endParaRPr sz="1300"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838250" y="267495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Dropdown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https://getbootstrap.com/docs/5.3/components/dropdowns/</a:t>
            </a:r>
            <a:endParaRPr sz="1300"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838250" y="304350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Form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7"/>
              </a:rPr>
              <a:t>https://getbootstrap.com/docs/5.3/forms/overview/</a:t>
            </a:r>
            <a:endParaRPr sz="1300"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838250" y="342840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Input group </a:t>
            </a:r>
            <a:r>
              <a:rPr lang="en" sz="1300"/>
              <a:t>- </a:t>
            </a:r>
            <a:r>
              <a:rPr lang="en" sz="1300" u="sng">
                <a:solidFill>
                  <a:schemeClr val="hlink"/>
                </a:solidFill>
                <a:hlinkClick r:id="rId8"/>
              </a:rPr>
              <a:t>https://getbootstrap.com/docs/5.3/forms/input-group/</a:t>
            </a:r>
            <a:endParaRPr sz="1300"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838250" y="3812250"/>
            <a:ext cx="6398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Navbar</a:t>
            </a:r>
            <a:r>
              <a:rPr lang="en" sz="1300"/>
              <a:t> - </a:t>
            </a:r>
            <a:r>
              <a:rPr lang="en" sz="1300" u="sng">
                <a:solidFill>
                  <a:schemeClr val="hlink"/>
                </a:solidFill>
                <a:hlinkClick r:id="rId9"/>
              </a:rPr>
              <a:t>https://getbootstrap.com/docs/5.3/components/navbar/</a:t>
            </a:r>
            <a:endParaRPr sz="1300"/>
          </a:p>
        </p:txBody>
      </p:sp>
      <p:sp>
        <p:nvSpPr>
          <p:cNvPr id="247" name="Google Shape;247;p37">
            <a:hlinkClick r:id="rId10"/>
          </p:cNvPr>
          <p:cNvSpPr/>
          <p:nvPr/>
        </p:nvSpPr>
        <p:spPr>
          <a:xfrm>
            <a:off x="0" y="5092700"/>
            <a:ext cx="3396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8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Card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828425" y="1749625"/>
            <a:ext cx="3148200" cy="26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Le card forniscono un contenitore per diverse tipologie di contenuti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Sono molto flessibili ed è possibile estenderle con diverse varianti e opzioni (e.g., per header e footer)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Le card pre-impostate ci arrivano con poco markup e con stili minimali, lasciando a noi il controllo e la possibilità di personalizzazione. Sono realizzate con flexbox e offrono anche una facile gestione degli allineamenti</a:t>
            </a:r>
            <a:endParaRPr sz="1300"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588" y="472174"/>
            <a:ext cx="1701711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9928" y="2835986"/>
            <a:ext cx="2325873" cy="17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3225" y="472175"/>
            <a:ext cx="219258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8">
            <a:hlinkClick r:id="rId6"/>
          </p:cNvPr>
          <p:cNvSpPr/>
          <p:nvPr/>
        </p:nvSpPr>
        <p:spPr>
          <a:xfrm>
            <a:off x="0" y="5092700"/>
            <a:ext cx="3657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9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Card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828425" y="1749625"/>
            <a:ext cx="31482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Le card non hanno una dimensione fissa, quindi senza aggiunta di stili specifici andranno ad occupare l’intera larghezza del loro parent</a:t>
            </a:r>
            <a:endParaRPr sz="1300"/>
          </a:p>
        </p:txBody>
      </p:sp>
      <p:pic>
        <p:nvPicPr>
          <p:cNvPr id="266" name="Google Shape;2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788" y="2734824"/>
            <a:ext cx="1701711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5279925" y="863250"/>
            <a:ext cx="3549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style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"width: 18rem;"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"..."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"card-img-top"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"card-body"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h5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"card-title"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Card title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h5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"card-text"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&gt;Some quick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example text to build on the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card title and make up the bulk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of the card's content.&lt;/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"btn btn-primary"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Go somewhere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6789100" y="898325"/>
            <a:ext cx="1701600" cy="278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9">
            <a:hlinkClick r:id="rId4"/>
          </p:cNvPr>
          <p:cNvSpPr/>
          <p:nvPr/>
        </p:nvSpPr>
        <p:spPr>
          <a:xfrm>
            <a:off x="0" y="5092700"/>
            <a:ext cx="391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0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Card groups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828425" y="1749625"/>
            <a:ext cx="3148200" cy="13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Card group permette di creare delle card attaccate l’una all’altra che abbiano la stessa altezza e larghezza.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È possibile usare .row e .col per creare una griglia di card (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docs</a:t>
            </a:r>
            <a:r>
              <a:rPr lang="en" sz="1300"/>
              <a:t>)</a:t>
            </a:r>
            <a:endParaRPr sz="1300"/>
          </a:p>
        </p:txBody>
      </p:sp>
      <p:sp>
        <p:nvSpPr>
          <p:cNvPr id="277" name="Google Shape;277;p40"/>
          <p:cNvSpPr txBox="1"/>
          <p:nvPr/>
        </p:nvSpPr>
        <p:spPr>
          <a:xfrm>
            <a:off x="5279925" y="49150"/>
            <a:ext cx="35496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"card-group"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"..."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"card-img-top"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"card-body"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"..."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"card-img-top"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"card-body"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"..."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"card-img-top"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"card-body"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550" y="3188775"/>
            <a:ext cx="3670576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0">
            <a:hlinkClick r:id="rId5"/>
          </p:cNvPr>
          <p:cNvSpPr/>
          <p:nvPr/>
        </p:nvSpPr>
        <p:spPr>
          <a:xfrm>
            <a:off x="0" y="5092700"/>
            <a:ext cx="4180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41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Alert component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828425" y="1749625"/>
            <a:ext cx="31482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Gli alert possono essere utili per fornire feedback all’utente in seguito ad una sua azione. Gli stili sono garantiti da classi contestuali some </a:t>
            </a:r>
            <a:r>
              <a:rPr b="1" lang="en" sz="1300"/>
              <a:t>.alert-success</a:t>
            </a:r>
            <a:endParaRPr b="1" sz="1300"/>
          </a:p>
        </p:txBody>
      </p:sp>
      <p:sp>
        <p:nvSpPr>
          <p:cNvPr id="287" name="Google Shape;287;p41"/>
          <p:cNvSpPr txBox="1"/>
          <p:nvPr/>
        </p:nvSpPr>
        <p:spPr>
          <a:xfrm>
            <a:off x="5287875" y="972900"/>
            <a:ext cx="35496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 alert-success"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role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A simple success alert—check it out!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 alert-danger"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role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A simple danger alert—check it out!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 alert-warning"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role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A simple warning alert—check it out!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82365" r="0" t="0"/>
          <a:stretch/>
        </p:blipFill>
        <p:spPr>
          <a:xfrm>
            <a:off x="2752975" y="2860575"/>
            <a:ext cx="1053300" cy="12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1"/>
          <p:cNvPicPr preferRelativeResize="0"/>
          <p:nvPr/>
        </p:nvPicPr>
        <p:blipFill rotWithShape="1">
          <a:blip r:embed="rId3">
            <a:alphaModFix/>
          </a:blip>
          <a:srcRect b="0" l="0" r="67779" t="0"/>
          <a:stretch/>
        </p:blipFill>
        <p:spPr>
          <a:xfrm>
            <a:off x="828425" y="2860575"/>
            <a:ext cx="1924549" cy="12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1">
            <a:hlinkClick r:id="rId4"/>
          </p:cNvPr>
          <p:cNvSpPr/>
          <p:nvPr/>
        </p:nvSpPr>
        <p:spPr>
          <a:xfrm>
            <a:off x="0" y="5092700"/>
            <a:ext cx="4441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2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Alert component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828425" y="1749625"/>
            <a:ext cx="31482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 può anche creare un alert dismissable, che sfrutterà le funzioni contenute in util.js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La classe </a:t>
            </a:r>
            <a:r>
              <a:rPr b="1" lang="en" sz="1300"/>
              <a:t>.alert-dismissible </a:t>
            </a:r>
            <a:r>
              <a:rPr lang="en" sz="1300"/>
              <a:t>permette di posizionare correttamente il bottone </a:t>
            </a:r>
            <a:r>
              <a:rPr b="1" lang="en" sz="1300"/>
              <a:t>.close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A quest’ultimo viene assegnato </a:t>
            </a:r>
            <a:r>
              <a:rPr b="1" lang="en" sz="1300"/>
              <a:t>data-dismiss="alert"</a:t>
            </a:r>
            <a:r>
              <a:rPr lang="en" sz="1300"/>
              <a:t>, che innesca la funzione JavaScript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Potete vedere una live demo: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https://getbootstrap.com/docs/5.3/components/alerts/#dismissing</a:t>
            </a:r>
            <a:endParaRPr sz="1300"/>
          </a:p>
        </p:txBody>
      </p:sp>
      <p:sp>
        <p:nvSpPr>
          <p:cNvPr id="298" name="Google Shape;298;p42"/>
          <p:cNvSpPr txBox="1"/>
          <p:nvPr/>
        </p:nvSpPr>
        <p:spPr>
          <a:xfrm>
            <a:off x="5289750" y="643800"/>
            <a:ext cx="35496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 alert-warning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alert-dismissible fade show"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role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strong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Holy guacamole!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strong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button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type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"button"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"close"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data-dismiss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"alert"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aria-label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"Close"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aria-hidden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"true"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&amp;times;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button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42">
            <a:hlinkClick r:id="rId4"/>
          </p:cNvPr>
          <p:cNvSpPr/>
          <p:nvPr/>
        </p:nvSpPr>
        <p:spPr>
          <a:xfrm>
            <a:off x="0" y="5092700"/>
            <a:ext cx="4702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3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Breadcrumbs component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06" name="Google Shape;306;p43"/>
          <p:cNvSpPr txBox="1"/>
          <p:nvPr>
            <p:ph idx="1" type="body"/>
          </p:nvPr>
        </p:nvSpPr>
        <p:spPr>
          <a:xfrm>
            <a:off x="828425" y="1749625"/>
            <a:ext cx="31482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Le “briciole di pane” sono un componente in grado di migliorare l'esperienza utente, perché indicano la posizione della pagina attuale all’interno della gerarchia di navigazione</a:t>
            </a:r>
            <a:endParaRPr sz="1300"/>
          </a:p>
        </p:txBody>
      </p:sp>
      <p:sp>
        <p:nvSpPr>
          <p:cNvPr id="307" name="Google Shape;307;p43"/>
          <p:cNvSpPr txBox="1"/>
          <p:nvPr/>
        </p:nvSpPr>
        <p:spPr>
          <a:xfrm>
            <a:off x="5289750" y="843475"/>
            <a:ext cx="35496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nav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aria-label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"breadcrumb"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"breadcrumb"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"breadcrumb-item"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&gt;Home&lt;/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"breadcrumb-item"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&gt;Library&lt;/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"breadcrumb-item active"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aria-current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"page"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Data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nav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308" name="Google Shape;308;p43"/>
          <p:cNvPicPr preferRelativeResize="0"/>
          <p:nvPr/>
        </p:nvPicPr>
        <p:blipFill rotWithShape="1">
          <a:blip r:embed="rId3">
            <a:alphaModFix/>
          </a:blip>
          <a:srcRect b="0" l="0" r="77919" t="0"/>
          <a:stretch/>
        </p:blipFill>
        <p:spPr>
          <a:xfrm>
            <a:off x="828475" y="3911000"/>
            <a:ext cx="1548501" cy="58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3"/>
          <p:cNvPicPr preferRelativeResize="0"/>
          <p:nvPr/>
        </p:nvPicPr>
        <p:blipFill rotWithShape="1">
          <a:blip r:embed="rId3">
            <a:alphaModFix/>
          </a:blip>
          <a:srcRect b="0" l="77190" r="0" t="0"/>
          <a:stretch/>
        </p:blipFill>
        <p:spPr>
          <a:xfrm>
            <a:off x="2376982" y="3911000"/>
            <a:ext cx="1599651" cy="5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>
            <a:hlinkClick r:id="rId4"/>
          </p:cNvPr>
          <p:cNvSpPr/>
          <p:nvPr/>
        </p:nvSpPr>
        <p:spPr>
          <a:xfrm>
            <a:off x="0" y="5092700"/>
            <a:ext cx="4963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4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Dropdowns 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828425" y="1749625"/>
            <a:ext cx="3148200" cy="30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 menu dropdown permettono di creare delle liste di link attraverso una tendina a comparsa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Fanno uso di librerie JavaScript di terze parti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La tendina compare in seguito al click e non all’hover, e questa è una scelta intenzionale di design da parte degli sviluppatori di Bootstrap, che mette l’accento sull’intenzione dell’utente (ritengono che l’hover debba indicare qualcosa, mentre il click debba fare qualcosa)</a:t>
            </a:r>
            <a:endParaRPr sz="1300"/>
          </a:p>
        </p:txBody>
      </p:sp>
      <p:pic>
        <p:nvPicPr>
          <p:cNvPr id="318" name="Google Shape;318;p44"/>
          <p:cNvPicPr preferRelativeResize="0"/>
          <p:nvPr/>
        </p:nvPicPr>
        <p:blipFill rotWithShape="1">
          <a:blip r:embed="rId3">
            <a:alphaModFix/>
          </a:blip>
          <a:srcRect b="0" l="0" r="11261" t="0"/>
          <a:stretch/>
        </p:blipFill>
        <p:spPr>
          <a:xfrm>
            <a:off x="5710789" y="1339077"/>
            <a:ext cx="3003011" cy="30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4">
            <a:hlinkClick r:id="rId4"/>
          </p:cNvPr>
          <p:cNvSpPr/>
          <p:nvPr/>
        </p:nvSpPr>
        <p:spPr>
          <a:xfrm>
            <a:off x="0" y="5092700"/>
            <a:ext cx="522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5"/>
          <p:cNvSpPr txBox="1"/>
          <p:nvPr>
            <p:ph type="title"/>
          </p:nvPr>
        </p:nvSpPr>
        <p:spPr>
          <a:xfrm>
            <a:off x="828484" y="11381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Dropdowns 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828425" y="1749625"/>
            <a:ext cx="31482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All’interno della classe .dropdown, un elemento “button” o un elemento “a” possono trasformarsi in un toggle dropdown (attraverso .dropdown-toggle) solo se possiedono la classe .btn</a:t>
            </a:r>
            <a:endParaRPr sz="1300"/>
          </a:p>
        </p:txBody>
      </p:sp>
      <p:sp>
        <p:nvSpPr>
          <p:cNvPr id="327" name="Google Shape;327;p45"/>
          <p:cNvSpPr txBox="1"/>
          <p:nvPr/>
        </p:nvSpPr>
        <p:spPr>
          <a:xfrm>
            <a:off x="5388075" y="0"/>
            <a:ext cx="37560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button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"btn btn-secondary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dropdown-toggle"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type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"button"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"dropdownMenuButton"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data-toggle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aria-haspopup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"true"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aria-expanded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"false"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Dropdown button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button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"dropdown-menu"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aria-labelledby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"dropdownMenuButton"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"dropdown-item"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Action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"dropdown-item"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Another action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"dropdown-item"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href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"#"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Something else here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45">
            <a:hlinkClick r:id="rId3"/>
          </p:cNvPr>
          <p:cNvSpPr/>
          <p:nvPr/>
        </p:nvSpPr>
        <p:spPr>
          <a:xfrm>
            <a:off x="0" y="5092700"/>
            <a:ext cx="5486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Form e input group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35" name="Google Shape;335;p46"/>
          <p:cNvSpPr txBox="1"/>
          <p:nvPr>
            <p:ph idx="1" type="body"/>
          </p:nvPr>
        </p:nvSpPr>
        <p:spPr>
          <a:xfrm>
            <a:off x="838250" y="1504950"/>
            <a:ext cx="5324100" cy="19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Gli elementi dei form sono stati normalizzati, al pari degli altri elementi, dal reboot di Bootstrap. Così come per gli altri tag, Bootstrap mette a disposizione delle classi per assegnare loro uno stile più evoluto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Ma gli elementi dei form, dal momento che verranno quasi sempre utilizzati gli uni insieme agli altri, sono stati anche organizzati in diversi tipi di componenti</a:t>
            </a:r>
            <a:endParaRPr sz="1500"/>
          </a:p>
        </p:txBody>
      </p:sp>
      <p:sp>
        <p:nvSpPr>
          <p:cNvPr id="336" name="Google Shape;336;p46"/>
          <p:cNvSpPr txBox="1"/>
          <p:nvPr/>
        </p:nvSpPr>
        <p:spPr>
          <a:xfrm>
            <a:off x="838350" y="4197800"/>
            <a:ext cx="650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https://getbootstrap.com/docs/5.3/forms/overview/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7" name="Google Shape;337;p46">
            <a:hlinkClick r:id="rId4"/>
          </p:cNvPr>
          <p:cNvSpPr/>
          <p:nvPr/>
        </p:nvSpPr>
        <p:spPr>
          <a:xfrm>
            <a:off x="0" y="5092700"/>
            <a:ext cx="5747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4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Form e input group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838250" y="1504950"/>
            <a:ext cx="5324100" cy="1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È possibile utilizzare una classe </a:t>
            </a:r>
            <a:r>
              <a:rPr b="1" lang="en" sz="1500"/>
              <a:t>.input-group</a:t>
            </a:r>
            <a:r>
              <a:rPr lang="en" sz="1500"/>
              <a:t> che permette di  estendere i form aggiungendo testi, bottoni o gruppi di bottoni ai lati degli input testuali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Per farlo, dentro ad input group aggiungerete uno “</a:t>
            </a:r>
            <a:r>
              <a:rPr lang="en" sz="1500"/>
              <a:t>span” </a:t>
            </a:r>
            <a:r>
              <a:rPr lang="en" sz="1500"/>
              <a:t>con classe </a:t>
            </a:r>
            <a:r>
              <a:rPr b="1" lang="en" sz="1500"/>
              <a:t>.input-group-text</a:t>
            </a:r>
            <a:r>
              <a:rPr lang="en" sz="1500"/>
              <a:t>, che, a seconda della sua posizione, apparirà prima o dopo l’input</a:t>
            </a:r>
            <a:endParaRPr sz="1500"/>
          </a:p>
        </p:txBody>
      </p:sp>
      <p:pic>
        <p:nvPicPr>
          <p:cNvPr id="345" name="Google Shape;34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50" y="3203250"/>
            <a:ext cx="6505635" cy="9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7"/>
          <p:cNvSpPr txBox="1"/>
          <p:nvPr/>
        </p:nvSpPr>
        <p:spPr>
          <a:xfrm>
            <a:off x="838350" y="4197800"/>
            <a:ext cx="650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https://getbootstrap.com/docs/5.3/forms/input-group/#basic-example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7" name="Google Shape;347;p47">
            <a:hlinkClick r:id="rId5"/>
          </p:cNvPr>
          <p:cNvSpPr/>
          <p:nvPr/>
        </p:nvSpPr>
        <p:spPr>
          <a:xfrm>
            <a:off x="0" y="5092700"/>
            <a:ext cx="6009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idx="1" type="body"/>
          </p:nvPr>
        </p:nvSpPr>
        <p:spPr>
          <a:xfrm>
            <a:off x="861825" y="1455400"/>
            <a:ext cx="7405800" cy="19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componente Navbar permette di creare rapidamente una </a:t>
            </a:r>
            <a:r>
              <a:rPr b="1" lang="en" sz="1500"/>
              <a:t>barra di navigazione</a:t>
            </a:r>
            <a:r>
              <a:rPr lang="en" sz="1500"/>
              <a:t> </a:t>
            </a:r>
            <a:r>
              <a:rPr b="1" lang="en" sz="1500"/>
              <a:t>responsive</a:t>
            </a:r>
            <a:r>
              <a:rPr lang="en" sz="1500"/>
              <a:t> dove potete integrare il vostro logo e dei gruppi di link o di dropdown 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Per crearla, si deve dichiarare una classe </a:t>
            </a:r>
            <a:r>
              <a:rPr b="1" lang="en" sz="1500"/>
              <a:t>.navbar</a:t>
            </a:r>
            <a:r>
              <a:rPr lang="en" sz="1500"/>
              <a:t> unita a una classe </a:t>
            </a:r>
            <a:r>
              <a:rPr b="1" lang="en" sz="1500"/>
              <a:t>.navbar-expand-{breakpoint}</a:t>
            </a:r>
            <a:r>
              <a:rPr lang="en" sz="1500"/>
              <a:t>. Quest’ultima, specifica qual è il breakpoint al di sotto del quale la barra nasconderà gli elementi </a:t>
            </a:r>
            <a:r>
              <a:rPr lang="en" sz="1500"/>
              <a:t>collapsible</a:t>
            </a:r>
            <a:r>
              <a:rPr lang="en" sz="1500"/>
              <a:t> per mostrare soltanto l’hamburger menù 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https://getbootstrap.com/docs/5.3/components/navbar/</a:t>
            </a:r>
            <a:endParaRPr sz="1500"/>
          </a:p>
        </p:txBody>
      </p:sp>
      <p:sp>
        <p:nvSpPr>
          <p:cNvPr id="353" name="Google Shape;353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54" name="Google Shape;354;p4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Navbar component</a:t>
            </a:r>
            <a:endParaRPr>
              <a:solidFill>
                <a:srgbClr val="999999"/>
              </a:solidFill>
            </a:endParaRPr>
          </a:p>
        </p:txBody>
      </p:sp>
      <p:pic>
        <p:nvPicPr>
          <p:cNvPr id="355" name="Google Shape;35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000" y="3764200"/>
            <a:ext cx="67437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1825" y="4434150"/>
            <a:ext cx="6781876" cy="5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8">
            <a:hlinkClick r:id="rId6"/>
          </p:cNvPr>
          <p:cNvSpPr/>
          <p:nvPr/>
        </p:nvSpPr>
        <p:spPr>
          <a:xfrm>
            <a:off x="0" y="5092700"/>
            <a:ext cx="6270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idx="1" type="body"/>
          </p:nvPr>
        </p:nvSpPr>
        <p:spPr>
          <a:xfrm>
            <a:off x="861825" y="1455400"/>
            <a:ext cx="74058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 sottocomponenti di Navbar gestiscono le varie parti che possono comporre la vostra barra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.collapse.navbar-collapse</a:t>
            </a:r>
            <a:r>
              <a:rPr lang="en" sz="1500"/>
              <a:t> raggruppano i contenuti e si occupa</a:t>
            </a:r>
            <a:r>
              <a:rPr lang="en" sz="1500"/>
              <a:t>no</a:t>
            </a:r>
            <a:r>
              <a:rPr lang="en" sz="1500"/>
              <a:t> di nasconderli in base al breakpoint definito dal genitore expand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.navbar-brand</a:t>
            </a:r>
            <a:r>
              <a:rPr lang="en" sz="1500"/>
              <a:t> potrà contenere il nome (o il logo) del sito, della compagnia e del progetto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.navbar-nav</a:t>
            </a:r>
            <a:r>
              <a:rPr lang="en" sz="1500"/>
              <a:t> (assegnato solitamente a un ul) può contenere diversi </a:t>
            </a:r>
            <a:r>
              <a:rPr b="1" lang="en" sz="1500"/>
              <a:t>.nav-item</a:t>
            </a:r>
            <a:r>
              <a:rPr lang="en" sz="1500"/>
              <a:t> per creare un menù di navigazione. Ai nav-item può essere aggiunta la classe </a:t>
            </a:r>
            <a:r>
              <a:rPr b="1" lang="en" sz="1500"/>
              <a:t>.dropdown</a:t>
            </a:r>
            <a:r>
              <a:rPr lang="en" sz="1500"/>
              <a:t> per aggiungere un altro livello di navigazione</a:t>
            </a:r>
            <a:endParaRPr sz="1500"/>
          </a:p>
        </p:txBody>
      </p:sp>
      <p:sp>
        <p:nvSpPr>
          <p:cNvPr id="363" name="Google Shape;363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Navbar (sottocomponenti)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65" name="Google Shape;365;p49">
            <a:hlinkClick r:id="rId3"/>
          </p:cNvPr>
          <p:cNvSpPr/>
          <p:nvPr/>
        </p:nvSpPr>
        <p:spPr>
          <a:xfrm>
            <a:off x="0" y="5092700"/>
            <a:ext cx="653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/>
          <p:nvPr>
            <p:ph idx="1" type="body"/>
          </p:nvPr>
        </p:nvSpPr>
        <p:spPr>
          <a:xfrm>
            <a:off x="861825" y="1455400"/>
            <a:ext cx="74058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maggior parte dei componenti può essere utilizzata in due modi: grazie ai </a:t>
            </a:r>
            <a:r>
              <a:rPr b="1" lang="en" sz="1500"/>
              <a:t>data-attributes</a:t>
            </a:r>
            <a:r>
              <a:rPr lang="en" sz="1500"/>
              <a:t> oppure grazie all’</a:t>
            </a:r>
            <a:r>
              <a:rPr b="1" lang="en" sz="1500"/>
              <a:t>attivazione manuale con JavaScript</a:t>
            </a:r>
            <a:endParaRPr b="1"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Nel primo caso, gli attributi vi risparmiano la necessità di scrivere funzioni JavaScript perché permettono di definire parametri e stati direttamente nell’HTML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Le funzioni JavaScript, tuttavia, vi permetterebbero di avere un controllo più elevato</a:t>
            </a:r>
            <a:endParaRPr sz="1500"/>
          </a:p>
        </p:txBody>
      </p:sp>
      <p:sp>
        <p:nvSpPr>
          <p:cNvPr id="371" name="Google Shape;371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72" name="Google Shape;372;p50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JavaScript e componenti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73" name="Google Shape;373;p50">
            <a:hlinkClick r:id="rId3"/>
          </p:cNvPr>
          <p:cNvSpPr/>
          <p:nvPr/>
        </p:nvSpPr>
        <p:spPr>
          <a:xfrm>
            <a:off x="0" y="5092700"/>
            <a:ext cx="6792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BOOTSTRAP: UTILITIES</a:t>
            </a:r>
            <a:endParaRPr/>
          </a:p>
        </p:txBody>
      </p:sp>
      <p:sp>
        <p:nvSpPr>
          <p:cNvPr id="379" name="Google Shape;379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80" name="Google Shape;380;p51">
            <a:hlinkClick r:id="rId3"/>
          </p:cNvPr>
          <p:cNvSpPr/>
          <p:nvPr/>
        </p:nvSpPr>
        <p:spPr>
          <a:xfrm>
            <a:off x="0" y="5092700"/>
            <a:ext cx="7053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5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Utilities di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87" name="Google Shape;387;p52"/>
          <p:cNvSpPr txBox="1"/>
          <p:nvPr>
            <p:ph idx="1" type="body"/>
          </p:nvPr>
        </p:nvSpPr>
        <p:spPr>
          <a:xfrm>
            <a:off x="838250" y="1504950"/>
            <a:ext cx="53241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Le utilities sono classi di Bootstrap che permettono di alleggerire di molto la scrittura di codice CSS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Molte utilities sono classi a cui è stata assegnata una sola coppia </a:t>
            </a:r>
            <a:r>
              <a:rPr i="1" lang="en" sz="1300"/>
              <a:t>proprietà: valore</a:t>
            </a:r>
            <a:endParaRPr i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Si può fare uso delle utilities per le proprietà più svariate (a ogni proprietà, ovviamente, la classe assegna un determinato attributo)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Ad esempio:</a:t>
            </a:r>
            <a:r>
              <a:rPr lang="en" sz="1300"/>
              <a:t> </a:t>
            </a:r>
            <a:r>
              <a:rPr i="1" lang="en" sz="1300"/>
              <a:t>.d-none</a:t>
            </a:r>
            <a:r>
              <a:rPr lang="en" sz="1300"/>
              <a:t> assegna </a:t>
            </a:r>
            <a:r>
              <a:rPr i="1" lang="en" sz="1300"/>
              <a:t>display:none</a:t>
            </a:r>
            <a:r>
              <a:rPr lang="en" sz="1300"/>
              <a:t>; all’elemento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Le utilities sono spesso accoppiate a breakpoint, in modo da attribuire determinate proprietà a un elemento soltanto a partire da schermi di certe dimensioni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Ad esempio:</a:t>
            </a:r>
            <a:r>
              <a:rPr lang="en" sz="1300"/>
              <a:t> </a:t>
            </a:r>
            <a:r>
              <a:rPr i="1" lang="en" sz="1300"/>
              <a:t>.d-md-none</a:t>
            </a:r>
            <a:r>
              <a:rPr lang="en" sz="1300"/>
              <a:t> assegna </a:t>
            </a:r>
            <a:r>
              <a:rPr i="1" lang="en" sz="1300"/>
              <a:t>display:none</a:t>
            </a:r>
            <a:r>
              <a:rPr lang="en" sz="1300"/>
              <a:t>; all’elemento, ma solo quando è stato superato il breakpoint md</a:t>
            </a:r>
            <a:endParaRPr sz="1300"/>
          </a:p>
        </p:txBody>
      </p:sp>
      <p:sp>
        <p:nvSpPr>
          <p:cNvPr id="388" name="Google Shape;388;p52">
            <a:hlinkClick r:id="rId3"/>
          </p:cNvPr>
          <p:cNvSpPr/>
          <p:nvPr/>
        </p:nvSpPr>
        <p:spPr>
          <a:xfrm>
            <a:off x="0" y="5092700"/>
            <a:ext cx="7315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3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Utilities per il layout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95" name="Google Shape;395;p53"/>
          <p:cNvSpPr txBox="1"/>
          <p:nvPr>
            <p:ph idx="1" type="body"/>
          </p:nvPr>
        </p:nvSpPr>
        <p:spPr>
          <a:xfrm>
            <a:off x="838250" y="15049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Display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https://getbootstrap.com/docs/5.3/utilities/display/</a:t>
            </a:r>
            <a:endParaRPr sz="1500"/>
          </a:p>
        </p:txBody>
      </p:sp>
      <p:sp>
        <p:nvSpPr>
          <p:cNvPr id="396" name="Google Shape;396;p53"/>
          <p:cNvSpPr txBox="1"/>
          <p:nvPr>
            <p:ph idx="1" type="body"/>
          </p:nvPr>
        </p:nvSpPr>
        <p:spPr>
          <a:xfrm>
            <a:off x="838250" y="19204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Spacing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https://getbootstrap.com/docs/5.3/utilities/spacing/</a:t>
            </a:r>
            <a:endParaRPr sz="1500"/>
          </a:p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838250" y="23359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Flex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5"/>
              </a:rPr>
              <a:t>https://getbootstrap.com/docs/5.3/utilities/flex/</a:t>
            </a:r>
            <a:endParaRPr sz="1500"/>
          </a:p>
        </p:txBody>
      </p:sp>
      <p:sp>
        <p:nvSpPr>
          <p:cNvPr id="398" name="Google Shape;398;p53">
            <a:hlinkClick r:id="rId6"/>
          </p:cNvPr>
          <p:cNvSpPr/>
          <p:nvPr/>
        </p:nvSpPr>
        <p:spPr>
          <a:xfrm>
            <a:off x="0" y="5092700"/>
            <a:ext cx="7576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54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Display utilities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05" name="Google Shape;405;p54"/>
          <p:cNvSpPr txBox="1"/>
          <p:nvPr>
            <p:ph idx="1" type="body"/>
          </p:nvPr>
        </p:nvSpPr>
        <p:spPr>
          <a:xfrm>
            <a:off x="838250" y="1504950"/>
            <a:ext cx="5324100" cy="1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Permette di applicare delle classi per gestire la visibilità degli elementi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500"/>
              <a:t>d-{breakpoint}-{value}</a:t>
            </a:r>
            <a:endParaRPr b="1" sz="1500"/>
          </a:p>
        </p:txBody>
      </p:sp>
      <p:sp>
        <p:nvSpPr>
          <p:cNvPr id="406" name="Google Shape;406;p54"/>
          <p:cNvSpPr txBox="1"/>
          <p:nvPr>
            <p:ph idx="1" type="body"/>
          </p:nvPr>
        </p:nvSpPr>
        <p:spPr>
          <a:xfrm>
            <a:off x="838250" y="2510550"/>
            <a:ext cx="53241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v</a:t>
            </a:r>
            <a:r>
              <a:rPr b="1" lang="en" sz="1500"/>
              <a:t>alue</a:t>
            </a:r>
            <a:r>
              <a:rPr lang="en" sz="1500"/>
              <a:t> può essere uno tra</a:t>
            </a:r>
            <a:endParaRPr sz="1500"/>
          </a:p>
        </p:txBody>
      </p:sp>
      <p:sp>
        <p:nvSpPr>
          <p:cNvPr id="407" name="Google Shape;407;p54"/>
          <p:cNvSpPr txBox="1"/>
          <p:nvPr>
            <p:ph idx="1" type="body"/>
          </p:nvPr>
        </p:nvSpPr>
        <p:spPr>
          <a:xfrm>
            <a:off x="838350" y="2926050"/>
            <a:ext cx="26619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none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inline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inline-block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block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table </a:t>
            </a:r>
            <a:endParaRPr sz="1500"/>
          </a:p>
        </p:txBody>
      </p:sp>
      <p:sp>
        <p:nvSpPr>
          <p:cNvPr id="408" name="Google Shape;408;p54"/>
          <p:cNvSpPr txBox="1"/>
          <p:nvPr>
            <p:ph idx="1" type="body"/>
          </p:nvPr>
        </p:nvSpPr>
        <p:spPr>
          <a:xfrm>
            <a:off x="3241050" y="2926050"/>
            <a:ext cx="26619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table-cell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table-row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flex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inline-flex</a:t>
            </a:r>
            <a:endParaRPr sz="1500"/>
          </a:p>
        </p:txBody>
      </p:sp>
      <p:sp>
        <p:nvSpPr>
          <p:cNvPr id="409" name="Google Shape;409;p54">
            <a:hlinkClick r:id="rId3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Spacing utilities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16" name="Google Shape;416;p55"/>
          <p:cNvSpPr txBox="1"/>
          <p:nvPr>
            <p:ph idx="1" type="body"/>
          </p:nvPr>
        </p:nvSpPr>
        <p:spPr>
          <a:xfrm>
            <a:off x="838250" y="1504950"/>
            <a:ext cx="5324100" cy="1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Assegna margini o padding responsive ad un elemento (o solo alcuni dei suoi lati)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500"/>
              <a:t>{property}{sides}-{breakpoint}-{size}</a:t>
            </a:r>
            <a:endParaRPr b="1" sz="1500"/>
          </a:p>
        </p:txBody>
      </p:sp>
      <p:sp>
        <p:nvSpPr>
          <p:cNvPr id="417" name="Google Shape;417;p55"/>
          <p:cNvSpPr txBox="1"/>
          <p:nvPr>
            <p:ph idx="1" type="body"/>
          </p:nvPr>
        </p:nvSpPr>
        <p:spPr>
          <a:xfrm>
            <a:off x="838250" y="2510550"/>
            <a:ext cx="53241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property</a:t>
            </a:r>
            <a:r>
              <a:rPr lang="en" sz="1500"/>
              <a:t> è uno tra: </a:t>
            </a:r>
            <a:r>
              <a:rPr b="1" lang="en" sz="1500"/>
              <a:t>m </a:t>
            </a:r>
            <a:r>
              <a:rPr lang="en" sz="1500"/>
              <a:t>(margin) o </a:t>
            </a:r>
            <a:r>
              <a:rPr b="1" lang="en" sz="1500"/>
              <a:t>p </a:t>
            </a:r>
            <a:r>
              <a:rPr lang="en" sz="1500"/>
              <a:t>(padding)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side </a:t>
            </a:r>
            <a:r>
              <a:rPr lang="en" sz="1500"/>
              <a:t>è uno tra: </a:t>
            </a:r>
            <a:r>
              <a:rPr b="1" lang="en" sz="1500"/>
              <a:t>t </a:t>
            </a:r>
            <a:r>
              <a:rPr lang="en" sz="1500"/>
              <a:t>(top), </a:t>
            </a:r>
            <a:r>
              <a:rPr b="1" lang="en" sz="1500"/>
              <a:t>b </a:t>
            </a:r>
            <a:r>
              <a:rPr lang="en" sz="1500"/>
              <a:t>(bottom), </a:t>
            </a:r>
            <a:r>
              <a:rPr b="1" lang="en" sz="1500"/>
              <a:t>s </a:t>
            </a:r>
            <a:r>
              <a:rPr lang="en" sz="1500"/>
              <a:t>(start), </a:t>
            </a:r>
            <a:r>
              <a:rPr b="1" lang="en" sz="1500"/>
              <a:t>e </a:t>
            </a:r>
            <a:r>
              <a:rPr lang="en" sz="1500"/>
              <a:t>(end), </a:t>
            </a:r>
            <a:r>
              <a:rPr b="1" lang="en" sz="1500"/>
              <a:t>x </a:t>
            </a:r>
            <a:r>
              <a:rPr lang="en" sz="1500"/>
              <a:t>(left e right), </a:t>
            </a:r>
            <a:r>
              <a:rPr b="1" lang="en" sz="1500"/>
              <a:t>y </a:t>
            </a:r>
            <a:r>
              <a:rPr lang="en" sz="1500"/>
              <a:t>(top e bottom), niente (per tutti e 4 i lati)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size è uno tra: </a:t>
            </a:r>
            <a:r>
              <a:rPr b="1" lang="en" sz="1500"/>
              <a:t>0 </a:t>
            </a:r>
            <a:r>
              <a:rPr lang="en" sz="1500"/>
              <a:t>(toglie tutti i margini o padding), </a:t>
            </a:r>
            <a:r>
              <a:rPr b="1" lang="en" sz="1500"/>
              <a:t>auto </a:t>
            </a:r>
            <a:r>
              <a:rPr lang="en" sz="1500"/>
              <a:t>(imposta i margini ad auto), numeri tra </a:t>
            </a:r>
            <a:r>
              <a:rPr b="1" lang="en" sz="1500"/>
              <a:t>1 </a:t>
            </a:r>
            <a:r>
              <a:rPr lang="en" sz="1500"/>
              <a:t>e </a:t>
            </a:r>
            <a:r>
              <a:rPr b="1" lang="en" sz="1500"/>
              <a:t>5 </a:t>
            </a:r>
            <a:r>
              <a:rPr lang="en" sz="1500"/>
              <a:t>per impostare margini con un range che va da .25rem (1) e 3rem (5)</a:t>
            </a:r>
            <a:endParaRPr sz="1500"/>
          </a:p>
        </p:txBody>
      </p:sp>
      <p:sp>
        <p:nvSpPr>
          <p:cNvPr id="418" name="Google Shape;418;p55">
            <a:hlinkClick r:id="rId3"/>
          </p:cNvPr>
          <p:cNvSpPr/>
          <p:nvPr/>
        </p:nvSpPr>
        <p:spPr>
          <a:xfrm>
            <a:off x="0" y="5092700"/>
            <a:ext cx="8099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Flex utilities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25" name="Google Shape;425;p56"/>
          <p:cNvSpPr txBox="1"/>
          <p:nvPr>
            <p:ph idx="1" type="body"/>
          </p:nvPr>
        </p:nvSpPr>
        <p:spPr>
          <a:xfrm>
            <a:off x="838250" y="1504950"/>
            <a:ext cx="5324100" cy="25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Le proprietà flex possono essere implementate velocemente utilizzando classi con questo formato: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{propriety}-{value}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{propriety}-{breakpoint}-{value}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Esempi: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.flex-column-reverse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.justify-content-center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.align-items-md-end</a:t>
            </a:r>
            <a:endParaRPr sz="1500"/>
          </a:p>
        </p:txBody>
      </p:sp>
      <p:sp>
        <p:nvSpPr>
          <p:cNvPr id="426" name="Google Shape;426;p56">
            <a:hlinkClick r:id="rId3"/>
          </p:cNvPr>
          <p:cNvSpPr/>
          <p:nvPr/>
        </p:nvSpPr>
        <p:spPr>
          <a:xfrm>
            <a:off x="0" y="5092700"/>
            <a:ext cx="8360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5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Altre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33" name="Google Shape;433;p57"/>
          <p:cNvSpPr txBox="1"/>
          <p:nvPr>
            <p:ph idx="1" type="body"/>
          </p:nvPr>
        </p:nvSpPr>
        <p:spPr>
          <a:xfrm>
            <a:off x="838250" y="15049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width e height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https://getbootstrap.com/docs/5.3/utilities/sizing/</a:t>
            </a:r>
            <a:endParaRPr sz="1500"/>
          </a:p>
        </p:txBody>
      </p:sp>
      <p:sp>
        <p:nvSpPr>
          <p:cNvPr id="434" name="Google Shape;434;p57"/>
          <p:cNvSpPr txBox="1"/>
          <p:nvPr>
            <p:ph idx="1" type="body"/>
          </p:nvPr>
        </p:nvSpPr>
        <p:spPr>
          <a:xfrm>
            <a:off x="838250" y="19204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b</a:t>
            </a:r>
            <a:r>
              <a:rPr b="1" lang="en" sz="1500"/>
              <a:t>order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https://getbootstrap.com/docs/5.3/utilities/borders/</a:t>
            </a:r>
            <a:endParaRPr sz="1500"/>
          </a:p>
        </p:txBody>
      </p:sp>
      <p:sp>
        <p:nvSpPr>
          <p:cNvPr id="435" name="Google Shape;435;p57"/>
          <p:cNvSpPr txBox="1"/>
          <p:nvPr>
            <p:ph idx="1" type="body"/>
          </p:nvPr>
        </p:nvSpPr>
        <p:spPr>
          <a:xfrm>
            <a:off x="838250" y="23359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position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5"/>
              </a:rPr>
              <a:t>https://getbootstrap.com/docs/5.3/utilities/position/</a:t>
            </a:r>
            <a:endParaRPr sz="1500"/>
          </a:p>
        </p:txBody>
      </p:sp>
      <p:sp>
        <p:nvSpPr>
          <p:cNvPr id="436" name="Google Shape;436;p57"/>
          <p:cNvSpPr txBox="1"/>
          <p:nvPr>
            <p:ph idx="1" type="body"/>
          </p:nvPr>
        </p:nvSpPr>
        <p:spPr>
          <a:xfrm>
            <a:off x="838250" y="27514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f</a:t>
            </a:r>
            <a:r>
              <a:rPr b="1" lang="en" sz="1500"/>
              <a:t>loat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6"/>
              </a:rPr>
              <a:t>https://getbootstrap.com/docs/5.3/utilities/float/</a:t>
            </a:r>
            <a:endParaRPr sz="1500"/>
          </a:p>
        </p:txBody>
      </p:sp>
      <p:sp>
        <p:nvSpPr>
          <p:cNvPr id="437" name="Google Shape;437;p57"/>
          <p:cNvSpPr txBox="1"/>
          <p:nvPr>
            <p:ph idx="1" type="body"/>
          </p:nvPr>
        </p:nvSpPr>
        <p:spPr>
          <a:xfrm>
            <a:off x="838250" y="31669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overflow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7"/>
              </a:rPr>
              <a:t>https://getbootstrap.com/docs/5.3/utilities/overflow/</a:t>
            </a:r>
            <a:endParaRPr sz="1500"/>
          </a:p>
        </p:txBody>
      </p:sp>
      <p:sp>
        <p:nvSpPr>
          <p:cNvPr id="438" name="Google Shape;438;p57"/>
          <p:cNvSpPr txBox="1"/>
          <p:nvPr>
            <p:ph idx="1" type="body"/>
          </p:nvPr>
        </p:nvSpPr>
        <p:spPr>
          <a:xfrm>
            <a:off x="838250" y="3582450"/>
            <a:ext cx="6398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500"/>
              <a:t>t</a:t>
            </a:r>
            <a:r>
              <a:rPr b="1" lang="en" sz="1500"/>
              <a:t>ext </a:t>
            </a:r>
            <a:r>
              <a:rPr lang="en" sz="1500"/>
              <a:t>- </a:t>
            </a:r>
            <a:r>
              <a:rPr lang="en" sz="1500" u="sng">
                <a:solidFill>
                  <a:schemeClr val="hlink"/>
                </a:solidFill>
                <a:hlinkClick r:id="rId8"/>
              </a:rPr>
              <a:t>https://getbootstrap.com/docs/5.3/utilities/text/</a:t>
            </a:r>
            <a:endParaRPr sz="1500"/>
          </a:p>
        </p:txBody>
      </p:sp>
      <p:sp>
        <p:nvSpPr>
          <p:cNvPr id="439" name="Google Shape;439;p57">
            <a:hlinkClick r:id="rId9"/>
          </p:cNvPr>
          <p:cNvSpPr/>
          <p:nvPr/>
        </p:nvSpPr>
        <p:spPr>
          <a:xfrm>
            <a:off x="0" y="5092700"/>
            <a:ext cx="8621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5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446" name="Google Shape;446;p58"/>
          <p:cNvSpPr txBox="1"/>
          <p:nvPr>
            <p:ph idx="4294967295" type="body"/>
          </p:nvPr>
        </p:nvSpPr>
        <p:spPr>
          <a:xfrm>
            <a:off x="838250" y="1504950"/>
            <a:ext cx="58428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Includete Bootstrap in una pagina web utilizzando la CDN, premurandovi di includere anche i file JavaScript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Inserite un componente navbar e personalizzatelo con link a vostra scelta.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Nel contenuto della pagina, create un accordion utilizzando i componenti collapse e  seguendo la documentazione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Nel contenuto della pagina, inserite un insieme di card e un form o un input group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Personalizzate gli stili dei componenti</a:t>
            </a:r>
            <a:endParaRPr sz="1500"/>
          </a:p>
        </p:txBody>
      </p:sp>
      <p:grpSp>
        <p:nvGrpSpPr>
          <p:cNvPr id="447" name="Google Shape;447;p58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448" name="Google Shape;448;p58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8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8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8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8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58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58">
            <a:hlinkClick r:id="rId3"/>
          </p:cNvPr>
          <p:cNvSpPr/>
          <p:nvPr/>
        </p:nvSpPr>
        <p:spPr>
          <a:xfrm>
            <a:off x="0" y="5092700"/>
            <a:ext cx="888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9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460" name="Google Shape;460;p59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461" name="Google Shape;461;p59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9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63" name="Google Shape;463;p59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59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6</a:t>
            </a:r>
            <a:endParaRPr sz="1200"/>
          </a:p>
        </p:txBody>
      </p:sp>
      <p:sp>
        <p:nvSpPr>
          <p:cNvPr id="465" name="Google Shape;465;p59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