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embeddedFontLst>
    <p:embeddedFont>
      <p:font typeface="Montserrat"/>
      <p:regular r:id="rId53"/>
      <p:bold r:id="rId54"/>
      <p:italic r:id="rId55"/>
      <p:boldItalic r:id="rId56"/>
    </p:embeddedFont>
    <p:embeddedFont>
      <p:font typeface="Fira Code"/>
      <p:regular r:id="rId57"/>
      <p:bold r:id="rId58"/>
    </p:embeddedFont>
    <p:embeddedFont>
      <p:font typeface="Karla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146B62-E92E-473F-AD3A-78E31CE7374C}">
  <a:tblStyle styleId="{36146B62-E92E-473F-AD3A-78E31CE737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Karla-boldItalic.fntdata"/><Relationship Id="rId61" Type="http://schemas.openxmlformats.org/officeDocument/2006/relationships/font" Target="fonts/Karla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Karla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Montserrat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Montserrat-italic.fntdata"/><Relationship Id="rId10" Type="http://schemas.openxmlformats.org/officeDocument/2006/relationships/slide" Target="slides/slide5.xml"/><Relationship Id="rId54" Type="http://schemas.openxmlformats.org/officeDocument/2006/relationships/font" Target="fonts/Montserrat-bold.fntdata"/><Relationship Id="rId13" Type="http://schemas.openxmlformats.org/officeDocument/2006/relationships/slide" Target="slides/slide8.xml"/><Relationship Id="rId57" Type="http://schemas.openxmlformats.org/officeDocument/2006/relationships/font" Target="fonts/FiraCode-regular.fntdata"/><Relationship Id="rId12" Type="http://schemas.openxmlformats.org/officeDocument/2006/relationships/slide" Target="slides/slide7.xml"/><Relationship Id="rId56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59" Type="http://schemas.openxmlformats.org/officeDocument/2006/relationships/font" Target="fonts/Karla-regular.fntdata"/><Relationship Id="rId14" Type="http://schemas.openxmlformats.org/officeDocument/2006/relationships/slide" Target="slides/slide9.xml"/><Relationship Id="rId58" Type="http://schemas.openxmlformats.org/officeDocument/2006/relationships/font" Target="fonts/FiraCode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621cb6a7f4_0_1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621cb6a7f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b23d5e08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b23d5e08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b23d5e084_0_6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b23d5e084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b23d5e08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b23d5e08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69c058156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69c058156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69c058156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69c058156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69c058156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69c058156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 problema è che se noi settiamo background: red per esempio, in realtà stiamo andando a resettare tutta una serie di proprietà come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background-image: initial;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background-position-x: initial;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background-position-y: initial;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background-size: initial;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background-repeat-x: initial;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background-repeat-y: initial;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background-attachment: initial;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background-origin: initial;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background-clip: initial;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9b23d5e08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9b23d5e08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69c058156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69c058156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69c058156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69c058156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9caecedcd2_0_1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9caecedcd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9b23d5e084_0_7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9b23d5e084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69c058156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69c058156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69c058156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69c058156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Height insieme dei contenuti significa che se non ci sono contenuti quanto sarà l’altezza?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9b23d5e08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9b23d5e08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b23d5e08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b23d5e08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69c058156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69c058156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9b23d5e08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9b23d5e08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6a140726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6a140726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69c0581569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69c058156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69c058156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69c058156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6a140726a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6a140726a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6a140726a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6a140726a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6a140726a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6a140726a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6a140726a8_0_8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6a140726a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6a140726a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6a140726a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6a140726a8_0_1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6a140726a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6a140726a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6a140726a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6a140726a8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6a140726a8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9b23d5e08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9b23d5e08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a140726a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6a140726a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6a140726a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6a140726a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6a140726a8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6a140726a8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6a140726a8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6a140726a8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6a140726a8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6a140726a8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6a140726a8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6a140726a8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16a140726a8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16a140726a8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6a140726a8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6a140726a8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6a140726a8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16a140726a8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16a140726a8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16a140726a8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6a140726a8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16a140726a8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6a140726a8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6a140726a8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6a140726a8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16a140726a8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6a140726a8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6a140726a8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6a140726a8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16a140726a8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163f0d4b11d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163f0d4b1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9caecedcd2_0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9caecedcd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648300" y="3175950"/>
            <a:ext cx="35307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1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ig image">
  <p:cSld name="TITLE_1_2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092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-193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2" name="Google Shape;32;p6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Google Shape;33;p6"/>
          <p:cNvSpPr txBox="1"/>
          <p:nvPr/>
        </p:nvSpPr>
        <p:spPr>
          <a:xfrm>
            <a:off x="799645" y="697675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8250" y="16573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Font typeface="Montserrat"/>
              <a:buChar char="▸"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8" name="Google Shape;38;p7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44" name="Google Shape;44;p8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841001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3673842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+2 columns">
  <p:cSld name="TITLE_AND_TWO_COLUMNS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1" name="Google Shape;51;p9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84100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367385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838250" y="1504950"/>
            <a:ext cx="5507400" cy="12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9" name="Google Shape;59;p10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841000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043281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5245562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67" name="Google Shape;67;p11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2" name="Google Shape;72;p12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841000" y="4025300"/>
            <a:ext cx="7845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7" name="Google Shape;77;p13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er">
  <p:cSld name="BLANK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529500" y="556000"/>
            <a:ext cx="8085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301525" y="1515201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4" name="Google Shape;84;p14"/>
          <p:cNvSpPr txBox="1"/>
          <p:nvPr>
            <p:ph idx="2" type="body"/>
          </p:nvPr>
        </p:nvSpPr>
        <p:spPr>
          <a:xfrm>
            <a:off x="4944100" y="1582226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▸"/>
              <a:defRPr sz="1600">
                <a:solidFill>
                  <a:srgbClr val="FFFFFF"/>
                </a:solidFill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2">
  <p:cSld name="BLANK_1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full">
  <p:cSld name="BLANK_1_2">
    <p:bg>
      <p:bgPr>
        <a:solidFill>
          <a:srgbClr val="33333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838200" y="255000"/>
            <a:ext cx="7467600" cy="46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▸"/>
              <a:defRPr>
                <a:solidFill>
                  <a:srgbClr val="FFFFFF"/>
                </a:solidFill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8">
          <p15:clr>
            <a:srgbClr val="FA7B17"/>
          </p15:clr>
        </p15:guide>
        <p15:guide id="2" pos="5232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1">
  <p:cSld name="BLANK_1_1">
    <p:bg>
      <p:bgPr>
        <a:noFill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">
  <p:cSld name="BLANK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 flipH="1">
            <a:off x="0" y="159275"/>
            <a:ext cx="9143546" cy="499750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94" name="Google Shape;94;p18"/>
          <p:cNvSpPr/>
          <p:nvPr/>
        </p:nvSpPr>
        <p:spPr>
          <a:xfrm flipH="1">
            <a:off x="225" y="238925"/>
            <a:ext cx="9143546" cy="491804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861825" y="1455400"/>
            <a:ext cx="74058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▸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7">
          <p15:clr>
            <a:srgbClr val="FA7B17"/>
          </p15:clr>
        </p15:guide>
        <p15:guide id="2" pos="5193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BLANK_1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">
  <p:cSld name="BLANK_1_1_2">
    <p:bg>
      <p:bgPr>
        <a:solidFill>
          <a:srgbClr val="33333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1227210" y="-10450"/>
            <a:ext cx="7915701" cy="5164387"/>
            <a:chOff x="1113125" y="-10450"/>
            <a:chExt cx="8443415" cy="5164387"/>
          </a:xfrm>
        </p:grpSpPr>
        <p:sp>
          <p:nvSpPr>
            <p:cNvPr id="102" name="Google Shape;102;p20"/>
            <p:cNvSpPr/>
            <p:nvPr/>
          </p:nvSpPr>
          <p:spPr>
            <a:xfrm rot="10800000">
              <a:off x="11131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000000">
                <a:alpha val="7310"/>
              </a:srgbClr>
            </a:solidFill>
            <a:ln>
              <a:noFill/>
            </a:ln>
          </p:spPr>
        </p:sp>
        <p:sp>
          <p:nvSpPr>
            <p:cNvPr id="103" name="Google Shape;103;p20"/>
            <p:cNvSpPr/>
            <p:nvPr/>
          </p:nvSpPr>
          <p:spPr>
            <a:xfrm rot="10800000">
              <a:off x="13272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336375" y="1989650"/>
            <a:ext cx="1483200" cy="27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600"/>
              </a:spcBef>
              <a:spcAft>
                <a:spcPts val="0"/>
              </a:spcAft>
              <a:buSzPts val="2000"/>
              <a:buFont typeface="Fira Code"/>
              <a:buNone/>
              <a:defRPr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2692125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1">
  <p:cSld name="BLANK_1_1_2_1">
    <p:bg>
      <p:bgPr>
        <a:noFill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0" y="0"/>
            <a:ext cx="2379000" cy="515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819450" y="1504950"/>
            <a:ext cx="58233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3" name="Google Shape;113;p21"/>
          <p:cNvSpPr/>
          <p:nvPr/>
        </p:nvSpPr>
        <p:spPr>
          <a:xfrm>
            <a:off x="2377450" y="0"/>
            <a:ext cx="543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ample">
  <p:cSld name="TITLE_AND_BODY_1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838350" y="893500"/>
            <a:ext cx="7188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838250" y="1504950"/>
            <a:ext cx="75405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3">
  <p:cSld name="BLANK_1_5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3333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41100"/>
            <a:ext cx="518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52550"/>
            <a:ext cx="51852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▸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#PROGRESS_BAR_I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#PROGRESS_BAR_I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#PROGRESS_BAR_I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#PROGRESS_BAR_I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#PROGRESS_BAR_I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hyperlink" Target="#PROGRESS_BAR_ID" TargetMode="External"/><Relationship Id="rId4" Type="http://schemas.openxmlformats.org/officeDocument/2006/relationships/hyperlink" Target="https://csswizardry.com/2016/12/css-shorthand-syntax-considered-an-anti-pattern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hyperlink" Target="#PROGRESS_BAR_I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#PROGRESS_BAR_I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#PROGRESS_BAR_I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tackblitz.com/edit/web-platform-v7wg9e?file=index.html,styles.css" TargetMode="External"/><Relationship Id="rId4" Type="http://schemas.openxmlformats.org/officeDocument/2006/relationships/hyperlink" Target="#PROGRESS_BAR_I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#PROGRESS_BAR_I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#PROGRESS_BAR_I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#PROGRESS_BAR_I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#PROGRESS_BAR_I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hyperlink" Target="#PROGRESS_BAR_ID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odepen.io/apierotti1/pen/MWvWNOg?editors=1100" TargetMode="External"/><Relationship Id="rId4" Type="http://schemas.openxmlformats.org/officeDocument/2006/relationships/hyperlink" Target="#PROGRESS_BAR_I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hyperlink" Target="https://www.webriderz.com/" TargetMode="External"/><Relationship Id="rId5" Type="http://schemas.openxmlformats.org/officeDocument/2006/relationships/hyperlink" Target="#PROGRESS_BAR_ID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odepen.io/Elia-G/full/rNvRKXb" TargetMode="External"/><Relationship Id="rId4" Type="http://schemas.openxmlformats.org/officeDocument/2006/relationships/hyperlink" Target="#PROGRESS_BAR_ID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hyperlink" Target="#PROGRESS_BAR_ID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#PROGRESS_BAR_ID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#PROGRESS_BAR_ID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hyperlink" Target="https://developer.mozilla.org/en-US/docs/Web/CSS/position" TargetMode="External"/><Relationship Id="rId5" Type="http://schemas.openxmlformats.org/officeDocument/2006/relationships/hyperlink" Target="#PROGRESS_BAR_ID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odepen.io/apierotti1/pen/qBZzeBw" TargetMode="External"/><Relationship Id="rId4" Type="http://schemas.openxmlformats.org/officeDocument/2006/relationships/hyperlink" Target="https://codepen.io/apierotti1/pen/eYZwqzL" TargetMode="External"/><Relationship Id="rId5" Type="http://schemas.openxmlformats.org/officeDocument/2006/relationships/hyperlink" Target="#PROGRESS_BAR_I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hyperlink" Target="#PROGRESS_BAR_ID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hyperlink" Target="#PROGRESS_BAR_ID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#PROGRESS_BAR_ID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#PROGRESS_BAR_ID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hyperlink" Target="#PROGRESS_BAR_ID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#PROGRESS_BAR_ID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#PROGRESS_BAR_ID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hyperlink" Target="#PROGRESS_BAR_ID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#PROGRESS_BAR_ID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codepen.io/team/css-tricks/pen/zzJMGJ" TargetMode="External"/><Relationship Id="rId4" Type="http://schemas.openxmlformats.org/officeDocument/2006/relationships/hyperlink" Target="#PROGRESS_BAR_ID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#PROGRESS_BAR_ID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#PROGRESS_BAR_ID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codepen.io/asim-coder/pen/WrMNWR" TargetMode="External"/><Relationship Id="rId4" Type="http://schemas.openxmlformats.org/officeDocument/2006/relationships/hyperlink" Target="#PROGRESS_BAR_ID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hyperlink" Target="#PROGRESS_BAR_ID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hyperlink" Target="#PROGRESS_BAR_ID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#PROGRESS_BAR_ID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#PROGRESS_BAR_ID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hyperlink" Target="#PROGRESS_BAR_ID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hyperlink" Target="#PROGRESS_BAR_ID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hyperlink" Target="#PROGRESS_BAR_ID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eveloper.mozilla.org/en-US/docs/Learn/CSS/CSS_layout/Flexbox_skills" TargetMode="External"/><Relationship Id="rId4" Type="http://schemas.openxmlformats.org/officeDocument/2006/relationships/hyperlink" Target="https://developer.mozilla.org/en-US/docs/Web/CSS/CSS_Flexible_Box_Layout/Basic_Concepts_of_Flexbox" TargetMode="External"/><Relationship Id="rId5" Type="http://schemas.openxmlformats.org/officeDocument/2006/relationships/hyperlink" Target="https://www.smashingmagazine.com/2018/08/flexbox-display-flex-container/" TargetMode="External"/><Relationship Id="rId6" Type="http://schemas.openxmlformats.org/officeDocument/2006/relationships/hyperlink" Target="https://css-tricks.com/snippets/css/a-guide-to-flexbox/" TargetMode="External"/><Relationship Id="rId7" Type="http://schemas.openxmlformats.org/officeDocument/2006/relationships/image" Target="../media/image1.png"/><Relationship Id="rId8" Type="http://schemas.openxmlformats.org/officeDocument/2006/relationships/hyperlink" Target="#PROGRESS_BAR_ID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developer.mozilla.org/en-US/docs/Web/HTML/Element" TargetMode="External"/><Relationship Id="rId4" Type="http://schemas.openxmlformats.org/officeDocument/2006/relationships/hyperlink" Target="https://www.w3schools.com/cssref/css_selectors.asp" TargetMode="External"/><Relationship Id="rId9" Type="http://schemas.openxmlformats.org/officeDocument/2006/relationships/hyperlink" Target="#PROGRESS_BAR_ID" TargetMode="External"/><Relationship Id="rId5" Type="http://schemas.openxmlformats.org/officeDocument/2006/relationships/hyperlink" Target="https://www.w3schools.com/cssref/trysel.asp" TargetMode="External"/><Relationship Id="rId6" Type="http://schemas.openxmlformats.org/officeDocument/2006/relationships/hyperlink" Target="https://www.freecodecamp.org/" TargetMode="External"/><Relationship Id="rId7" Type="http://schemas.openxmlformats.org/officeDocument/2006/relationships/hyperlink" Target="https://www.google.it/" TargetMode="External"/><Relationship Id="rId8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#PROGRESS_BAR_I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</a:rPr>
              <a:t>CVeDI (8 CFU)</a:t>
            </a:r>
            <a:r>
              <a:rPr lang="en"/>
              <a:t> </a:t>
            </a:r>
            <a:endParaRPr/>
          </a:p>
        </p:txBody>
      </p:sp>
      <p:grpSp>
        <p:nvGrpSpPr>
          <p:cNvPr id="125" name="Google Shape;125;p24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126" name="Google Shape;126;p24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4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8" name="Google Shape;128;p24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4"/>
          <p:cNvSpPr txBox="1"/>
          <p:nvPr/>
        </p:nvSpPr>
        <p:spPr>
          <a:xfrm>
            <a:off x="682250" y="2416625"/>
            <a:ext cx="2870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ESERCITAZIONE 2</a:t>
            </a:r>
            <a:endParaRPr b="1" sz="12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459" y="209475"/>
            <a:ext cx="885366" cy="96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4"/>
          <p:cNvGrpSpPr/>
          <p:nvPr/>
        </p:nvGrpSpPr>
        <p:grpSpPr>
          <a:xfrm>
            <a:off x="7075525" y="209475"/>
            <a:ext cx="935100" cy="965400"/>
            <a:chOff x="2211650" y="411500"/>
            <a:chExt cx="935100" cy="965400"/>
          </a:xfrm>
        </p:grpSpPr>
        <p:sp>
          <p:nvSpPr>
            <p:cNvPr id="132" name="Google Shape;132;p24"/>
            <p:cNvSpPr/>
            <p:nvPr/>
          </p:nvSpPr>
          <p:spPr>
            <a:xfrm>
              <a:off x="2211650" y="411500"/>
              <a:ext cx="935100" cy="96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" name="Google Shape;133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41325" y="456337"/>
              <a:ext cx="875725" cy="87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4"/>
          <p:cNvSpPr txBox="1"/>
          <p:nvPr/>
        </p:nvSpPr>
        <p:spPr>
          <a:xfrm>
            <a:off x="5802725" y="3214950"/>
            <a:ext cx="2948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 Guarnieri</a:t>
            </a:r>
            <a:endParaRPr b="1" sz="13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elia.guarnieri@unimib.it</a:t>
            </a:r>
            <a:endParaRPr b="1" i="1" sz="11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RIPASSO </a:t>
            </a:r>
            <a:r>
              <a:rPr lang="en"/>
              <a:t>HTML E CSS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Sintassi abbreviata e priorità dei CSS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Box Model e flusso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Flexbox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5">
            <a:hlinkClick r:id="rId3"/>
          </p:cNvPr>
          <p:cNvSpPr/>
          <p:nvPr/>
        </p:nvSpPr>
        <p:spPr>
          <a:xfrm>
            <a:off x="0" y="5092700"/>
            <a:ext cx="198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648300" y="1354750"/>
            <a:ext cx="39015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SINTASSI ABBREVIATA E PRIORITÀ DEI CSS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49" name="Google Shape;149;p26">
            <a:hlinkClick r:id="rId3"/>
          </p:cNvPr>
          <p:cNvSpPr/>
          <p:nvPr/>
        </p:nvSpPr>
        <p:spPr>
          <a:xfrm>
            <a:off x="0" y="5092700"/>
            <a:ext cx="397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Proprietà e sintassi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(estesa e abbreviata) - 1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838250" y="1504950"/>
            <a:ext cx="5324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/>
              <a:t>Nelle definizione delle regole è possibile fare uso di </a:t>
            </a:r>
            <a:r>
              <a:rPr b="1" lang="en" sz="1500"/>
              <a:t>proprietà singole</a:t>
            </a:r>
            <a:r>
              <a:rPr lang="en" sz="1500"/>
              <a:t> e </a:t>
            </a:r>
            <a:r>
              <a:rPr b="1" lang="en" sz="1500"/>
              <a:t>proprietà a sintassi abbreviata</a:t>
            </a:r>
            <a:endParaRPr b="1" sz="1500"/>
          </a:p>
        </p:txBody>
      </p:sp>
      <p:sp>
        <p:nvSpPr>
          <p:cNvPr id="157" name="Google Shape;157;p27"/>
          <p:cNvSpPr txBox="1"/>
          <p:nvPr/>
        </p:nvSpPr>
        <p:spPr>
          <a:xfrm>
            <a:off x="940725" y="2151450"/>
            <a:ext cx="5324100" cy="2320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margin-top: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margin-right: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5px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margin-bottom: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margin-left: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5px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99999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top | right | bottom | left */</a:t>
            </a:r>
            <a:endParaRPr sz="1050">
              <a:solidFill>
                <a:srgbClr val="99999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margin: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5px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5px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27">
            <a:hlinkClick r:id="rId3"/>
          </p:cNvPr>
          <p:cNvSpPr/>
          <p:nvPr/>
        </p:nvSpPr>
        <p:spPr>
          <a:xfrm>
            <a:off x="0" y="5092700"/>
            <a:ext cx="596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Proprietà e sintassi 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(estesa e abbreviata) - 2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838250" y="1504950"/>
            <a:ext cx="5324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Sono molte le proprietà che supportano la sintassi abbreviata:</a:t>
            </a:r>
            <a:endParaRPr sz="1500"/>
          </a:p>
        </p:txBody>
      </p:sp>
      <p:sp>
        <p:nvSpPr>
          <p:cNvPr id="166" name="Google Shape;166;p28"/>
          <p:cNvSpPr txBox="1"/>
          <p:nvPr/>
        </p:nvSpPr>
        <p:spPr>
          <a:xfrm>
            <a:off x="940725" y="1905150"/>
            <a:ext cx="5324100" cy="2320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font-style: italic;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font-weight: bold;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font-size: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.8em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line-height: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1.2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font-family: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Arial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sans-serif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font: italic bold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.8em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1.2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Arial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sans-serif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28">
            <a:hlinkClick r:id="rId3"/>
          </p:cNvPr>
          <p:cNvSpPr/>
          <p:nvPr/>
        </p:nvSpPr>
        <p:spPr>
          <a:xfrm>
            <a:off x="0" y="5092700"/>
            <a:ext cx="993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Proprietà e sintassi 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(estesa e abbreviata) - 3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838250" y="1504950"/>
            <a:ext cx="5324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Sono molte le proprietà che supportano la sintassi abbreviata:</a:t>
            </a:r>
            <a:endParaRPr sz="1500"/>
          </a:p>
        </p:txBody>
      </p:sp>
      <p:sp>
        <p:nvSpPr>
          <p:cNvPr id="175" name="Google Shape;175;p29"/>
          <p:cNvSpPr txBox="1"/>
          <p:nvPr/>
        </p:nvSpPr>
        <p:spPr>
          <a:xfrm>
            <a:off x="940725" y="1905150"/>
            <a:ext cx="5324100" cy="1881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border-width: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border-style: solid;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border-color: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000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border: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solid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000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29">
            <a:hlinkClick r:id="rId3"/>
          </p:cNvPr>
          <p:cNvSpPr/>
          <p:nvPr/>
        </p:nvSpPr>
        <p:spPr>
          <a:xfrm>
            <a:off x="0" y="5092700"/>
            <a:ext cx="1192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Proprietà e sintassi 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(estesa e abbreviata) - 4</a:t>
            </a:r>
            <a:endParaRPr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838250" y="1504950"/>
            <a:ext cx="5324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Sono molte le proprietà che supportano la sintassi abbreviata:</a:t>
            </a:r>
            <a:endParaRPr sz="1500"/>
          </a:p>
        </p:txBody>
      </p:sp>
      <p:sp>
        <p:nvSpPr>
          <p:cNvPr id="184" name="Google Shape;184;p30"/>
          <p:cNvSpPr txBox="1"/>
          <p:nvPr/>
        </p:nvSpPr>
        <p:spPr>
          <a:xfrm>
            <a:off x="940725" y="1905150"/>
            <a:ext cx="5324100" cy="21009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background-color: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000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background-image: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url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(images/bg.gif);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background-repeat: no-repeat;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background-position: left top;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background: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000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url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(images/bg.gif) no-repeat left top;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5" name="Google Shape;185;p30">
            <a:hlinkClick r:id="rId3"/>
          </p:cNvPr>
          <p:cNvSpPr/>
          <p:nvPr/>
        </p:nvSpPr>
        <p:spPr>
          <a:xfrm>
            <a:off x="0" y="5092700"/>
            <a:ext cx="795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0"/>
          <p:cNvSpPr txBox="1"/>
          <p:nvPr/>
        </p:nvSpPr>
        <p:spPr>
          <a:xfrm>
            <a:off x="838350" y="4373875"/>
            <a:ext cx="542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hlink"/>
                </a:solidFill>
                <a:hlinkClick r:id="rId4"/>
              </a:rPr>
              <a:t>CSS Shorthand Syntax Considered an Anti-Pattern</a:t>
            </a:r>
            <a:endParaRPr sz="1100"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838350" y="4051325"/>
            <a:ext cx="5324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</a:rPr>
              <a:t>Attenzione!</a:t>
            </a:r>
            <a:endParaRPr b="1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Gerarchia della specificità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838250" y="1504950"/>
            <a:ext cx="5324100" cy="19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Per capire quali dichiarazioni applicare, il browser segue una logica di </a:t>
            </a:r>
            <a:r>
              <a:rPr b="1" lang="en" sz="1300"/>
              <a:t>specificità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Potete immaginare la specificità come un </a:t>
            </a:r>
            <a:r>
              <a:rPr b="1" lang="en" sz="1300"/>
              <a:t>punteggio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Il selettore universale * (0)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 nomi dei tag: p, div, .. (1)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Classi, pseudoclassi e selettori di attributo (10)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Id (100)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Stili inline (1000)</a:t>
            </a:r>
            <a:endParaRPr sz="1300"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31"/>
          <p:cNvSpPr txBox="1"/>
          <p:nvPr/>
        </p:nvSpPr>
        <p:spPr>
          <a:xfrm>
            <a:off x="930500" y="3685000"/>
            <a:ext cx="28107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ul</a:t>
            </a:r>
            <a:r>
              <a:rPr lang="en" sz="1050">
                <a:solidFill>
                  <a:srgbClr val="61AFE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#primary-nav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li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.active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 ... 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930500" y="4246850"/>
            <a:ext cx="28107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ul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.active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&gt;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.fake-class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 ... }</a:t>
            </a:r>
            <a:endParaRPr sz="1050">
              <a:solidFill>
                <a:srgbClr val="61AFE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31">
            <a:hlinkClick r:id="rId3"/>
          </p:cNvPr>
          <p:cNvSpPr/>
          <p:nvPr/>
        </p:nvSpPr>
        <p:spPr>
          <a:xfrm>
            <a:off x="0" y="5092700"/>
            <a:ext cx="1391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Gerarchia della specificità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838250" y="1504950"/>
            <a:ext cx="5324100" cy="19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Per capire quali dichiarazioni applicare, il browser segue una logica di </a:t>
            </a:r>
            <a:r>
              <a:rPr b="1" lang="en" sz="1300"/>
              <a:t>specificità</a:t>
            </a:r>
            <a:r>
              <a:rPr lang="en" sz="1300"/>
              <a:t> 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Potete immaginare la specificità come un </a:t>
            </a:r>
            <a:r>
              <a:rPr b="1" lang="en" sz="1300"/>
              <a:t>punteggio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Il selettore universale * (0)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 nomi dei tag: p, div, .. (1)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Classi, pseudoclassi e selettori di attributo (10)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Id (100)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Stili inline (1000)</a:t>
            </a:r>
            <a:endParaRPr sz="1300"/>
          </a:p>
        </p:txBody>
      </p:sp>
      <p:sp>
        <p:nvSpPr>
          <p:cNvPr id="204" name="Google Shape;204;p3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2"/>
          <p:cNvSpPr txBox="1"/>
          <p:nvPr/>
        </p:nvSpPr>
        <p:spPr>
          <a:xfrm>
            <a:off x="930500" y="3685000"/>
            <a:ext cx="28107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ul</a:t>
            </a:r>
            <a:r>
              <a:rPr lang="en" sz="1050">
                <a:solidFill>
                  <a:srgbClr val="61AFE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#primary-nav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li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.active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 ... 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206" name="Google Shape;206;p32"/>
          <p:cNvCxnSpPr/>
          <p:nvPr/>
        </p:nvCxnSpPr>
        <p:spPr>
          <a:xfrm>
            <a:off x="3893938" y="3858100"/>
            <a:ext cx="882000" cy="0"/>
          </a:xfrm>
          <a:prstGeom prst="straightConnector1">
            <a:avLst/>
          </a:prstGeom>
          <a:noFill/>
          <a:ln cap="flat" cmpd="sng" w="9525">
            <a:solidFill>
              <a:srgbClr val="ABB2B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32"/>
          <p:cNvSpPr txBox="1"/>
          <p:nvPr/>
        </p:nvSpPr>
        <p:spPr>
          <a:xfrm>
            <a:off x="4896700" y="3665650"/>
            <a:ext cx="163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1 + 100 + 1 + 10 = </a:t>
            </a:r>
            <a:r>
              <a:rPr b="1" lang="en" sz="13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112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930500" y="4246850"/>
            <a:ext cx="28107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ul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.active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&gt;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.fake-class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 ... }</a:t>
            </a:r>
            <a:endParaRPr sz="1050">
              <a:solidFill>
                <a:srgbClr val="61AFE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32"/>
          <p:cNvSpPr txBox="1"/>
          <p:nvPr/>
        </p:nvSpPr>
        <p:spPr>
          <a:xfrm>
            <a:off x="4896700" y="4227500"/>
            <a:ext cx="163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1 + 10 + 1 + 10 = </a:t>
            </a:r>
            <a:r>
              <a:rPr b="1" lang="en" sz="13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22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210" name="Google Shape;210;p32"/>
          <p:cNvCxnSpPr/>
          <p:nvPr/>
        </p:nvCxnSpPr>
        <p:spPr>
          <a:xfrm>
            <a:off x="3893938" y="4419950"/>
            <a:ext cx="882000" cy="0"/>
          </a:xfrm>
          <a:prstGeom prst="straightConnector1">
            <a:avLst/>
          </a:prstGeom>
          <a:noFill/>
          <a:ln cap="flat" cmpd="sng" w="9525">
            <a:solidFill>
              <a:srgbClr val="ABB2B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32">
            <a:hlinkClick r:id="rId3"/>
          </p:cNvPr>
          <p:cNvSpPr/>
          <p:nvPr/>
        </p:nvSpPr>
        <p:spPr>
          <a:xfrm>
            <a:off x="0" y="5092700"/>
            <a:ext cx="1590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838250" y="1504950"/>
            <a:ext cx="53241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È importante cercare di mantenere la specificità il più bassa possibile evitando, quindi, selettori troppo complessi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Anche per evitare conflitti, dovete cercare di creare il minor numero possibile di classi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Le classi sono fatte apposta per essere assegnate a un gran numero di elementi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Cercate sempre di valutare quale è il modo migliore per evitare di scrivere classi ridondanti</a:t>
            </a:r>
            <a:endParaRPr b="1" sz="1500"/>
          </a:p>
        </p:txBody>
      </p:sp>
      <p:sp>
        <p:nvSpPr>
          <p:cNvPr id="218" name="Google Shape;218;p3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3">
            <a:hlinkClick r:id="rId3"/>
          </p:cNvPr>
          <p:cNvSpPr/>
          <p:nvPr/>
        </p:nvSpPr>
        <p:spPr>
          <a:xfrm>
            <a:off x="0" y="5092700"/>
            <a:ext cx="1788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4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1</a:t>
            </a:r>
            <a:endParaRPr/>
          </a:p>
        </p:txBody>
      </p:sp>
      <p:sp>
        <p:nvSpPr>
          <p:cNvPr id="226" name="Google Shape;226;p34"/>
          <p:cNvSpPr txBox="1"/>
          <p:nvPr>
            <p:ph idx="4294967295" type="body"/>
          </p:nvPr>
        </p:nvSpPr>
        <p:spPr>
          <a:xfrm>
            <a:off x="838250" y="1504950"/>
            <a:ext cx="5842800" cy="25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Nel codice presente a questo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 sz="1500"/>
              <a:t>:</a:t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Sovrascrivete il valore di una proprietà di una classe CSS a vostra scelta sfruttando una dichiarazione più specifica (id o inline)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Utilizzate l’inspector di Chrome per controllare quale regola ha la priorità (tasto destro → esamina)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Assegnate un nuovo stile inline che vada a sovrascrivere un’altra dichiarazione a vostra scelta. Conferite priorità alla prima dichiarazione utilizzando </a:t>
            </a:r>
            <a:r>
              <a:rPr lang="en" sz="1500">
                <a:latin typeface="Fira Code"/>
                <a:ea typeface="Fira Code"/>
                <a:cs typeface="Fira Code"/>
                <a:sym typeface="Fira Code"/>
              </a:rPr>
              <a:t>!important</a:t>
            </a:r>
            <a:r>
              <a:rPr lang="en" sz="1500"/>
              <a:t>,  e osservate il risultato</a:t>
            </a:r>
            <a:endParaRPr sz="1500"/>
          </a:p>
        </p:txBody>
      </p:sp>
      <p:grpSp>
        <p:nvGrpSpPr>
          <p:cNvPr id="227" name="Google Shape;227;p34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228" name="Google Shape;228;p34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4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4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4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4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4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34">
            <a:hlinkClick r:id="rId4"/>
          </p:cNvPr>
          <p:cNvSpPr/>
          <p:nvPr/>
        </p:nvSpPr>
        <p:spPr>
          <a:xfrm>
            <a:off x="0" y="5092700"/>
            <a:ext cx="1987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MODEL E FLUSSO</a:t>
            </a:r>
            <a:endParaRPr/>
          </a:p>
        </p:txBody>
      </p:sp>
      <p:sp>
        <p:nvSpPr>
          <p:cNvPr id="240" name="Google Shape;240;p3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41" name="Google Shape;241;p35">
            <a:hlinkClick r:id="rId3"/>
          </p:cNvPr>
          <p:cNvSpPr/>
          <p:nvPr/>
        </p:nvSpPr>
        <p:spPr>
          <a:xfrm>
            <a:off x="0" y="5092700"/>
            <a:ext cx="2186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838309" y="314850"/>
            <a:ext cx="31482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disposizione degli elementi nell’HTML</a:t>
            </a:r>
            <a:endParaRPr/>
          </a:p>
        </p:txBody>
      </p:sp>
      <p:sp>
        <p:nvSpPr>
          <p:cNvPr id="247" name="Google Shape;247;p3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838300" y="1630225"/>
            <a:ext cx="3148200" cy="27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143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300"/>
              <a:t>Una pagina HTML non  è altro che un insieme  di elementi (tag) che  si comportano come  blocchi rettangolari che si dispongono uno  sotto l’altro</a:t>
            </a:r>
            <a:endParaRPr sz="1300"/>
          </a:p>
          <a:p>
            <a:pPr indent="0" lvl="0" marL="12700" marR="1143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300"/>
          </a:p>
          <a:p>
            <a:pPr indent="0" lvl="0" marL="12700" marR="1143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300"/>
              <a:t>Il flusso  dell’informazione</a:t>
            </a:r>
            <a:endParaRPr sz="1300"/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300"/>
              <a:t>è sempre verticale  dall’alto verso il basso</a:t>
            </a:r>
            <a:endParaRPr sz="1300"/>
          </a:p>
          <a:p>
            <a:pPr indent="0" lvl="0" marL="12700" marR="254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00"/>
              <a:t>Gli elementi contenuti in altri elementi si  disporranno all’interno  del contenitore sempre uno sotto l’altro</a:t>
            </a:r>
            <a:endParaRPr sz="1300"/>
          </a:p>
        </p:txBody>
      </p:sp>
      <p:grpSp>
        <p:nvGrpSpPr>
          <p:cNvPr id="249" name="Google Shape;249;p36"/>
          <p:cNvGrpSpPr/>
          <p:nvPr/>
        </p:nvGrpSpPr>
        <p:grpSpPr>
          <a:xfrm>
            <a:off x="5861825" y="615500"/>
            <a:ext cx="2769300" cy="3912500"/>
            <a:chOff x="5861825" y="314850"/>
            <a:chExt cx="2769300" cy="3912500"/>
          </a:xfrm>
        </p:grpSpPr>
        <p:sp>
          <p:nvSpPr>
            <p:cNvPr id="250" name="Google Shape;250;p36"/>
            <p:cNvSpPr txBox="1"/>
            <p:nvPr/>
          </p:nvSpPr>
          <p:spPr>
            <a:xfrm>
              <a:off x="5861825" y="314850"/>
              <a:ext cx="2769300" cy="21111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n" sz="1050">
                  <a:solidFill>
                    <a:srgbClr val="D19A66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id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lang="en" sz="1050">
                  <a:solidFill>
                    <a:srgbClr val="98C379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"header"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51" name="Google Shape;251;p36"/>
            <p:cNvSpPr txBox="1"/>
            <p:nvPr/>
          </p:nvSpPr>
          <p:spPr>
            <a:xfrm>
              <a:off x="5962375" y="661050"/>
              <a:ext cx="25809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h1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52" name="Google Shape;252;p36"/>
            <p:cNvSpPr txBox="1"/>
            <p:nvPr/>
          </p:nvSpPr>
          <p:spPr>
            <a:xfrm>
              <a:off x="5962375" y="1099350"/>
              <a:ext cx="2580900" cy="12294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ul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53" name="Google Shape;253;p36"/>
            <p:cNvSpPr txBox="1"/>
            <p:nvPr/>
          </p:nvSpPr>
          <p:spPr>
            <a:xfrm>
              <a:off x="6056575" y="1445550"/>
              <a:ext cx="23925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li 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a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54" name="Google Shape;254;p36"/>
            <p:cNvSpPr txBox="1"/>
            <p:nvPr/>
          </p:nvSpPr>
          <p:spPr>
            <a:xfrm>
              <a:off x="6050225" y="1888350"/>
              <a:ext cx="23925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li 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a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55" name="Google Shape;255;p36"/>
            <p:cNvSpPr txBox="1"/>
            <p:nvPr/>
          </p:nvSpPr>
          <p:spPr>
            <a:xfrm>
              <a:off x="5861825" y="2532350"/>
              <a:ext cx="2769300" cy="16950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n" sz="1050">
                  <a:solidFill>
                    <a:srgbClr val="D19A66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id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lang="en" sz="1050">
                  <a:solidFill>
                    <a:srgbClr val="98C379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"main"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56" name="Google Shape;256;p36"/>
            <p:cNvSpPr txBox="1"/>
            <p:nvPr/>
          </p:nvSpPr>
          <p:spPr>
            <a:xfrm>
              <a:off x="5962375" y="2878550"/>
              <a:ext cx="25809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h2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57" name="Google Shape;257;p36"/>
            <p:cNvSpPr txBox="1"/>
            <p:nvPr/>
          </p:nvSpPr>
          <p:spPr>
            <a:xfrm>
              <a:off x="5962375" y="3316850"/>
              <a:ext cx="25809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p 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span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58" name="Google Shape;258;p36"/>
            <p:cNvSpPr txBox="1"/>
            <p:nvPr/>
          </p:nvSpPr>
          <p:spPr>
            <a:xfrm>
              <a:off x="5956025" y="3755150"/>
              <a:ext cx="25809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p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259" name="Google Shape;259;p36">
            <a:hlinkClick r:id="rId3"/>
          </p:cNvPr>
          <p:cNvSpPr/>
          <p:nvPr/>
        </p:nvSpPr>
        <p:spPr>
          <a:xfrm>
            <a:off x="0" y="5092700"/>
            <a:ext cx="2385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type="title"/>
          </p:nvPr>
        </p:nvSpPr>
        <p:spPr>
          <a:xfrm>
            <a:off x="838309" y="314850"/>
            <a:ext cx="31482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disposizione degli elementi nell’HTML</a:t>
            </a:r>
            <a:endParaRPr/>
          </a:p>
        </p:txBody>
      </p:sp>
      <p:sp>
        <p:nvSpPr>
          <p:cNvPr id="265" name="Google Shape;265;p3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66" name="Google Shape;266;p37"/>
          <p:cNvSpPr txBox="1"/>
          <p:nvPr>
            <p:ph idx="1" type="body"/>
          </p:nvPr>
        </p:nvSpPr>
        <p:spPr>
          <a:xfrm>
            <a:off x="838300" y="1630225"/>
            <a:ext cx="3148200" cy="22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Salvo </a:t>
            </a:r>
            <a:r>
              <a:rPr lang="en" sz="1300"/>
              <a:t>diversamente </a:t>
            </a:r>
            <a:r>
              <a:rPr lang="en" sz="1300"/>
              <a:t> specificato, ogni elemento  di tipo blocco (nel disegno i rettangoli) avrà: </a:t>
            </a:r>
            <a:endParaRPr sz="1300"/>
          </a:p>
          <a:p>
            <a:pPr indent="0" lvl="0" marL="12700" marR="25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width: 100% del  contenitore</a:t>
            </a:r>
            <a:br>
              <a:rPr lang="en" sz="1300"/>
            </a:br>
            <a:r>
              <a:rPr lang="en" sz="1300"/>
              <a:t>height: insieme dei  contenuti</a:t>
            </a:r>
            <a:endParaRPr sz="1300"/>
          </a:p>
          <a:p>
            <a:pPr indent="0" lvl="0" marL="12700" marR="25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Per gli elementi inline (nel disegno tra &lt; &gt; ) non si possono specificare  </a:t>
            </a:r>
            <a:r>
              <a:rPr lang="en" sz="1300"/>
              <a:t>width </a:t>
            </a:r>
            <a:r>
              <a:rPr lang="en" sz="1300"/>
              <a:t>e </a:t>
            </a:r>
            <a:r>
              <a:rPr lang="en" sz="1300"/>
              <a:t>height </a:t>
            </a:r>
            <a:r>
              <a:rPr lang="en" sz="1300"/>
              <a:t>e  occuperanno la dimensione  dell’elemento</a:t>
            </a:r>
            <a:endParaRPr sz="1300"/>
          </a:p>
        </p:txBody>
      </p:sp>
      <p:grpSp>
        <p:nvGrpSpPr>
          <p:cNvPr id="267" name="Google Shape;267;p37"/>
          <p:cNvGrpSpPr/>
          <p:nvPr/>
        </p:nvGrpSpPr>
        <p:grpSpPr>
          <a:xfrm>
            <a:off x="5861825" y="615500"/>
            <a:ext cx="2769300" cy="3912500"/>
            <a:chOff x="5861825" y="314850"/>
            <a:chExt cx="2769300" cy="3912500"/>
          </a:xfrm>
        </p:grpSpPr>
        <p:sp>
          <p:nvSpPr>
            <p:cNvPr id="268" name="Google Shape;268;p37"/>
            <p:cNvSpPr txBox="1"/>
            <p:nvPr/>
          </p:nvSpPr>
          <p:spPr>
            <a:xfrm>
              <a:off x="5861825" y="314850"/>
              <a:ext cx="2769300" cy="21111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n" sz="1050">
                  <a:solidFill>
                    <a:srgbClr val="D19A66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id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lang="en" sz="1050">
                  <a:solidFill>
                    <a:srgbClr val="98C379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"header"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69" name="Google Shape;269;p37"/>
            <p:cNvSpPr txBox="1"/>
            <p:nvPr/>
          </p:nvSpPr>
          <p:spPr>
            <a:xfrm>
              <a:off x="5962375" y="661050"/>
              <a:ext cx="25809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h1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70" name="Google Shape;270;p37"/>
            <p:cNvSpPr txBox="1"/>
            <p:nvPr/>
          </p:nvSpPr>
          <p:spPr>
            <a:xfrm>
              <a:off x="5962375" y="1099350"/>
              <a:ext cx="2580900" cy="12294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ul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71" name="Google Shape;271;p37"/>
            <p:cNvSpPr txBox="1"/>
            <p:nvPr/>
          </p:nvSpPr>
          <p:spPr>
            <a:xfrm>
              <a:off x="6056575" y="1445550"/>
              <a:ext cx="23925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li 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a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72" name="Google Shape;272;p37"/>
            <p:cNvSpPr txBox="1"/>
            <p:nvPr/>
          </p:nvSpPr>
          <p:spPr>
            <a:xfrm>
              <a:off x="6050225" y="1888350"/>
              <a:ext cx="23925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li 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a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73" name="Google Shape;273;p37"/>
            <p:cNvSpPr txBox="1"/>
            <p:nvPr/>
          </p:nvSpPr>
          <p:spPr>
            <a:xfrm>
              <a:off x="5861825" y="2532350"/>
              <a:ext cx="2769300" cy="16950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div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lang="en" sz="1050">
                  <a:solidFill>
                    <a:srgbClr val="D19A66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id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lang="en" sz="1050">
                  <a:solidFill>
                    <a:srgbClr val="98C379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"main"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74" name="Google Shape;274;p37"/>
            <p:cNvSpPr txBox="1"/>
            <p:nvPr/>
          </p:nvSpPr>
          <p:spPr>
            <a:xfrm>
              <a:off x="5962375" y="2878550"/>
              <a:ext cx="25809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h2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75" name="Google Shape;275;p37"/>
            <p:cNvSpPr txBox="1"/>
            <p:nvPr/>
          </p:nvSpPr>
          <p:spPr>
            <a:xfrm>
              <a:off x="5962375" y="3316850"/>
              <a:ext cx="25809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p 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span</a:t>
              </a:r>
              <a:r>
                <a:rPr lang="en" sz="1050">
                  <a:solidFill>
                    <a:srgbClr val="ABB2BF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76" name="Google Shape;276;p37"/>
            <p:cNvSpPr txBox="1"/>
            <p:nvPr/>
          </p:nvSpPr>
          <p:spPr>
            <a:xfrm>
              <a:off x="5956025" y="3755150"/>
              <a:ext cx="2580900" cy="3462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E06C75"/>
                  </a:solidFill>
                  <a:highlight>
                    <a:srgbClr val="333333"/>
                  </a:highlight>
                  <a:latin typeface="Fira Code"/>
                  <a:ea typeface="Fira Code"/>
                  <a:cs typeface="Fira Code"/>
                  <a:sym typeface="Fira Code"/>
                </a:rPr>
                <a:t>p</a:t>
              </a:r>
              <a:endParaRPr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277" name="Google Shape;277;p37">
            <a:hlinkClick r:id="rId3"/>
          </p:cNvPr>
          <p:cNvSpPr/>
          <p:nvPr/>
        </p:nvSpPr>
        <p:spPr>
          <a:xfrm>
            <a:off x="0" y="5092700"/>
            <a:ext cx="2584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/>
        </p:nvSpPr>
        <p:spPr>
          <a:xfrm>
            <a:off x="5642850" y="1088700"/>
            <a:ext cx="2740200" cy="2748300"/>
          </a:xfrm>
          <a:prstGeom prst="rect">
            <a:avLst/>
          </a:prstGeom>
          <a:solidFill>
            <a:srgbClr val="D19A66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MARGIN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5948182" y="1400911"/>
            <a:ext cx="2132700" cy="21390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BORDER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6251893" y="1706960"/>
            <a:ext cx="1522200" cy="1527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PADDING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5" name="Google Shape;285;p3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838300" y="1607850"/>
            <a:ext cx="3148200" cy="31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BOX MODEL</a:t>
            </a:r>
            <a:endParaRPr b="1"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Char char="▸"/>
            </a:pPr>
            <a:r>
              <a:rPr b="1" lang="en" sz="1300"/>
              <a:t>Width </a:t>
            </a:r>
            <a:r>
              <a:rPr lang="en" sz="1300"/>
              <a:t>o </a:t>
            </a:r>
            <a:r>
              <a:rPr b="1" lang="en" sz="1300"/>
              <a:t>height</a:t>
            </a:r>
            <a:r>
              <a:rPr lang="en" sz="1300"/>
              <a:t>: per specificare larghezza o altezza del contenuto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▸"/>
            </a:pPr>
            <a:r>
              <a:rPr b="1" lang="en" sz="1300"/>
              <a:t>Padding</a:t>
            </a:r>
            <a:r>
              <a:rPr lang="en" sz="1300"/>
              <a:t>: distanzia il contenuto dal suo border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▸"/>
            </a:pPr>
            <a:r>
              <a:rPr b="1" lang="en" sz="1300"/>
              <a:t>Border</a:t>
            </a:r>
            <a:r>
              <a:rPr lang="en" sz="1300"/>
              <a:t>: visualizza un bordo attorno al contenuto e lo formatta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▸"/>
            </a:pPr>
            <a:r>
              <a:rPr b="1" lang="en" sz="1300"/>
              <a:t>Margin</a:t>
            </a:r>
            <a:r>
              <a:rPr lang="en" sz="1300"/>
              <a:t>: distanzia gli elementi tra di loro e li “sposta” all’interno del flusso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L’ingombro effettivo dell’elemento nella pagina è dato dalla somma delle  dimensioni di queste proprietà</a:t>
            </a:r>
            <a:endParaRPr sz="1300"/>
          </a:p>
        </p:txBody>
      </p:sp>
      <p:sp>
        <p:nvSpPr>
          <p:cNvPr id="287" name="Google Shape;287;p38"/>
          <p:cNvSpPr txBox="1"/>
          <p:nvPr>
            <p:ph type="title"/>
          </p:nvPr>
        </p:nvSpPr>
        <p:spPr>
          <a:xfrm>
            <a:off x="838309" y="314850"/>
            <a:ext cx="31482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Cambiare la </a:t>
            </a:r>
            <a:br>
              <a:rPr lang="en"/>
            </a:br>
            <a:r>
              <a:rPr lang="en"/>
              <a:t>visualizzazione del flusso</a:t>
            </a:r>
            <a:endParaRPr/>
          </a:p>
        </p:txBody>
      </p:sp>
      <p:sp>
        <p:nvSpPr>
          <p:cNvPr id="288" name="Google Shape;288;p38"/>
          <p:cNvSpPr txBox="1"/>
          <p:nvPr/>
        </p:nvSpPr>
        <p:spPr>
          <a:xfrm>
            <a:off x="6557086" y="2005735"/>
            <a:ext cx="914700" cy="9144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CONTENT</a:t>
            </a:r>
            <a:endParaRPr sz="105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9" name="Google Shape;289;p38">
            <a:hlinkClick r:id="rId3"/>
          </p:cNvPr>
          <p:cNvSpPr/>
          <p:nvPr/>
        </p:nvSpPr>
        <p:spPr>
          <a:xfrm>
            <a:off x="0" y="5092700"/>
            <a:ext cx="2783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Box-sizing</a:t>
            </a:r>
            <a:endParaRPr/>
          </a:p>
        </p:txBody>
      </p:sp>
      <p:sp>
        <p:nvSpPr>
          <p:cNvPr id="295" name="Google Shape;295;p39"/>
          <p:cNvSpPr txBox="1"/>
          <p:nvPr>
            <p:ph idx="1" type="body"/>
          </p:nvPr>
        </p:nvSpPr>
        <p:spPr>
          <a:xfrm>
            <a:off x="838250" y="1504950"/>
            <a:ext cx="5324100" cy="26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Il </a:t>
            </a:r>
            <a:r>
              <a:rPr b="1" lang="en" sz="1500"/>
              <a:t>box-sizing</a:t>
            </a:r>
            <a:r>
              <a:rPr lang="en" sz="1500"/>
              <a:t> specifica come devono essere calcolati altezza e larghezza totali di un elemento 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Di default, nel box model, box-sizing è settato su </a:t>
            </a:r>
            <a:r>
              <a:rPr b="1" lang="en" sz="1500"/>
              <a:t>content-box</a:t>
            </a:r>
            <a:r>
              <a:rPr lang="en" sz="1500"/>
              <a:t>: quando si specifica un certo valore per altezza e larghezza,  questo viene applicato al solo contenuto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Se l’elemento ha bordo o padding, l’altezza totale sarà una somma di contenuto, bordo e padding</a:t>
            </a:r>
            <a:endParaRPr sz="1500"/>
          </a:p>
        </p:txBody>
      </p:sp>
      <p:sp>
        <p:nvSpPr>
          <p:cNvPr id="296" name="Google Shape;296;p3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39">
            <a:hlinkClick r:id="rId3"/>
          </p:cNvPr>
          <p:cNvSpPr/>
          <p:nvPr/>
        </p:nvSpPr>
        <p:spPr>
          <a:xfrm>
            <a:off x="0" y="5092700"/>
            <a:ext cx="2981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Box-sizing</a:t>
            </a:r>
            <a:endParaRPr/>
          </a:p>
        </p:txBody>
      </p:sp>
      <p:sp>
        <p:nvSpPr>
          <p:cNvPr id="303" name="Google Shape;303;p40"/>
          <p:cNvSpPr txBox="1"/>
          <p:nvPr>
            <p:ph idx="1" type="body"/>
          </p:nvPr>
        </p:nvSpPr>
        <p:spPr>
          <a:xfrm>
            <a:off x="838250" y="1504950"/>
            <a:ext cx="5324100" cy="19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border-box</a:t>
            </a:r>
            <a:r>
              <a:rPr lang="en" sz="1500"/>
              <a:t> comunica al browser di includere invece border e padding nel valore specificato: il contenuto si restringerà di conseguenza. Di solito, questo rende più facile controllare la disposizione degli elementi nel flusso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Un esempio: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https://codepen.io/apierotti1/pen/MWvWNOg?editors=1100</a:t>
            </a:r>
            <a:endParaRPr sz="1500"/>
          </a:p>
        </p:txBody>
      </p:sp>
      <p:sp>
        <p:nvSpPr>
          <p:cNvPr id="304" name="Google Shape;304;p4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0">
            <a:hlinkClick r:id="rId4"/>
          </p:cNvPr>
          <p:cNvSpPr/>
          <p:nvPr/>
        </p:nvSpPr>
        <p:spPr>
          <a:xfrm>
            <a:off x="0" y="5092700"/>
            <a:ext cx="3180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311" name="Google Shape;311;p41"/>
          <p:cNvPicPr preferRelativeResize="0"/>
          <p:nvPr/>
        </p:nvPicPr>
        <p:blipFill rotWithShape="1">
          <a:blip r:embed="rId3">
            <a:alphaModFix/>
          </a:blip>
          <a:srcRect b="2991" l="0" r="0" t="6363"/>
          <a:stretch/>
        </p:blipFill>
        <p:spPr>
          <a:xfrm>
            <a:off x="2233075" y="460600"/>
            <a:ext cx="4677875" cy="43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 txBox="1"/>
          <p:nvPr/>
        </p:nvSpPr>
        <p:spPr>
          <a:xfrm>
            <a:off x="247075" y="4683050"/>
            <a:ext cx="2043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Karla"/>
                <a:ea typeface="Karla"/>
                <a:cs typeface="Karla"/>
                <a:sym typeface="Karla"/>
              </a:rPr>
              <a:t>crediti: </a:t>
            </a:r>
            <a:r>
              <a:rPr lang="en" sz="900" u="sng">
                <a:solidFill>
                  <a:srgbClr val="2196F3"/>
                </a:solid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https://www.webriderz.com/</a:t>
            </a:r>
            <a:endParaRPr sz="9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13" name="Google Shape;313;p41">
            <a:hlinkClick r:id="rId5"/>
          </p:cNvPr>
          <p:cNvSpPr/>
          <p:nvPr/>
        </p:nvSpPr>
        <p:spPr>
          <a:xfrm>
            <a:off x="0" y="5092700"/>
            <a:ext cx="3379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/>
          <p:nvPr>
            <p:ph type="title"/>
          </p:nvPr>
        </p:nvSpPr>
        <p:spPr>
          <a:xfrm>
            <a:off x="838309" y="314850"/>
            <a:ext cx="31482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Cambiare la </a:t>
            </a:r>
            <a:br>
              <a:rPr lang="en"/>
            </a:br>
            <a:r>
              <a:rPr lang="en"/>
              <a:t>visualizzazione del flusso</a:t>
            </a:r>
            <a:endParaRPr/>
          </a:p>
        </p:txBody>
      </p:sp>
      <p:sp>
        <p:nvSpPr>
          <p:cNvPr id="319" name="Google Shape;319;p4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20" name="Google Shape;320;p42"/>
          <p:cNvSpPr txBox="1"/>
          <p:nvPr>
            <p:ph idx="1" type="body"/>
          </p:nvPr>
        </p:nvSpPr>
        <p:spPr>
          <a:xfrm>
            <a:off x="838300" y="1630225"/>
            <a:ext cx="3148200" cy="24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DISPLAY</a:t>
            </a:r>
            <a:endParaRPr b="1" sz="1300"/>
          </a:p>
          <a:p>
            <a:pPr indent="-311150" lvl="0" marL="457200" marR="25400" rtl="0" algn="l">
              <a:spcBef>
                <a:spcPts val="1000"/>
              </a:spcBef>
              <a:spcAft>
                <a:spcPts val="0"/>
              </a:spcAft>
              <a:buSzPts val="1300"/>
              <a:buChar char="▸"/>
            </a:pPr>
            <a:r>
              <a:rPr b="1" lang="en" sz="1300"/>
              <a:t>display: none</a:t>
            </a:r>
            <a:br>
              <a:rPr lang="en" sz="1300"/>
            </a:br>
            <a:r>
              <a:rPr lang="en" sz="1300"/>
              <a:t>Nasconde gli elementi e li rimuove dal flusso</a:t>
            </a:r>
            <a:endParaRPr sz="1300"/>
          </a:p>
          <a:p>
            <a:pPr indent="-311150" lvl="0" marL="457200" marR="25400" rtl="0" algn="l">
              <a:spcBef>
                <a:spcPts val="1000"/>
              </a:spcBef>
              <a:spcAft>
                <a:spcPts val="0"/>
              </a:spcAft>
              <a:buSzPts val="1300"/>
              <a:buChar char="▸"/>
            </a:pPr>
            <a:r>
              <a:rPr b="1" lang="en" sz="1300"/>
              <a:t>display: inline | block | inline-block</a:t>
            </a:r>
            <a:br>
              <a:rPr b="1" lang="en" sz="1300"/>
            </a:br>
            <a:r>
              <a:rPr lang="en" sz="1300"/>
              <a:t>Cambia il tipo di comportamento del blocco rispetto al suo normale comportamento</a:t>
            </a:r>
            <a:endParaRPr sz="1300"/>
          </a:p>
        </p:txBody>
      </p:sp>
      <p:sp>
        <p:nvSpPr>
          <p:cNvPr id="321" name="Google Shape;321;p42"/>
          <p:cNvSpPr txBox="1"/>
          <p:nvPr/>
        </p:nvSpPr>
        <p:spPr>
          <a:xfrm>
            <a:off x="5036025" y="1383300"/>
            <a:ext cx="3912300" cy="23769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id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"main"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2" name="Google Shape;322;p42"/>
          <p:cNvSpPr txBox="1"/>
          <p:nvPr/>
        </p:nvSpPr>
        <p:spPr>
          <a:xfrm>
            <a:off x="5178081" y="1729500"/>
            <a:ext cx="3646200" cy="346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h2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3" name="Google Shape;323;p42"/>
          <p:cNvSpPr txBox="1"/>
          <p:nvPr/>
        </p:nvSpPr>
        <p:spPr>
          <a:xfrm>
            <a:off x="5178081" y="2167800"/>
            <a:ext cx="3646200" cy="346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span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4" name="Google Shape;324;p42"/>
          <p:cNvSpPr txBox="1"/>
          <p:nvPr/>
        </p:nvSpPr>
        <p:spPr>
          <a:xfrm>
            <a:off x="5169110" y="2606100"/>
            <a:ext cx="1766400" cy="1041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"inline"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5" name="Google Shape;325;p42"/>
          <p:cNvSpPr txBox="1"/>
          <p:nvPr/>
        </p:nvSpPr>
        <p:spPr>
          <a:xfrm>
            <a:off x="7094138" y="2606100"/>
            <a:ext cx="1730400" cy="1041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"inline"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6" name="Google Shape;326;p42"/>
          <p:cNvSpPr txBox="1"/>
          <p:nvPr/>
        </p:nvSpPr>
        <p:spPr>
          <a:xfrm>
            <a:off x="5948325" y="42529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Esempio interattivo</a:t>
            </a:r>
            <a:endParaRPr/>
          </a:p>
        </p:txBody>
      </p:sp>
      <p:sp>
        <p:nvSpPr>
          <p:cNvPr id="327" name="Google Shape;327;p42">
            <a:hlinkClick r:id="rId4"/>
          </p:cNvPr>
          <p:cNvSpPr/>
          <p:nvPr/>
        </p:nvSpPr>
        <p:spPr>
          <a:xfrm>
            <a:off x="0" y="5092700"/>
            <a:ext cx="3578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33" name="Google Shape;333;p43"/>
          <p:cNvSpPr txBox="1"/>
          <p:nvPr/>
        </p:nvSpPr>
        <p:spPr>
          <a:xfrm>
            <a:off x="1375675" y="893500"/>
            <a:ext cx="6185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Inline </a:t>
            </a:r>
            <a:r>
              <a:rPr b="1" lang="en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vs inline-block vs </a:t>
            </a:r>
            <a:r>
              <a:rPr b="1" lang="en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block</a:t>
            </a:r>
            <a:endParaRPr b="1" sz="24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34" name="Google Shape;334;p43"/>
          <p:cNvGraphicFramePr/>
          <p:nvPr/>
        </p:nvGraphicFramePr>
        <p:xfrm>
          <a:off x="1480625" y="137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{36146B62-E92E-473F-AD3A-78E31CE7374C}</a:tableStyleId>
              </a:tblPr>
              <a:tblGrid>
                <a:gridCol w="2031150"/>
                <a:gridCol w="1112700"/>
                <a:gridCol w="1571925"/>
                <a:gridCol w="1571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Comportamento</a:t>
                      </a:r>
                      <a:endParaRPr b="1" sz="90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inline</a:t>
                      </a:r>
                      <a:endParaRPr b="1" sz="90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inline-block</a:t>
                      </a:r>
                      <a:endParaRPr b="1" sz="90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block</a:t>
                      </a:r>
                      <a:endParaRPr b="1" sz="900">
                        <a:solidFill>
                          <a:srgbClr val="FFFFF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800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Karla"/>
                          <a:ea typeface="Karla"/>
                          <a:cs typeface="Karla"/>
                          <a:sym typeface="Karla"/>
                        </a:rPr>
                        <a:t>Rispetta padding e margin left/right</a:t>
                      </a:r>
                      <a:endParaRPr sz="9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Karla"/>
                          <a:ea typeface="Karla"/>
                          <a:cs typeface="Karla"/>
                          <a:sym typeface="Karla"/>
                        </a:rPr>
                        <a:t>Rispetta padding top/bottom</a:t>
                      </a:r>
                      <a:endParaRPr sz="9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Karla"/>
                          <a:ea typeface="Karla"/>
                          <a:cs typeface="Karla"/>
                          <a:sym typeface="Karla"/>
                        </a:rPr>
                        <a:t>Rispetta margin top/bottom</a:t>
                      </a:r>
                      <a:endParaRPr sz="9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E91E63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</a:t>
                      </a:r>
                      <a:endParaRPr b="1" sz="1000">
                        <a:solidFill>
                          <a:srgbClr val="E91E63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Karla"/>
                          <a:ea typeface="Karla"/>
                          <a:cs typeface="Karla"/>
                          <a:sym typeface="Karla"/>
                        </a:rPr>
                        <a:t>Prende di default la larghezza del proprio contenitore (non del proprio contenuto)</a:t>
                      </a:r>
                      <a:endParaRPr sz="9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E91E63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</a:t>
                      </a:r>
                      <a:endParaRPr b="1" sz="1000">
                        <a:solidFill>
                          <a:srgbClr val="E91E63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E91E63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</a:t>
                      </a:r>
                      <a:endParaRPr b="1" sz="1000">
                        <a:solidFill>
                          <a:srgbClr val="E91E63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Karla"/>
                          <a:ea typeface="Karla"/>
                          <a:cs typeface="Karla"/>
                          <a:sym typeface="Karla"/>
                        </a:rPr>
                        <a:t>Obbliga a cambiare riga (non permette ad altri elementi di stare accanto)</a:t>
                      </a:r>
                      <a:endParaRPr sz="9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E91E63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</a:t>
                      </a:r>
                      <a:endParaRPr b="1" sz="1000">
                        <a:solidFill>
                          <a:srgbClr val="E91E63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E91E63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</a:t>
                      </a:r>
                      <a:endParaRPr b="1" sz="1000">
                        <a:solidFill>
                          <a:srgbClr val="E91E63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Karla"/>
                          <a:ea typeface="Karla"/>
                          <a:cs typeface="Karla"/>
                          <a:sym typeface="Karla"/>
                        </a:rPr>
                        <a:t>Rispetta altezza e larghezza quando specificate</a:t>
                      </a:r>
                      <a:endParaRPr sz="9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E91E63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NO</a:t>
                      </a:r>
                      <a:endParaRPr b="1" sz="1000">
                        <a:solidFill>
                          <a:srgbClr val="E91E63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8BC34A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SI</a:t>
                      </a:r>
                      <a:endParaRPr b="1" sz="1000">
                        <a:solidFill>
                          <a:srgbClr val="8BC34A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p43">
            <a:hlinkClick r:id="rId3"/>
          </p:cNvPr>
          <p:cNvSpPr/>
          <p:nvPr/>
        </p:nvSpPr>
        <p:spPr>
          <a:xfrm>
            <a:off x="0" y="5092700"/>
            <a:ext cx="3777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/>
          <p:nvPr>
            <p:ph type="title"/>
          </p:nvPr>
        </p:nvSpPr>
        <p:spPr>
          <a:xfrm>
            <a:off x="838309" y="314850"/>
            <a:ext cx="3148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Cambiare il flusso</a:t>
            </a:r>
            <a:endParaRPr/>
          </a:p>
        </p:txBody>
      </p:sp>
      <p:sp>
        <p:nvSpPr>
          <p:cNvPr id="341" name="Google Shape;341;p4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42" name="Google Shape;342;p44"/>
          <p:cNvSpPr txBox="1"/>
          <p:nvPr>
            <p:ph idx="1" type="body"/>
          </p:nvPr>
        </p:nvSpPr>
        <p:spPr>
          <a:xfrm>
            <a:off x="838300" y="868950"/>
            <a:ext cx="31482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FLOATING</a:t>
            </a:r>
            <a:endParaRPr b="1" sz="1300"/>
          </a:p>
          <a:p>
            <a:pPr indent="0" lvl="0" marL="0" marR="25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float: left | right</a:t>
            </a:r>
            <a:r>
              <a:rPr lang="en" sz="1300"/>
              <a:t> - Sposta un elemento a sinistra o  destra (1) e lascia scorrere i contenuti successivi attorno</a:t>
            </a:r>
            <a:endParaRPr sz="1300"/>
          </a:p>
          <a:p>
            <a:pPr indent="0" lvl="0" marL="0" marR="25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300"/>
              <a:t>N.B.</a:t>
            </a:r>
            <a:r>
              <a:rPr lang="en" sz="1300"/>
              <a:t> La sua larghezza diventerà la larghezza del suo contenuto  (1), a meno che non sia specificata (2-3)</a:t>
            </a:r>
            <a:endParaRPr sz="1300"/>
          </a:p>
        </p:txBody>
      </p:sp>
      <p:sp>
        <p:nvSpPr>
          <p:cNvPr id="343" name="Google Shape;343;p44"/>
          <p:cNvSpPr txBox="1"/>
          <p:nvPr/>
        </p:nvSpPr>
        <p:spPr>
          <a:xfrm>
            <a:off x="5400621" y="543950"/>
            <a:ext cx="3547800" cy="1042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44"/>
          <p:cNvSpPr txBox="1"/>
          <p:nvPr/>
        </p:nvSpPr>
        <p:spPr>
          <a:xfrm>
            <a:off x="5529433" y="890150"/>
            <a:ext cx="3306300" cy="5838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44"/>
          <p:cNvSpPr txBox="1"/>
          <p:nvPr/>
        </p:nvSpPr>
        <p:spPr>
          <a:xfrm>
            <a:off x="5529425" y="936225"/>
            <a:ext cx="1313100" cy="346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float: left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44"/>
          <p:cNvSpPr txBox="1"/>
          <p:nvPr/>
        </p:nvSpPr>
        <p:spPr>
          <a:xfrm>
            <a:off x="5112800" y="391800"/>
            <a:ext cx="2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Karla"/>
                <a:ea typeface="Karla"/>
                <a:cs typeface="Karla"/>
                <a:sym typeface="Karla"/>
              </a:rPr>
              <a:t>1</a:t>
            </a:r>
            <a:endParaRPr>
              <a:solidFill>
                <a:schemeClr val="accent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7" name="Google Shape;347;p44"/>
          <p:cNvSpPr txBox="1"/>
          <p:nvPr/>
        </p:nvSpPr>
        <p:spPr>
          <a:xfrm>
            <a:off x="5400621" y="1738600"/>
            <a:ext cx="3547800" cy="11889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44"/>
          <p:cNvSpPr txBox="1"/>
          <p:nvPr/>
        </p:nvSpPr>
        <p:spPr>
          <a:xfrm>
            <a:off x="5529433" y="2077875"/>
            <a:ext cx="3306300" cy="7269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44"/>
          <p:cNvSpPr txBox="1"/>
          <p:nvPr/>
        </p:nvSpPr>
        <p:spPr>
          <a:xfrm>
            <a:off x="5529433" y="2130850"/>
            <a:ext cx="3306300" cy="346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float: left; width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100%;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5112800" y="1586450"/>
            <a:ext cx="2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Karla"/>
                <a:ea typeface="Karla"/>
                <a:cs typeface="Karla"/>
                <a:sym typeface="Karla"/>
              </a:rPr>
              <a:t>2</a:t>
            </a:r>
            <a:endParaRPr>
              <a:solidFill>
                <a:schemeClr val="accent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5400621" y="3231800"/>
            <a:ext cx="3547800" cy="11889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2" name="Google Shape;352;p44"/>
          <p:cNvSpPr txBox="1"/>
          <p:nvPr/>
        </p:nvSpPr>
        <p:spPr>
          <a:xfrm>
            <a:off x="5529433" y="3571075"/>
            <a:ext cx="3306300" cy="7269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                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3" name="Google Shape;353;p44"/>
          <p:cNvSpPr txBox="1"/>
          <p:nvPr/>
        </p:nvSpPr>
        <p:spPr>
          <a:xfrm>
            <a:off x="5529426" y="3624050"/>
            <a:ext cx="1779000" cy="5541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float: left; 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width: 50%;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4" name="Google Shape;354;p44"/>
          <p:cNvSpPr txBox="1"/>
          <p:nvPr/>
        </p:nvSpPr>
        <p:spPr>
          <a:xfrm>
            <a:off x="5112800" y="3079650"/>
            <a:ext cx="2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Karla"/>
                <a:ea typeface="Karla"/>
                <a:cs typeface="Karla"/>
                <a:sym typeface="Karla"/>
              </a:rPr>
              <a:t>3</a:t>
            </a:r>
            <a:endParaRPr>
              <a:solidFill>
                <a:schemeClr val="accent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55" name="Google Shape;355;p44">
            <a:hlinkClick r:id="rId3"/>
          </p:cNvPr>
          <p:cNvSpPr/>
          <p:nvPr/>
        </p:nvSpPr>
        <p:spPr>
          <a:xfrm>
            <a:off x="0" y="5092700"/>
            <a:ext cx="3975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type="title"/>
          </p:nvPr>
        </p:nvSpPr>
        <p:spPr>
          <a:xfrm>
            <a:off x="838309" y="314850"/>
            <a:ext cx="3148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Cambiare il flusso</a:t>
            </a:r>
            <a:endParaRPr/>
          </a:p>
        </p:txBody>
      </p:sp>
      <p:sp>
        <p:nvSpPr>
          <p:cNvPr id="361" name="Google Shape;361;p4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62" name="Google Shape;362;p45"/>
          <p:cNvSpPr txBox="1"/>
          <p:nvPr>
            <p:ph idx="1" type="body"/>
          </p:nvPr>
        </p:nvSpPr>
        <p:spPr>
          <a:xfrm>
            <a:off x="838300" y="868950"/>
            <a:ext cx="3148200" cy="25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FLOATING</a:t>
            </a:r>
            <a:endParaRPr b="1" sz="1300"/>
          </a:p>
          <a:p>
            <a:pPr indent="0" lvl="0" marL="0" marR="25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N.B.</a:t>
            </a:r>
            <a:r>
              <a:rPr lang="en" sz="1300"/>
              <a:t> L’elemento flottante viene rimosso dal flusso, quindi non causa la crescita del genitore! (4)</a:t>
            </a:r>
            <a:endParaRPr sz="1300"/>
          </a:p>
          <a:p>
            <a:pPr indent="0" lvl="0" marL="0" marR="25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L’elemento flottante costringe i fratelli a posizionarsi accanto a lui, se c’è spazio</a:t>
            </a:r>
            <a:endParaRPr sz="1300"/>
          </a:p>
          <a:p>
            <a:pPr indent="0" lvl="0" marL="0" marR="25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300"/>
              <a:t>clear: left | right | both -</a:t>
            </a:r>
            <a:r>
              <a:rPr lang="en" sz="1300"/>
              <a:t> Spinge l’elemento sotto a un box floattante (5) (si applica solo agli elementi blocco)</a:t>
            </a:r>
            <a:endParaRPr b="1" sz="1300"/>
          </a:p>
        </p:txBody>
      </p:sp>
      <p:sp>
        <p:nvSpPr>
          <p:cNvPr id="363" name="Google Shape;363;p45"/>
          <p:cNvSpPr txBox="1"/>
          <p:nvPr/>
        </p:nvSpPr>
        <p:spPr>
          <a:xfrm>
            <a:off x="5395525" y="1162375"/>
            <a:ext cx="3547800" cy="781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45"/>
          <p:cNvSpPr txBox="1"/>
          <p:nvPr/>
        </p:nvSpPr>
        <p:spPr>
          <a:xfrm>
            <a:off x="5515375" y="1879000"/>
            <a:ext cx="1610100" cy="5655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float: left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Width: 50%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45"/>
          <p:cNvSpPr txBox="1"/>
          <p:nvPr/>
        </p:nvSpPr>
        <p:spPr>
          <a:xfrm>
            <a:off x="5107700" y="1010225"/>
            <a:ext cx="2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Karla"/>
                <a:ea typeface="Karla"/>
                <a:cs typeface="Karla"/>
                <a:sym typeface="Karla"/>
              </a:rPr>
              <a:t>4</a:t>
            </a:r>
            <a:endParaRPr>
              <a:solidFill>
                <a:schemeClr val="accent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66" name="Google Shape;366;p45"/>
          <p:cNvSpPr txBox="1"/>
          <p:nvPr/>
        </p:nvSpPr>
        <p:spPr>
          <a:xfrm>
            <a:off x="7213375" y="1879000"/>
            <a:ext cx="1610100" cy="5655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float: left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Width: 50%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45"/>
          <p:cNvSpPr txBox="1"/>
          <p:nvPr/>
        </p:nvSpPr>
        <p:spPr>
          <a:xfrm>
            <a:off x="5515375" y="1453075"/>
            <a:ext cx="3308100" cy="346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45"/>
          <p:cNvSpPr txBox="1"/>
          <p:nvPr/>
        </p:nvSpPr>
        <p:spPr>
          <a:xfrm>
            <a:off x="5395525" y="2596660"/>
            <a:ext cx="3547800" cy="1384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45"/>
          <p:cNvSpPr txBox="1"/>
          <p:nvPr/>
        </p:nvSpPr>
        <p:spPr>
          <a:xfrm>
            <a:off x="5515375" y="2887338"/>
            <a:ext cx="1610100" cy="5655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float: left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Width: 50%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5107700" y="2444488"/>
            <a:ext cx="2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Karla"/>
                <a:ea typeface="Karla"/>
                <a:cs typeface="Karla"/>
                <a:sym typeface="Karla"/>
              </a:rPr>
              <a:t>5</a:t>
            </a:r>
            <a:endParaRPr>
              <a:solidFill>
                <a:schemeClr val="accent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71" name="Google Shape;371;p45"/>
          <p:cNvSpPr txBox="1"/>
          <p:nvPr/>
        </p:nvSpPr>
        <p:spPr>
          <a:xfrm>
            <a:off x="5515375" y="3530300"/>
            <a:ext cx="3308100" cy="3462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clear=”both”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45">
            <a:hlinkClick r:id="rId3"/>
          </p:cNvPr>
          <p:cNvSpPr/>
          <p:nvPr/>
        </p:nvSpPr>
        <p:spPr>
          <a:xfrm>
            <a:off x="0" y="5092700"/>
            <a:ext cx="4174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 txBox="1"/>
          <p:nvPr>
            <p:ph type="title"/>
          </p:nvPr>
        </p:nvSpPr>
        <p:spPr>
          <a:xfrm>
            <a:off x="838309" y="314850"/>
            <a:ext cx="3148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Cambiare il flusso</a:t>
            </a:r>
            <a:endParaRPr/>
          </a:p>
        </p:txBody>
      </p:sp>
      <p:sp>
        <p:nvSpPr>
          <p:cNvPr id="378" name="Google Shape;378;p4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79" name="Google Shape;379;p46"/>
          <p:cNvSpPr txBox="1"/>
          <p:nvPr>
            <p:ph idx="1" type="body"/>
          </p:nvPr>
        </p:nvSpPr>
        <p:spPr>
          <a:xfrm>
            <a:off x="838300" y="868950"/>
            <a:ext cx="3148200" cy="3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POSITION</a:t>
            </a:r>
            <a:endParaRPr b="1" sz="1300"/>
          </a:p>
          <a:p>
            <a:pPr indent="0" lvl="0" marL="0" marR="25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position: static - </a:t>
            </a:r>
            <a:r>
              <a:rPr lang="en" sz="1300"/>
              <a:t>valore di default, l’elemento è posizionato seguendo il flusso del documento</a:t>
            </a:r>
            <a:endParaRPr sz="1300"/>
          </a:p>
          <a:p>
            <a:pPr indent="0" lvl="0" marL="0" marR="25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position: relative - </a:t>
            </a:r>
            <a:r>
              <a:rPr lang="en" sz="1300"/>
              <a:t>l’elemento è posizionato seguendo il flusso del documento e accetta top, right, bottom e left</a:t>
            </a:r>
            <a:endParaRPr sz="1300"/>
          </a:p>
          <a:p>
            <a:pPr indent="0" lvl="0" marL="0" marR="25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position: absolute - </a:t>
            </a:r>
            <a:r>
              <a:rPr lang="en" sz="1300"/>
              <a:t>l’elemento è rimosso dal flusso e la sua posizione è relativa al suo antenato più prossimo con position dichiarata o al body</a:t>
            </a:r>
            <a:endParaRPr sz="1300"/>
          </a:p>
          <a:p>
            <a:pPr indent="0" lvl="0" marL="0" marR="25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300"/>
              <a:t>Position: fixed - </a:t>
            </a:r>
            <a:r>
              <a:rPr lang="en" sz="1300"/>
              <a:t>l’elemento è rimosso dal flusso e la sua posizione è relativa al body</a:t>
            </a:r>
            <a:endParaRPr b="1" sz="1300"/>
          </a:p>
        </p:txBody>
      </p:sp>
      <p:pic>
        <p:nvPicPr>
          <p:cNvPr id="380" name="Google Shape;380;p46"/>
          <p:cNvPicPr preferRelativeResize="0"/>
          <p:nvPr/>
        </p:nvPicPr>
        <p:blipFill rotWithShape="1">
          <a:blip r:embed="rId3">
            <a:alphaModFix/>
          </a:blip>
          <a:srcRect b="0" l="0" r="49441" t="0"/>
          <a:stretch/>
        </p:blipFill>
        <p:spPr>
          <a:xfrm>
            <a:off x="5783250" y="852412"/>
            <a:ext cx="2732974" cy="196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6"/>
          <p:cNvPicPr preferRelativeResize="0"/>
          <p:nvPr/>
        </p:nvPicPr>
        <p:blipFill rotWithShape="1">
          <a:blip r:embed="rId3">
            <a:alphaModFix/>
          </a:blip>
          <a:srcRect b="8181" l="48309" r="1133" t="0"/>
          <a:stretch/>
        </p:blipFill>
        <p:spPr>
          <a:xfrm>
            <a:off x="5783250" y="2490363"/>
            <a:ext cx="2732974" cy="180072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6"/>
          <p:cNvSpPr txBox="1"/>
          <p:nvPr/>
        </p:nvSpPr>
        <p:spPr>
          <a:xfrm>
            <a:off x="5543225" y="45037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Esempio interattivo</a:t>
            </a:r>
            <a:endParaRPr/>
          </a:p>
        </p:txBody>
      </p:sp>
      <p:sp>
        <p:nvSpPr>
          <p:cNvPr id="383" name="Google Shape;383;p46">
            <a:hlinkClick r:id="rId5"/>
          </p:cNvPr>
          <p:cNvSpPr/>
          <p:nvPr/>
        </p:nvSpPr>
        <p:spPr>
          <a:xfrm>
            <a:off x="0" y="5092700"/>
            <a:ext cx="4373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Posizionare gli elementi al centro della pagina</a:t>
            </a:r>
            <a:endParaRPr/>
          </a:p>
        </p:txBody>
      </p:sp>
      <p:sp>
        <p:nvSpPr>
          <p:cNvPr id="389" name="Google Shape;389;p47"/>
          <p:cNvSpPr txBox="1"/>
          <p:nvPr>
            <p:ph idx="1" type="body"/>
          </p:nvPr>
        </p:nvSpPr>
        <p:spPr>
          <a:xfrm>
            <a:off x="838250" y="1504950"/>
            <a:ext cx="5324100" cy="29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ts val="1500"/>
              <a:buChar char="▸"/>
            </a:pPr>
            <a:r>
              <a:rPr lang="en" sz="1500"/>
              <a:t>Per posizionare orizzontalmente al centro un elemento blocco (a cui avete assegnato una larghezza fissa) potete usare </a:t>
            </a:r>
            <a:r>
              <a:rPr b="1" lang="en" sz="1500"/>
              <a:t>margin: auto</a:t>
            </a:r>
            <a:r>
              <a:rPr lang="en" sz="1500"/>
              <a:t>. Lo spazio a destra e sinistra dell’elemento sarà distribuito equamente (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Try</a:t>
            </a:r>
            <a:r>
              <a:rPr lang="en" sz="1500">
                <a:solidFill>
                  <a:srgbClr val="666666"/>
                </a:solidFill>
              </a:rPr>
              <a:t>)</a:t>
            </a:r>
            <a:endParaRPr sz="1500">
              <a:solidFill>
                <a:srgbClr val="66666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▸"/>
            </a:pPr>
            <a:r>
              <a:rPr lang="en" sz="1500"/>
              <a:t>Per centrare orizzontalmente  il testo dentro a un elemento, usate semplicemente </a:t>
            </a:r>
            <a:r>
              <a:rPr b="1" lang="en" sz="1500"/>
              <a:t>text-align: center</a:t>
            </a:r>
            <a:r>
              <a:rPr lang="en" sz="1500"/>
              <a:t>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▸"/>
            </a:pPr>
            <a:r>
              <a:rPr lang="en" sz="1500"/>
              <a:t>Per centrare verticalmente il testo potete invece usare </a:t>
            </a:r>
            <a:r>
              <a:rPr b="1" lang="en" sz="1500"/>
              <a:t>padding</a:t>
            </a:r>
            <a:r>
              <a:rPr lang="en" sz="1500">
                <a:solidFill>
                  <a:srgbClr val="666666"/>
                </a:solidFill>
              </a:rPr>
              <a:t> (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Try</a:t>
            </a:r>
            <a:r>
              <a:rPr lang="en" sz="1500">
                <a:solidFill>
                  <a:srgbClr val="666666"/>
                </a:solidFill>
              </a:rPr>
              <a:t>)</a:t>
            </a:r>
            <a:endParaRPr sz="1500">
              <a:solidFill>
                <a:srgbClr val="66666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▸"/>
            </a:pPr>
            <a:r>
              <a:rPr lang="en" sz="1500"/>
              <a:t>In alternativa, si può impostare un valore line-height uguale all’altezza dell’elemento.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▸"/>
            </a:pPr>
            <a:r>
              <a:rPr lang="en" sz="1500"/>
              <a:t>Si può, infine, usare flex (lo vediamo tra poco)</a:t>
            </a:r>
            <a:endParaRPr sz="1500"/>
          </a:p>
        </p:txBody>
      </p:sp>
      <p:sp>
        <p:nvSpPr>
          <p:cNvPr id="390" name="Google Shape;390;p4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47">
            <a:hlinkClick r:id="rId5"/>
          </p:cNvPr>
          <p:cNvSpPr/>
          <p:nvPr/>
        </p:nvSpPr>
        <p:spPr>
          <a:xfrm>
            <a:off x="0" y="5092700"/>
            <a:ext cx="4572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4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2</a:t>
            </a:r>
            <a:endParaRPr/>
          </a:p>
        </p:txBody>
      </p:sp>
      <p:sp>
        <p:nvSpPr>
          <p:cNvPr id="398" name="Google Shape;398;p48"/>
          <p:cNvSpPr txBox="1"/>
          <p:nvPr>
            <p:ph idx="4294967295" type="body"/>
          </p:nvPr>
        </p:nvSpPr>
        <p:spPr>
          <a:xfrm>
            <a:off x="838250" y="1504950"/>
            <a:ext cx="5842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Replicate gli elementi che vedete nella slide successiva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Non è necessario che il layout sia responsive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Cercate di sfruttare tutte le caratteristiche del box model viste fino ad ora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Potete usare flex se lo ritenete più comodo</a:t>
            </a:r>
            <a:endParaRPr sz="1500"/>
          </a:p>
        </p:txBody>
      </p:sp>
      <p:grpSp>
        <p:nvGrpSpPr>
          <p:cNvPr id="399" name="Google Shape;399;p48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400" name="Google Shape;400;p48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8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8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8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8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8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48">
            <a:hlinkClick r:id="rId3"/>
          </p:cNvPr>
          <p:cNvSpPr/>
          <p:nvPr/>
        </p:nvSpPr>
        <p:spPr>
          <a:xfrm>
            <a:off x="0" y="5092700"/>
            <a:ext cx="4770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412" name="Google Shape;412;p49"/>
          <p:cNvSpPr txBox="1"/>
          <p:nvPr/>
        </p:nvSpPr>
        <p:spPr>
          <a:xfrm>
            <a:off x="2075850" y="577325"/>
            <a:ext cx="49923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3" name="Google Shape;413;p49"/>
          <p:cNvSpPr txBox="1"/>
          <p:nvPr/>
        </p:nvSpPr>
        <p:spPr>
          <a:xfrm>
            <a:off x="2343306" y="885679"/>
            <a:ext cx="1793400" cy="3936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4" name="Google Shape;414;p49"/>
          <p:cNvSpPr txBox="1"/>
          <p:nvPr/>
        </p:nvSpPr>
        <p:spPr>
          <a:xfrm>
            <a:off x="4228377" y="708529"/>
            <a:ext cx="2746200" cy="74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Lorem ipsum dolor sit amet, consectetur adipiscing elit. Fusce id euismod purus. Proin id egestas turpis, quis semper est. Suspendisse fringilla dui eu egestas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5" name="Google Shape;415;p49"/>
          <p:cNvSpPr txBox="1"/>
          <p:nvPr/>
        </p:nvSpPr>
        <p:spPr>
          <a:xfrm>
            <a:off x="2278375" y="1351475"/>
            <a:ext cx="45756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dignissim. Suspendisse commodo magna in enim consequat elementum. Aliquam vehicula diam vitae justo porta dapibus. Morbi ligula dui, sodales id mauris ac, congue convallis mauris.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6" name="Google Shape;416;p49"/>
          <p:cNvSpPr txBox="1"/>
          <p:nvPr/>
        </p:nvSpPr>
        <p:spPr>
          <a:xfrm>
            <a:off x="2075850" y="2855375"/>
            <a:ext cx="49923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7" name="Google Shape;417;p49"/>
          <p:cNvSpPr txBox="1"/>
          <p:nvPr/>
        </p:nvSpPr>
        <p:spPr>
          <a:xfrm>
            <a:off x="3345900" y="3047525"/>
            <a:ext cx="2452200" cy="14418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8" name="Google Shape;418;p49"/>
          <p:cNvSpPr txBox="1"/>
          <p:nvPr/>
        </p:nvSpPr>
        <p:spPr>
          <a:xfrm>
            <a:off x="3453550" y="3150600"/>
            <a:ext cx="1099500" cy="3936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9" name="Google Shape;419;p49"/>
          <p:cNvSpPr txBox="1"/>
          <p:nvPr/>
        </p:nvSpPr>
        <p:spPr>
          <a:xfrm>
            <a:off x="4566350" y="3150600"/>
            <a:ext cx="1099500" cy="3936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0" name="Google Shape;420;p49"/>
          <p:cNvSpPr txBox="1"/>
          <p:nvPr/>
        </p:nvSpPr>
        <p:spPr>
          <a:xfrm>
            <a:off x="2427825" y="971025"/>
            <a:ext cx="655800" cy="2229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1" name="Google Shape;421;p49"/>
          <p:cNvSpPr txBox="1"/>
          <p:nvPr/>
        </p:nvSpPr>
        <p:spPr>
          <a:xfrm>
            <a:off x="3328100" y="971025"/>
            <a:ext cx="655800" cy="918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2" name="Google Shape;422;p49"/>
          <p:cNvSpPr txBox="1"/>
          <p:nvPr/>
        </p:nvSpPr>
        <p:spPr>
          <a:xfrm>
            <a:off x="3490225" y="3660800"/>
            <a:ext cx="2175600" cy="747900"/>
          </a:xfrm>
          <a:prstGeom prst="rect">
            <a:avLst/>
          </a:prstGeom>
          <a:noFill/>
          <a:ln cap="flat" cmpd="sng" w="9525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Lorem ipsum dolor sit amet, consectetur adipiscing elit. Fusce id euismod purus.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3" name="Google Shape;423;p49"/>
          <p:cNvSpPr txBox="1"/>
          <p:nvPr/>
        </p:nvSpPr>
        <p:spPr>
          <a:xfrm>
            <a:off x="3422100" y="3722525"/>
            <a:ext cx="655800" cy="918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4" name="Google Shape;424;p49"/>
          <p:cNvSpPr txBox="1"/>
          <p:nvPr/>
        </p:nvSpPr>
        <p:spPr>
          <a:xfrm>
            <a:off x="2075850" y="4489325"/>
            <a:ext cx="655800" cy="918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5" name="Google Shape;425;p49">
            <a:hlinkClick r:id="rId3"/>
          </p:cNvPr>
          <p:cNvSpPr/>
          <p:nvPr/>
        </p:nvSpPr>
        <p:spPr>
          <a:xfrm>
            <a:off x="0" y="5092700"/>
            <a:ext cx="4969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FLEXBOX</a:t>
            </a:r>
            <a:endParaRPr/>
          </a:p>
        </p:txBody>
      </p:sp>
      <p:sp>
        <p:nvSpPr>
          <p:cNvPr id="431" name="Google Shape;431;p5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432" name="Google Shape;432;p50">
            <a:hlinkClick r:id="rId3"/>
          </p:cNvPr>
          <p:cNvSpPr/>
          <p:nvPr/>
        </p:nvSpPr>
        <p:spPr>
          <a:xfrm>
            <a:off x="0" y="5092700"/>
            <a:ext cx="5168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1"/>
          <p:cNvSpPr txBox="1"/>
          <p:nvPr>
            <p:ph type="title"/>
          </p:nvPr>
        </p:nvSpPr>
        <p:spPr>
          <a:xfrm>
            <a:off x="838309" y="1394250"/>
            <a:ext cx="3148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Flexbox layout</a:t>
            </a:r>
            <a:endParaRPr/>
          </a:p>
        </p:txBody>
      </p:sp>
      <p:sp>
        <p:nvSpPr>
          <p:cNvPr id="438" name="Google Shape;438;p5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39" name="Google Shape;439;p51"/>
          <p:cNvSpPr txBox="1"/>
          <p:nvPr>
            <p:ph idx="1" type="body"/>
          </p:nvPr>
        </p:nvSpPr>
        <p:spPr>
          <a:xfrm>
            <a:off x="838300" y="1948350"/>
            <a:ext cx="3148200" cy="18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Flexbox ha l’obiettivo di fornire un modo più efficiente di disporre, allineare, e distribuire lo spazio tra gli oggetti all’interno dei loro contenitori, anche quando le loro dimensioni sono sconosciute e/o dinamiche</a:t>
            </a:r>
            <a:endParaRPr b="1" sz="1500"/>
          </a:p>
        </p:txBody>
      </p:sp>
      <p:sp>
        <p:nvSpPr>
          <p:cNvPr id="440" name="Google Shape;440;p51"/>
          <p:cNvSpPr txBox="1"/>
          <p:nvPr/>
        </p:nvSpPr>
        <p:spPr>
          <a:xfrm>
            <a:off x="4908075" y="1776150"/>
            <a:ext cx="4035300" cy="1591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Contenitore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51"/>
          <p:cNvSpPr txBox="1"/>
          <p:nvPr/>
        </p:nvSpPr>
        <p:spPr>
          <a:xfrm>
            <a:off x="5010425" y="2066850"/>
            <a:ext cx="1530300" cy="1177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Oggetto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51"/>
          <p:cNvSpPr txBox="1"/>
          <p:nvPr/>
        </p:nvSpPr>
        <p:spPr>
          <a:xfrm>
            <a:off x="6611200" y="2066850"/>
            <a:ext cx="809700" cy="1177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Oggetto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51"/>
          <p:cNvSpPr txBox="1"/>
          <p:nvPr/>
        </p:nvSpPr>
        <p:spPr>
          <a:xfrm>
            <a:off x="7491375" y="2066850"/>
            <a:ext cx="1326900" cy="1177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Oggetto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51">
            <a:hlinkClick r:id="rId3"/>
          </p:cNvPr>
          <p:cNvSpPr/>
          <p:nvPr/>
        </p:nvSpPr>
        <p:spPr>
          <a:xfrm>
            <a:off x="0" y="5092700"/>
            <a:ext cx="5367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2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il genitore</a:t>
            </a:r>
            <a:endParaRPr/>
          </a:p>
        </p:txBody>
      </p:sp>
      <p:sp>
        <p:nvSpPr>
          <p:cNvPr id="450" name="Google Shape;450;p52"/>
          <p:cNvSpPr txBox="1"/>
          <p:nvPr>
            <p:ph idx="1" type="body"/>
          </p:nvPr>
        </p:nvSpPr>
        <p:spPr>
          <a:xfrm>
            <a:off x="838250" y="1504950"/>
            <a:ext cx="53241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f</a:t>
            </a:r>
            <a:r>
              <a:rPr lang="en" sz="1500"/>
              <a:t>lex-direction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f</a:t>
            </a:r>
            <a:r>
              <a:rPr lang="en" sz="1500"/>
              <a:t>lex-wrap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f</a:t>
            </a:r>
            <a:r>
              <a:rPr lang="en" sz="1500"/>
              <a:t>lex-flow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j</a:t>
            </a:r>
            <a:r>
              <a:rPr lang="en" sz="1500"/>
              <a:t>ustify-content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a</a:t>
            </a:r>
            <a:r>
              <a:rPr lang="en" sz="1500"/>
              <a:t>lign-items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align-content</a:t>
            </a:r>
            <a:endParaRPr sz="1500"/>
          </a:p>
        </p:txBody>
      </p:sp>
      <p:sp>
        <p:nvSpPr>
          <p:cNvPr id="451" name="Google Shape;451;p5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52">
            <a:hlinkClick r:id="rId3"/>
          </p:cNvPr>
          <p:cNvSpPr/>
          <p:nvPr/>
        </p:nvSpPr>
        <p:spPr>
          <a:xfrm>
            <a:off x="0" y="5092700"/>
            <a:ext cx="5565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3"/>
          <p:cNvSpPr txBox="1"/>
          <p:nvPr>
            <p:ph type="title"/>
          </p:nvPr>
        </p:nvSpPr>
        <p:spPr>
          <a:xfrm>
            <a:off x="894559" y="810350"/>
            <a:ext cx="31482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il </a:t>
            </a:r>
            <a:r>
              <a:rPr lang="en"/>
              <a:t>genitore</a:t>
            </a:r>
            <a:endParaRPr/>
          </a:p>
        </p:txBody>
      </p:sp>
      <p:sp>
        <p:nvSpPr>
          <p:cNvPr id="458" name="Google Shape;458;p53"/>
          <p:cNvSpPr txBox="1"/>
          <p:nvPr>
            <p:ph idx="4294967295" type="body"/>
          </p:nvPr>
        </p:nvSpPr>
        <p:spPr>
          <a:xfrm>
            <a:off x="894550" y="1632900"/>
            <a:ext cx="3148200" cy="18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flex-direction</a:t>
            </a:r>
            <a:endParaRPr b="1"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Stabilisce l’asse principale, ovvero la direzione degli oggetti nel container flex. Gli oggetti si dispongono principalmente su righe orizzontali o colonne verticali</a:t>
            </a:r>
            <a:endParaRPr sz="1500"/>
          </a:p>
        </p:txBody>
      </p:sp>
      <p:sp>
        <p:nvSpPr>
          <p:cNvPr id="459" name="Google Shape;459;p5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53"/>
          <p:cNvSpPr txBox="1"/>
          <p:nvPr/>
        </p:nvSpPr>
        <p:spPr>
          <a:xfrm>
            <a:off x="950950" y="3745450"/>
            <a:ext cx="3655200" cy="100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flex-direction: row | row-reverse |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			 column | column-reverse;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1" name="Google Shape;461;p53"/>
          <p:cNvSpPr txBox="1"/>
          <p:nvPr/>
        </p:nvSpPr>
        <p:spPr>
          <a:xfrm>
            <a:off x="6226475" y="662750"/>
            <a:ext cx="22002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462" name="Google Shape;462;p53"/>
          <p:cNvSpPr/>
          <p:nvPr/>
        </p:nvSpPr>
        <p:spPr>
          <a:xfrm>
            <a:off x="6376481" y="817623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3"/>
          <p:cNvSpPr/>
          <p:nvPr/>
        </p:nvSpPr>
        <p:spPr>
          <a:xfrm>
            <a:off x="7044335" y="817623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3"/>
          <p:cNvSpPr/>
          <p:nvPr/>
        </p:nvSpPr>
        <p:spPr>
          <a:xfrm>
            <a:off x="7897808" y="817623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5" name="Google Shape;465;p53"/>
          <p:cNvCxnSpPr/>
          <p:nvPr/>
        </p:nvCxnSpPr>
        <p:spPr>
          <a:xfrm flipH="1" rot="10800000">
            <a:off x="5921425" y="890550"/>
            <a:ext cx="2347200" cy="10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53"/>
          <p:cNvCxnSpPr/>
          <p:nvPr/>
        </p:nvCxnSpPr>
        <p:spPr>
          <a:xfrm rot="10800000">
            <a:off x="6376550" y="1064250"/>
            <a:ext cx="2293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53"/>
          <p:cNvSpPr txBox="1"/>
          <p:nvPr/>
        </p:nvSpPr>
        <p:spPr>
          <a:xfrm rot="-5400000">
            <a:off x="6162350" y="3038263"/>
            <a:ext cx="22002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468" name="Google Shape;468;p53"/>
          <p:cNvSpPr/>
          <p:nvPr/>
        </p:nvSpPr>
        <p:spPr>
          <a:xfrm rot="-5400000">
            <a:off x="6980373" y="3861006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3"/>
          <p:cNvSpPr/>
          <p:nvPr/>
        </p:nvSpPr>
        <p:spPr>
          <a:xfrm rot="-5400000">
            <a:off x="6887523" y="3100303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3"/>
          <p:cNvSpPr/>
          <p:nvPr/>
        </p:nvSpPr>
        <p:spPr>
          <a:xfrm rot="-5400000">
            <a:off x="7077123" y="2436430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1" name="Google Shape;471;p53"/>
          <p:cNvCxnSpPr/>
          <p:nvPr/>
        </p:nvCxnSpPr>
        <p:spPr>
          <a:xfrm flipH="1">
            <a:off x="7186175" y="2021575"/>
            <a:ext cx="9600" cy="2283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53"/>
          <p:cNvCxnSpPr/>
          <p:nvPr/>
        </p:nvCxnSpPr>
        <p:spPr>
          <a:xfrm rot="10800000">
            <a:off x="7338725" y="2412800"/>
            <a:ext cx="0" cy="2270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53">
            <a:hlinkClick r:id="rId3"/>
          </p:cNvPr>
          <p:cNvSpPr/>
          <p:nvPr/>
        </p:nvSpPr>
        <p:spPr>
          <a:xfrm>
            <a:off x="0" y="5092700"/>
            <a:ext cx="5764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4"/>
          <p:cNvSpPr txBox="1"/>
          <p:nvPr>
            <p:ph type="title"/>
          </p:nvPr>
        </p:nvSpPr>
        <p:spPr>
          <a:xfrm>
            <a:off x="894559" y="810350"/>
            <a:ext cx="31482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il </a:t>
            </a:r>
            <a:r>
              <a:rPr lang="en"/>
              <a:t>genitore</a:t>
            </a:r>
            <a:endParaRPr/>
          </a:p>
        </p:txBody>
      </p:sp>
      <p:sp>
        <p:nvSpPr>
          <p:cNvPr id="479" name="Google Shape;479;p54"/>
          <p:cNvSpPr txBox="1"/>
          <p:nvPr>
            <p:ph idx="4294967295" type="body"/>
          </p:nvPr>
        </p:nvSpPr>
        <p:spPr>
          <a:xfrm>
            <a:off x="894550" y="1632900"/>
            <a:ext cx="31482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flex-wrap</a:t>
            </a:r>
            <a:endParaRPr b="1"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Gli oggetti flex tenteranno di incastrarsi in una sola fila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Si può cambiare questo comportamento con </a:t>
            </a:r>
            <a:r>
              <a:rPr b="1" lang="en" sz="1500"/>
              <a:t>flex-wrap: wrap</a:t>
            </a:r>
            <a:endParaRPr sz="1500"/>
          </a:p>
        </p:txBody>
      </p:sp>
      <p:sp>
        <p:nvSpPr>
          <p:cNvPr id="480" name="Google Shape;480;p5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54"/>
          <p:cNvSpPr txBox="1"/>
          <p:nvPr/>
        </p:nvSpPr>
        <p:spPr>
          <a:xfrm>
            <a:off x="950950" y="3745450"/>
            <a:ext cx="36552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flex-wrap: nowrap | wrap | wrap-reverse;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2" name="Google Shape;482;p54"/>
          <p:cNvSpPr txBox="1"/>
          <p:nvPr/>
        </p:nvSpPr>
        <p:spPr>
          <a:xfrm>
            <a:off x="6003800" y="1894050"/>
            <a:ext cx="2200200" cy="13554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483" name="Google Shape;483;p54"/>
          <p:cNvSpPr/>
          <p:nvPr/>
        </p:nvSpPr>
        <p:spPr>
          <a:xfrm>
            <a:off x="6153806" y="2048923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4"/>
          <p:cNvSpPr/>
          <p:nvPr/>
        </p:nvSpPr>
        <p:spPr>
          <a:xfrm>
            <a:off x="6821660" y="2048923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4"/>
          <p:cNvSpPr/>
          <p:nvPr/>
        </p:nvSpPr>
        <p:spPr>
          <a:xfrm>
            <a:off x="7675133" y="2048923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4"/>
          <p:cNvSpPr/>
          <p:nvPr/>
        </p:nvSpPr>
        <p:spPr>
          <a:xfrm>
            <a:off x="6157844" y="2636198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4"/>
          <p:cNvSpPr/>
          <p:nvPr/>
        </p:nvSpPr>
        <p:spPr>
          <a:xfrm>
            <a:off x="6825697" y="2636198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4"/>
          <p:cNvSpPr/>
          <p:nvPr/>
        </p:nvSpPr>
        <p:spPr>
          <a:xfrm>
            <a:off x="7679170" y="2636198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9" name="Google Shape;489;p54"/>
          <p:cNvCxnSpPr>
            <a:stCxn id="485" idx="3"/>
            <a:endCxn id="486" idx="1"/>
          </p:cNvCxnSpPr>
          <p:nvPr/>
        </p:nvCxnSpPr>
        <p:spPr>
          <a:xfrm flipH="1">
            <a:off x="6157733" y="2210773"/>
            <a:ext cx="1888200" cy="587400"/>
          </a:xfrm>
          <a:prstGeom prst="curvedConnector5">
            <a:avLst>
              <a:gd fmla="val -12611" name="adj1"/>
              <a:gd fmla="val 49989" name="adj2"/>
              <a:gd fmla="val 112605" name="adj3"/>
            </a:avLst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0" name="Google Shape;490;p54">
            <a:hlinkClick r:id="rId3"/>
          </p:cNvPr>
          <p:cNvSpPr/>
          <p:nvPr/>
        </p:nvSpPr>
        <p:spPr>
          <a:xfrm>
            <a:off x="0" y="5092700"/>
            <a:ext cx="5963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il </a:t>
            </a:r>
            <a:r>
              <a:rPr lang="en"/>
              <a:t>genitore</a:t>
            </a:r>
            <a:endParaRPr/>
          </a:p>
        </p:txBody>
      </p:sp>
      <p:sp>
        <p:nvSpPr>
          <p:cNvPr id="496" name="Google Shape;496;p55"/>
          <p:cNvSpPr txBox="1"/>
          <p:nvPr>
            <p:ph idx="1" type="body"/>
          </p:nvPr>
        </p:nvSpPr>
        <p:spPr>
          <a:xfrm>
            <a:off x="838250" y="1504950"/>
            <a:ext cx="53241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flex-flow</a:t>
            </a:r>
            <a:endParaRPr b="1"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Si tratta di una forma contratta che permette di definire direction e wrap in una sola dichiarazione</a:t>
            </a:r>
            <a:endParaRPr b="1" sz="1500"/>
          </a:p>
        </p:txBody>
      </p:sp>
      <p:sp>
        <p:nvSpPr>
          <p:cNvPr id="497" name="Google Shape;497;p5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55"/>
          <p:cNvSpPr txBox="1"/>
          <p:nvPr/>
        </p:nvSpPr>
        <p:spPr>
          <a:xfrm>
            <a:off x="950950" y="2733750"/>
            <a:ext cx="22170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flex-flow: column wrap;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99" name="Google Shape;499;p55">
            <a:hlinkClick r:id="rId3"/>
          </p:cNvPr>
          <p:cNvSpPr/>
          <p:nvPr/>
        </p:nvSpPr>
        <p:spPr>
          <a:xfrm>
            <a:off x="0" y="5092700"/>
            <a:ext cx="6162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6"/>
          <p:cNvSpPr txBox="1"/>
          <p:nvPr>
            <p:ph type="title"/>
          </p:nvPr>
        </p:nvSpPr>
        <p:spPr>
          <a:xfrm>
            <a:off x="894559" y="810350"/>
            <a:ext cx="31482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il </a:t>
            </a:r>
            <a:r>
              <a:rPr lang="en"/>
              <a:t>genitore</a:t>
            </a:r>
            <a:endParaRPr/>
          </a:p>
        </p:txBody>
      </p:sp>
      <p:sp>
        <p:nvSpPr>
          <p:cNvPr id="505" name="Google Shape;505;p56"/>
          <p:cNvSpPr txBox="1"/>
          <p:nvPr>
            <p:ph idx="4294967295" type="body"/>
          </p:nvPr>
        </p:nvSpPr>
        <p:spPr>
          <a:xfrm>
            <a:off x="894550" y="1632900"/>
            <a:ext cx="3148200" cy="15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justify-content</a:t>
            </a:r>
            <a:endParaRPr b="1"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Definisce l’allineamento lungo l’asse principale (quella orizzontale se la direzione è row). Aiuta a gestire lo spazio libero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Di default è impostato su </a:t>
            </a:r>
            <a:r>
              <a:rPr b="1" lang="en" sz="1300"/>
              <a:t>flex-start</a:t>
            </a:r>
            <a:endParaRPr sz="1300"/>
          </a:p>
        </p:txBody>
      </p:sp>
      <p:sp>
        <p:nvSpPr>
          <p:cNvPr id="506" name="Google Shape;506;p5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56"/>
          <p:cNvSpPr txBox="1"/>
          <p:nvPr/>
        </p:nvSpPr>
        <p:spPr>
          <a:xfrm>
            <a:off x="950950" y="3279900"/>
            <a:ext cx="3655200" cy="16623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justify-content: flex-start | flex-end |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			  center | space-between | 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space-around | 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space-evenly | start | 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end | left;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8" name="Google Shape;508;p56"/>
          <p:cNvSpPr txBox="1"/>
          <p:nvPr/>
        </p:nvSpPr>
        <p:spPr>
          <a:xfrm>
            <a:off x="5773300" y="1343788"/>
            <a:ext cx="31341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09" name="Google Shape;509;p56"/>
          <p:cNvSpPr/>
          <p:nvPr/>
        </p:nvSpPr>
        <p:spPr>
          <a:xfrm>
            <a:off x="5923306" y="1498660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6"/>
          <p:cNvSpPr/>
          <p:nvPr/>
        </p:nvSpPr>
        <p:spPr>
          <a:xfrm>
            <a:off x="6591160" y="1498660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6"/>
          <p:cNvSpPr/>
          <p:nvPr/>
        </p:nvSpPr>
        <p:spPr>
          <a:xfrm>
            <a:off x="7444633" y="1498660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6"/>
          <p:cNvSpPr txBox="1"/>
          <p:nvPr/>
        </p:nvSpPr>
        <p:spPr>
          <a:xfrm>
            <a:off x="5773300" y="2320938"/>
            <a:ext cx="31341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13" name="Google Shape;513;p56"/>
          <p:cNvSpPr/>
          <p:nvPr/>
        </p:nvSpPr>
        <p:spPr>
          <a:xfrm>
            <a:off x="6808031" y="2475810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6"/>
          <p:cNvSpPr/>
          <p:nvPr/>
        </p:nvSpPr>
        <p:spPr>
          <a:xfrm>
            <a:off x="7475885" y="2475810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6"/>
          <p:cNvSpPr/>
          <p:nvPr/>
        </p:nvSpPr>
        <p:spPr>
          <a:xfrm>
            <a:off x="8329358" y="2475810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6"/>
          <p:cNvSpPr txBox="1"/>
          <p:nvPr/>
        </p:nvSpPr>
        <p:spPr>
          <a:xfrm>
            <a:off x="5773300" y="3279613"/>
            <a:ext cx="31341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17" name="Google Shape;517;p56"/>
          <p:cNvSpPr/>
          <p:nvPr/>
        </p:nvSpPr>
        <p:spPr>
          <a:xfrm>
            <a:off x="6394294" y="3434485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6"/>
          <p:cNvSpPr/>
          <p:nvPr/>
        </p:nvSpPr>
        <p:spPr>
          <a:xfrm>
            <a:off x="7062147" y="3434485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6"/>
          <p:cNvSpPr/>
          <p:nvPr/>
        </p:nvSpPr>
        <p:spPr>
          <a:xfrm>
            <a:off x="7915620" y="3434485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6"/>
          <p:cNvSpPr txBox="1"/>
          <p:nvPr/>
        </p:nvSpPr>
        <p:spPr>
          <a:xfrm>
            <a:off x="5773300" y="999888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flex-start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1" name="Google Shape;521;p56"/>
          <p:cNvSpPr txBox="1"/>
          <p:nvPr/>
        </p:nvSpPr>
        <p:spPr>
          <a:xfrm>
            <a:off x="5773300" y="1987338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flex-end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2" name="Google Shape;522;p56"/>
          <p:cNvSpPr txBox="1"/>
          <p:nvPr/>
        </p:nvSpPr>
        <p:spPr>
          <a:xfrm>
            <a:off x="5803975" y="2940900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center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3" name="Google Shape;523;p56">
            <a:hlinkClick r:id="rId3"/>
          </p:cNvPr>
          <p:cNvSpPr/>
          <p:nvPr/>
        </p:nvSpPr>
        <p:spPr>
          <a:xfrm>
            <a:off x="0" y="5092700"/>
            <a:ext cx="6360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7"/>
          <p:cNvSpPr txBox="1"/>
          <p:nvPr/>
        </p:nvSpPr>
        <p:spPr>
          <a:xfrm>
            <a:off x="5773300" y="1343788"/>
            <a:ext cx="31341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29" name="Google Shape;529;p57"/>
          <p:cNvSpPr/>
          <p:nvPr/>
        </p:nvSpPr>
        <p:spPr>
          <a:xfrm>
            <a:off x="5773306" y="1517085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7"/>
          <p:cNvSpPr/>
          <p:nvPr/>
        </p:nvSpPr>
        <p:spPr>
          <a:xfrm>
            <a:off x="7085972" y="1516985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7"/>
          <p:cNvSpPr/>
          <p:nvPr/>
        </p:nvSpPr>
        <p:spPr>
          <a:xfrm>
            <a:off x="8536608" y="1498535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7"/>
          <p:cNvSpPr txBox="1"/>
          <p:nvPr/>
        </p:nvSpPr>
        <p:spPr>
          <a:xfrm>
            <a:off x="5773300" y="2320938"/>
            <a:ext cx="31341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33" name="Google Shape;533;p57"/>
          <p:cNvSpPr/>
          <p:nvPr/>
        </p:nvSpPr>
        <p:spPr>
          <a:xfrm>
            <a:off x="6030000" y="2466498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7"/>
          <p:cNvSpPr/>
          <p:nvPr/>
        </p:nvSpPr>
        <p:spPr>
          <a:xfrm>
            <a:off x="7101672" y="2466510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7"/>
          <p:cNvSpPr/>
          <p:nvPr/>
        </p:nvSpPr>
        <p:spPr>
          <a:xfrm>
            <a:off x="8323200" y="2466498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7"/>
          <p:cNvSpPr txBox="1"/>
          <p:nvPr/>
        </p:nvSpPr>
        <p:spPr>
          <a:xfrm>
            <a:off x="5773300" y="3279613"/>
            <a:ext cx="31341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37" name="Google Shape;537;p57"/>
          <p:cNvSpPr/>
          <p:nvPr/>
        </p:nvSpPr>
        <p:spPr>
          <a:xfrm>
            <a:off x="6123600" y="3415935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7"/>
          <p:cNvSpPr/>
          <p:nvPr/>
        </p:nvSpPr>
        <p:spPr>
          <a:xfrm>
            <a:off x="8179200" y="3434485"/>
            <a:ext cx="370800" cy="324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7"/>
          <p:cNvSpPr txBox="1"/>
          <p:nvPr/>
        </p:nvSpPr>
        <p:spPr>
          <a:xfrm>
            <a:off x="5773300" y="999888"/>
            <a:ext cx="1567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space-between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40" name="Google Shape;540;p57"/>
          <p:cNvSpPr txBox="1"/>
          <p:nvPr/>
        </p:nvSpPr>
        <p:spPr>
          <a:xfrm>
            <a:off x="5773300" y="1987338"/>
            <a:ext cx="148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space-around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41" name="Google Shape;541;p57"/>
          <p:cNvSpPr txBox="1"/>
          <p:nvPr/>
        </p:nvSpPr>
        <p:spPr>
          <a:xfrm>
            <a:off x="5803975" y="2940913"/>
            <a:ext cx="1567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space-evenly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42" name="Google Shape;542;p57"/>
          <p:cNvSpPr/>
          <p:nvPr/>
        </p:nvSpPr>
        <p:spPr>
          <a:xfrm>
            <a:off x="7063200" y="3415935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7"/>
          <p:cNvSpPr txBox="1"/>
          <p:nvPr>
            <p:ph type="title"/>
          </p:nvPr>
        </p:nvSpPr>
        <p:spPr>
          <a:xfrm>
            <a:off x="894559" y="810350"/>
            <a:ext cx="31482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il </a:t>
            </a:r>
            <a:r>
              <a:rPr lang="en"/>
              <a:t>genitore</a:t>
            </a:r>
            <a:endParaRPr/>
          </a:p>
        </p:txBody>
      </p:sp>
      <p:sp>
        <p:nvSpPr>
          <p:cNvPr id="544" name="Google Shape;544;p57"/>
          <p:cNvSpPr txBox="1"/>
          <p:nvPr>
            <p:ph idx="4294967295" type="body"/>
          </p:nvPr>
        </p:nvSpPr>
        <p:spPr>
          <a:xfrm>
            <a:off x="894550" y="1632900"/>
            <a:ext cx="3148200" cy="34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justify-content</a:t>
            </a:r>
            <a:endParaRPr b="1"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space-between</a:t>
            </a:r>
            <a:r>
              <a:rPr lang="en" sz="1300"/>
              <a:t> dispone il primo e l’ultimo elemento all’inizio e alla fine della linea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space-around</a:t>
            </a:r>
            <a:r>
              <a:rPr lang="en" sz="1300"/>
              <a:t> inserisce un’unità di spazio a destra e a sinistra di ogni elemento (es . il primo avrà  1 unità di spazio di distanza dai margini della linea, ma tra il primo e il secondo ci saranno 2 unità di spazio)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space-evenly </a:t>
            </a:r>
            <a:r>
              <a:rPr lang="en" sz="1300"/>
              <a:t>assegna lo stesso spazio a destra e sinistra, anche agli elementi accanto ai margini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https://codepen.io/team/css-tricks/pen/zzJMGJ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545" name="Google Shape;545;p5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57">
            <a:hlinkClick r:id="rId4"/>
          </p:cNvPr>
          <p:cNvSpPr/>
          <p:nvPr/>
        </p:nvSpPr>
        <p:spPr>
          <a:xfrm>
            <a:off x="0" y="5092700"/>
            <a:ext cx="6559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8"/>
          <p:cNvSpPr txBox="1"/>
          <p:nvPr>
            <p:ph type="title"/>
          </p:nvPr>
        </p:nvSpPr>
        <p:spPr>
          <a:xfrm>
            <a:off x="894559" y="810350"/>
            <a:ext cx="31482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il </a:t>
            </a:r>
            <a:r>
              <a:rPr lang="en"/>
              <a:t>genitore</a:t>
            </a:r>
            <a:endParaRPr/>
          </a:p>
        </p:txBody>
      </p:sp>
      <p:sp>
        <p:nvSpPr>
          <p:cNvPr id="552" name="Google Shape;552;p58"/>
          <p:cNvSpPr txBox="1"/>
          <p:nvPr>
            <p:ph idx="4294967295" type="body"/>
          </p:nvPr>
        </p:nvSpPr>
        <p:spPr>
          <a:xfrm>
            <a:off x="894550" y="1632900"/>
            <a:ext cx="3148200" cy="19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</a:rPr>
              <a:t>align-items</a:t>
            </a:r>
            <a:endParaRPr b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Definisce il modo in cui gli oggetti sono disposti lungo l’asse perpendicolare (si tratta dell’asse verticale se la direzione è row). Di default è impostato su </a:t>
            </a:r>
            <a:r>
              <a:rPr b="1" lang="en" sz="1300">
                <a:solidFill>
                  <a:srgbClr val="666666"/>
                </a:solidFill>
              </a:rPr>
              <a:t>stretch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</a:rPr>
              <a:t>baseline </a:t>
            </a:r>
            <a:r>
              <a:rPr lang="en" sz="1300">
                <a:solidFill>
                  <a:srgbClr val="666666"/>
                </a:solidFill>
              </a:rPr>
              <a:t>fa in modo che le linee di base del testo siano allineate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553" name="Google Shape;553;p5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4" name="Google Shape;554;p58"/>
          <p:cNvSpPr txBox="1"/>
          <p:nvPr/>
        </p:nvSpPr>
        <p:spPr>
          <a:xfrm>
            <a:off x="981675" y="3572400"/>
            <a:ext cx="3655200" cy="1223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lign-items: stretch | flex-start |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flex-end | center |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baseline;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5" name="Google Shape;555;p58"/>
          <p:cNvSpPr txBox="1"/>
          <p:nvPr/>
        </p:nvSpPr>
        <p:spPr>
          <a:xfrm>
            <a:off x="5450875" y="1378313"/>
            <a:ext cx="1409700" cy="11115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56" name="Google Shape;556;p58"/>
          <p:cNvSpPr/>
          <p:nvPr/>
        </p:nvSpPr>
        <p:spPr>
          <a:xfrm>
            <a:off x="5600875" y="1533188"/>
            <a:ext cx="370800" cy="822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8"/>
          <p:cNvSpPr/>
          <p:nvPr/>
        </p:nvSpPr>
        <p:spPr>
          <a:xfrm>
            <a:off x="6071875" y="1551663"/>
            <a:ext cx="233700" cy="8034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8"/>
          <p:cNvSpPr/>
          <p:nvPr/>
        </p:nvSpPr>
        <p:spPr>
          <a:xfrm flipH="1">
            <a:off x="6405775" y="1551663"/>
            <a:ext cx="264300" cy="8034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8"/>
          <p:cNvSpPr txBox="1"/>
          <p:nvPr/>
        </p:nvSpPr>
        <p:spPr>
          <a:xfrm>
            <a:off x="7282700" y="1378388"/>
            <a:ext cx="1409700" cy="11115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60" name="Google Shape;560;p58"/>
          <p:cNvSpPr txBox="1"/>
          <p:nvPr/>
        </p:nvSpPr>
        <p:spPr>
          <a:xfrm>
            <a:off x="5450875" y="1034413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stretch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1" name="Google Shape;561;p58"/>
          <p:cNvSpPr txBox="1"/>
          <p:nvPr/>
        </p:nvSpPr>
        <p:spPr>
          <a:xfrm>
            <a:off x="7282700" y="1034413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flex-start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2" name="Google Shape;562;p58"/>
          <p:cNvSpPr/>
          <p:nvPr/>
        </p:nvSpPr>
        <p:spPr>
          <a:xfrm>
            <a:off x="7456325" y="1523063"/>
            <a:ext cx="370800" cy="393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8"/>
          <p:cNvSpPr/>
          <p:nvPr/>
        </p:nvSpPr>
        <p:spPr>
          <a:xfrm>
            <a:off x="7927325" y="1512613"/>
            <a:ext cx="2337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8"/>
          <p:cNvSpPr/>
          <p:nvPr/>
        </p:nvSpPr>
        <p:spPr>
          <a:xfrm flipH="1">
            <a:off x="8261225" y="1523063"/>
            <a:ext cx="264300" cy="393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8"/>
          <p:cNvSpPr txBox="1"/>
          <p:nvPr/>
        </p:nvSpPr>
        <p:spPr>
          <a:xfrm>
            <a:off x="5450875" y="2997550"/>
            <a:ext cx="1409700" cy="11115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66" name="Google Shape;566;p58"/>
          <p:cNvSpPr txBox="1"/>
          <p:nvPr/>
        </p:nvSpPr>
        <p:spPr>
          <a:xfrm>
            <a:off x="5450875" y="2653600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flex-end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7" name="Google Shape;567;p58"/>
          <p:cNvSpPr/>
          <p:nvPr/>
        </p:nvSpPr>
        <p:spPr>
          <a:xfrm>
            <a:off x="5624500" y="3599425"/>
            <a:ext cx="370800" cy="393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8"/>
          <p:cNvSpPr/>
          <p:nvPr/>
        </p:nvSpPr>
        <p:spPr>
          <a:xfrm>
            <a:off x="6071875" y="3669325"/>
            <a:ext cx="2337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8"/>
          <p:cNvSpPr/>
          <p:nvPr/>
        </p:nvSpPr>
        <p:spPr>
          <a:xfrm flipH="1">
            <a:off x="6382150" y="3599425"/>
            <a:ext cx="264300" cy="393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8"/>
          <p:cNvSpPr txBox="1"/>
          <p:nvPr/>
        </p:nvSpPr>
        <p:spPr>
          <a:xfrm>
            <a:off x="7282700" y="2997575"/>
            <a:ext cx="1409700" cy="11115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71" name="Google Shape;571;p58"/>
          <p:cNvSpPr txBox="1"/>
          <p:nvPr/>
        </p:nvSpPr>
        <p:spPr>
          <a:xfrm>
            <a:off x="7282700" y="2653600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center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72" name="Google Shape;572;p58"/>
          <p:cNvSpPr/>
          <p:nvPr/>
        </p:nvSpPr>
        <p:spPr>
          <a:xfrm>
            <a:off x="7456325" y="3370850"/>
            <a:ext cx="370800" cy="393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8"/>
          <p:cNvSpPr/>
          <p:nvPr/>
        </p:nvSpPr>
        <p:spPr>
          <a:xfrm>
            <a:off x="7903700" y="3391450"/>
            <a:ext cx="2337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8"/>
          <p:cNvSpPr/>
          <p:nvPr/>
        </p:nvSpPr>
        <p:spPr>
          <a:xfrm flipH="1">
            <a:off x="8213975" y="3370850"/>
            <a:ext cx="264300" cy="393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8">
            <a:hlinkClick r:id="rId3"/>
          </p:cNvPr>
          <p:cNvSpPr/>
          <p:nvPr/>
        </p:nvSpPr>
        <p:spPr>
          <a:xfrm>
            <a:off x="0" y="5092700"/>
            <a:ext cx="6758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9"/>
          <p:cNvSpPr txBox="1"/>
          <p:nvPr>
            <p:ph type="title"/>
          </p:nvPr>
        </p:nvSpPr>
        <p:spPr>
          <a:xfrm>
            <a:off x="894559" y="810350"/>
            <a:ext cx="31482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il </a:t>
            </a:r>
            <a:r>
              <a:rPr lang="en"/>
              <a:t>genitore</a:t>
            </a:r>
            <a:endParaRPr/>
          </a:p>
        </p:txBody>
      </p:sp>
      <p:sp>
        <p:nvSpPr>
          <p:cNvPr id="581" name="Google Shape;581;p59"/>
          <p:cNvSpPr txBox="1"/>
          <p:nvPr>
            <p:ph idx="4294967295" type="body"/>
          </p:nvPr>
        </p:nvSpPr>
        <p:spPr>
          <a:xfrm>
            <a:off x="894550" y="1632900"/>
            <a:ext cx="31482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</a:rPr>
              <a:t>align-content</a:t>
            </a:r>
            <a:endParaRPr b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Organizza le righe di elementi sull’asse perpendicolare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Non ha effetto se c’è una sola riga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582" name="Google Shape;582;p5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59"/>
          <p:cNvSpPr txBox="1"/>
          <p:nvPr/>
        </p:nvSpPr>
        <p:spPr>
          <a:xfrm>
            <a:off x="981675" y="2965075"/>
            <a:ext cx="3655200" cy="16623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align-content: flex-start | flex-end |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center | space-between |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space-around |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space-evenly | stretch |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start | end | baseline;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4" name="Google Shape;584;p59"/>
          <p:cNvSpPr txBox="1"/>
          <p:nvPr/>
        </p:nvSpPr>
        <p:spPr>
          <a:xfrm>
            <a:off x="5430400" y="1378313"/>
            <a:ext cx="1409700" cy="11115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85" name="Google Shape;585;p59"/>
          <p:cNvSpPr/>
          <p:nvPr/>
        </p:nvSpPr>
        <p:spPr>
          <a:xfrm>
            <a:off x="5580400" y="1533188"/>
            <a:ext cx="3708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9"/>
          <p:cNvSpPr/>
          <p:nvPr/>
        </p:nvSpPr>
        <p:spPr>
          <a:xfrm>
            <a:off x="6051400" y="1533188"/>
            <a:ext cx="2337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9"/>
          <p:cNvSpPr/>
          <p:nvPr/>
        </p:nvSpPr>
        <p:spPr>
          <a:xfrm flipH="1">
            <a:off x="6385300" y="1533188"/>
            <a:ext cx="2643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9"/>
          <p:cNvSpPr txBox="1"/>
          <p:nvPr/>
        </p:nvSpPr>
        <p:spPr>
          <a:xfrm>
            <a:off x="7262225" y="1378388"/>
            <a:ext cx="1409700" cy="11115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89" name="Google Shape;589;p59"/>
          <p:cNvSpPr txBox="1"/>
          <p:nvPr/>
        </p:nvSpPr>
        <p:spPr>
          <a:xfrm>
            <a:off x="5430400" y="1034413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flex-start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0" name="Google Shape;590;p59"/>
          <p:cNvSpPr txBox="1"/>
          <p:nvPr/>
        </p:nvSpPr>
        <p:spPr>
          <a:xfrm>
            <a:off x="7262225" y="1034413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flex-end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1" name="Google Shape;591;p59"/>
          <p:cNvSpPr txBox="1"/>
          <p:nvPr/>
        </p:nvSpPr>
        <p:spPr>
          <a:xfrm>
            <a:off x="5430400" y="2997550"/>
            <a:ext cx="1409700" cy="11115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92" name="Google Shape;592;p59"/>
          <p:cNvSpPr txBox="1"/>
          <p:nvPr/>
        </p:nvSpPr>
        <p:spPr>
          <a:xfrm>
            <a:off x="5435588" y="2644863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stretch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3" name="Google Shape;593;p59"/>
          <p:cNvSpPr txBox="1"/>
          <p:nvPr/>
        </p:nvSpPr>
        <p:spPr>
          <a:xfrm>
            <a:off x="7262225" y="2997575"/>
            <a:ext cx="1409700" cy="11115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94" name="Google Shape;594;p59"/>
          <p:cNvSpPr txBox="1"/>
          <p:nvPr/>
        </p:nvSpPr>
        <p:spPr>
          <a:xfrm>
            <a:off x="7262225" y="2653613"/>
            <a:ext cx="1409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space-between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5" name="Google Shape;595;p59"/>
          <p:cNvSpPr/>
          <p:nvPr/>
        </p:nvSpPr>
        <p:spPr>
          <a:xfrm>
            <a:off x="5600650" y="1872438"/>
            <a:ext cx="3708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59"/>
          <p:cNvSpPr/>
          <p:nvPr/>
        </p:nvSpPr>
        <p:spPr>
          <a:xfrm>
            <a:off x="6071650" y="1872438"/>
            <a:ext cx="2337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59"/>
          <p:cNvSpPr/>
          <p:nvPr/>
        </p:nvSpPr>
        <p:spPr>
          <a:xfrm flipH="1">
            <a:off x="6405550" y="1872438"/>
            <a:ext cx="2643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59"/>
          <p:cNvSpPr/>
          <p:nvPr/>
        </p:nvSpPr>
        <p:spPr>
          <a:xfrm>
            <a:off x="7422350" y="1794838"/>
            <a:ext cx="3708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59"/>
          <p:cNvSpPr/>
          <p:nvPr/>
        </p:nvSpPr>
        <p:spPr>
          <a:xfrm>
            <a:off x="7893350" y="1794838"/>
            <a:ext cx="2337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9"/>
          <p:cNvSpPr/>
          <p:nvPr/>
        </p:nvSpPr>
        <p:spPr>
          <a:xfrm flipH="1">
            <a:off x="8227250" y="1794838"/>
            <a:ext cx="2643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9"/>
          <p:cNvSpPr/>
          <p:nvPr/>
        </p:nvSpPr>
        <p:spPr>
          <a:xfrm>
            <a:off x="7442600" y="2134088"/>
            <a:ext cx="3708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59"/>
          <p:cNvSpPr/>
          <p:nvPr/>
        </p:nvSpPr>
        <p:spPr>
          <a:xfrm>
            <a:off x="7913600" y="2134088"/>
            <a:ext cx="2337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9"/>
          <p:cNvSpPr/>
          <p:nvPr/>
        </p:nvSpPr>
        <p:spPr>
          <a:xfrm flipH="1">
            <a:off x="8247500" y="2134088"/>
            <a:ext cx="2643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9"/>
          <p:cNvSpPr/>
          <p:nvPr/>
        </p:nvSpPr>
        <p:spPr>
          <a:xfrm>
            <a:off x="5561725" y="3078013"/>
            <a:ext cx="370800" cy="478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59"/>
          <p:cNvSpPr/>
          <p:nvPr/>
        </p:nvSpPr>
        <p:spPr>
          <a:xfrm>
            <a:off x="6032725" y="3078013"/>
            <a:ext cx="233700" cy="478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59"/>
          <p:cNvSpPr/>
          <p:nvPr/>
        </p:nvSpPr>
        <p:spPr>
          <a:xfrm flipH="1">
            <a:off x="6366625" y="3078013"/>
            <a:ext cx="264300" cy="4782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9"/>
          <p:cNvSpPr/>
          <p:nvPr/>
        </p:nvSpPr>
        <p:spPr>
          <a:xfrm>
            <a:off x="5581975" y="3658163"/>
            <a:ext cx="370800" cy="393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9"/>
          <p:cNvSpPr/>
          <p:nvPr/>
        </p:nvSpPr>
        <p:spPr>
          <a:xfrm>
            <a:off x="6052975" y="3658163"/>
            <a:ext cx="233700" cy="393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9"/>
          <p:cNvSpPr/>
          <p:nvPr/>
        </p:nvSpPr>
        <p:spPr>
          <a:xfrm flipH="1">
            <a:off x="6386875" y="3658163"/>
            <a:ext cx="264300" cy="393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9"/>
          <p:cNvSpPr/>
          <p:nvPr/>
        </p:nvSpPr>
        <p:spPr>
          <a:xfrm>
            <a:off x="7389000" y="3066938"/>
            <a:ext cx="3708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9"/>
          <p:cNvSpPr/>
          <p:nvPr/>
        </p:nvSpPr>
        <p:spPr>
          <a:xfrm>
            <a:off x="7860000" y="3066938"/>
            <a:ext cx="2337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9"/>
          <p:cNvSpPr/>
          <p:nvPr/>
        </p:nvSpPr>
        <p:spPr>
          <a:xfrm flipH="1">
            <a:off x="8193900" y="3066938"/>
            <a:ext cx="2643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9"/>
          <p:cNvSpPr/>
          <p:nvPr/>
        </p:nvSpPr>
        <p:spPr>
          <a:xfrm>
            <a:off x="7409250" y="3787188"/>
            <a:ext cx="3708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9"/>
          <p:cNvSpPr/>
          <p:nvPr/>
        </p:nvSpPr>
        <p:spPr>
          <a:xfrm>
            <a:off x="7880250" y="3787188"/>
            <a:ext cx="2337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9"/>
          <p:cNvSpPr/>
          <p:nvPr/>
        </p:nvSpPr>
        <p:spPr>
          <a:xfrm flipH="1">
            <a:off x="8214150" y="3787188"/>
            <a:ext cx="264300" cy="2373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9">
            <a:hlinkClick r:id="rId3"/>
          </p:cNvPr>
          <p:cNvSpPr/>
          <p:nvPr/>
        </p:nvSpPr>
        <p:spPr>
          <a:xfrm>
            <a:off x="0" y="5092700"/>
            <a:ext cx="6957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align-items vs align-content</a:t>
            </a:r>
            <a:endParaRPr/>
          </a:p>
        </p:txBody>
      </p:sp>
      <p:sp>
        <p:nvSpPr>
          <p:cNvPr id="622" name="Google Shape;622;p60"/>
          <p:cNvSpPr txBox="1"/>
          <p:nvPr>
            <p:ph idx="1" type="body"/>
          </p:nvPr>
        </p:nvSpPr>
        <p:spPr>
          <a:xfrm>
            <a:off x="838250" y="1504950"/>
            <a:ext cx="5324100" cy="19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La differenza si percepisce quando ci sono più righe </a:t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Char char="▸"/>
            </a:pPr>
            <a:r>
              <a:rPr b="1" lang="en" sz="1500"/>
              <a:t>align-items</a:t>
            </a:r>
            <a:r>
              <a:rPr lang="en" sz="1500"/>
              <a:t> dispone gli elementi rispetto alla riga (se viene impostato su flex-end, ad esempio, gli elementi si posizionano attaccandosi al fondo della riga)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▸"/>
            </a:pPr>
            <a:r>
              <a:rPr b="1" lang="en" sz="1500"/>
              <a:t>align-content</a:t>
            </a:r>
            <a:r>
              <a:rPr lang="en" sz="1500"/>
              <a:t> gestisce lo spazio tra una riga e le altre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Provate a modificare le proprietà qua: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https://codepen.io/asim-coder/pen/WrMNWR</a:t>
            </a:r>
            <a:endParaRPr b="1" sz="1500"/>
          </a:p>
        </p:txBody>
      </p:sp>
      <p:sp>
        <p:nvSpPr>
          <p:cNvPr id="623" name="Google Shape;623;p6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4" name="Google Shape;624;p60">
            <a:hlinkClick r:id="rId4"/>
          </p:cNvPr>
          <p:cNvSpPr/>
          <p:nvPr/>
        </p:nvSpPr>
        <p:spPr>
          <a:xfrm>
            <a:off x="0" y="5092700"/>
            <a:ext cx="7156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 figli</a:t>
            </a:r>
            <a:endParaRPr/>
          </a:p>
        </p:txBody>
      </p:sp>
      <p:sp>
        <p:nvSpPr>
          <p:cNvPr id="630" name="Google Shape;630;p61"/>
          <p:cNvSpPr txBox="1"/>
          <p:nvPr>
            <p:ph idx="1" type="body"/>
          </p:nvPr>
        </p:nvSpPr>
        <p:spPr>
          <a:xfrm>
            <a:off x="838250" y="1504950"/>
            <a:ext cx="53241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order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flex-grow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flex-shrink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flex-basis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align-self</a:t>
            </a:r>
            <a:endParaRPr sz="1500"/>
          </a:p>
        </p:txBody>
      </p:sp>
      <p:sp>
        <p:nvSpPr>
          <p:cNvPr id="631" name="Google Shape;631;p6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2" name="Google Shape;632;p61">
            <a:hlinkClick r:id="rId3"/>
          </p:cNvPr>
          <p:cNvSpPr/>
          <p:nvPr/>
        </p:nvSpPr>
        <p:spPr>
          <a:xfrm>
            <a:off x="0" y="5092700"/>
            <a:ext cx="7355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2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i </a:t>
            </a:r>
            <a:r>
              <a:rPr lang="en"/>
              <a:t>figli</a:t>
            </a:r>
            <a:endParaRPr/>
          </a:p>
        </p:txBody>
      </p:sp>
      <p:sp>
        <p:nvSpPr>
          <p:cNvPr id="638" name="Google Shape;638;p62"/>
          <p:cNvSpPr txBox="1"/>
          <p:nvPr>
            <p:ph idx="1" type="body"/>
          </p:nvPr>
        </p:nvSpPr>
        <p:spPr>
          <a:xfrm>
            <a:off x="838250" y="1504950"/>
            <a:ext cx="5324100" cy="16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</a:rPr>
              <a:t>order</a:t>
            </a:r>
            <a:endParaRPr b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Può modificare l’ordine in cui compaiono gli elementi. 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Di base, questi si dispongono seguendo l’ordine in cui compaiono nel codice. 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Se un elemento ha, ad esempio, </a:t>
            </a:r>
            <a:r>
              <a:rPr b="1" lang="en" sz="1300">
                <a:solidFill>
                  <a:srgbClr val="666666"/>
                </a:solidFill>
              </a:rPr>
              <a:t>order: 4</a:t>
            </a:r>
            <a:r>
              <a:rPr lang="en" sz="1300">
                <a:solidFill>
                  <a:srgbClr val="666666"/>
                </a:solidFill>
              </a:rPr>
              <a:t>, questo tenterà di disporsi per quarto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639" name="Google Shape;639;p6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62"/>
          <p:cNvSpPr txBox="1"/>
          <p:nvPr/>
        </p:nvSpPr>
        <p:spPr>
          <a:xfrm>
            <a:off x="950975" y="3121050"/>
            <a:ext cx="36552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.item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order: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default 0 */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62">
            <a:hlinkClick r:id="rId3"/>
          </p:cNvPr>
          <p:cNvSpPr/>
          <p:nvPr/>
        </p:nvSpPr>
        <p:spPr>
          <a:xfrm>
            <a:off x="0" y="5092700"/>
            <a:ext cx="7553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3"/>
          <p:cNvSpPr txBox="1"/>
          <p:nvPr>
            <p:ph type="title"/>
          </p:nvPr>
        </p:nvSpPr>
        <p:spPr>
          <a:xfrm>
            <a:off x="894559" y="810350"/>
            <a:ext cx="31482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</a:t>
            </a:r>
            <a:r>
              <a:rPr lang="en"/>
              <a:t>i figli</a:t>
            </a:r>
            <a:endParaRPr/>
          </a:p>
        </p:txBody>
      </p:sp>
      <p:sp>
        <p:nvSpPr>
          <p:cNvPr id="647" name="Google Shape;647;p63"/>
          <p:cNvSpPr txBox="1"/>
          <p:nvPr>
            <p:ph idx="4294967295" type="body"/>
          </p:nvPr>
        </p:nvSpPr>
        <p:spPr>
          <a:xfrm>
            <a:off x="894550" y="1632900"/>
            <a:ext cx="3148200" cy="19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</a:rPr>
              <a:t>flex-grow</a:t>
            </a:r>
            <a:endParaRPr b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Permette ad un oggetto di crescere, se necessario. Accetta un valore che funge da proporzione 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Se tutti gli oggetti hanno </a:t>
            </a:r>
            <a:r>
              <a:rPr b="1" lang="en" sz="1300">
                <a:solidFill>
                  <a:srgbClr val="666666"/>
                </a:solidFill>
              </a:rPr>
              <a:t>flex-grow: 1</a:t>
            </a:r>
            <a:r>
              <a:rPr lang="en" sz="1300">
                <a:solidFill>
                  <a:srgbClr val="666666"/>
                </a:solidFill>
              </a:rPr>
              <a:t>, lo spazio sarà distribuito in modo equo. Un oggetto con valore 2 prenderà il doppio dello spazio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648" name="Google Shape;648;p6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9" name="Google Shape;649;p63"/>
          <p:cNvSpPr txBox="1"/>
          <p:nvPr/>
        </p:nvSpPr>
        <p:spPr>
          <a:xfrm>
            <a:off x="991900" y="3658175"/>
            <a:ext cx="36552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.item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flex-grow: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default 0 */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0" name="Google Shape;650;p63"/>
          <p:cNvSpPr txBox="1"/>
          <p:nvPr/>
        </p:nvSpPr>
        <p:spPr>
          <a:xfrm>
            <a:off x="5481575" y="2427050"/>
            <a:ext cx="31341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651" name="Google Shape;651;p63"/>
          <p:cNvSpPr/>
          <p:nvPr/>
        </p:nvSpPr>
        <p:spPr>
          <a:xfrm>
            <a:off x="5631581" y="2581923"/>
            <a:ext cx="36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63"/>
          <p:cNvSpPr/>
          <p:nvPr/>
        </p:nvSpPr>
        <p:spPr>
          <a:xfrm>
            <a:off x="6317102" y="2581925"/>
            <a:ext cx="144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63"/>
          <p:cNvSpPr/>
          <p:nvPr/>
        </p:nvSpPr>
        <p:spPr>
          <a:xfrm>
            <a:off x="8082658" y="2581923"/>
            <a:ext cx="36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63"/>
          <p:cNvSpPr txBox="1"/>
          <p:nvPr/>
        </p:nvSpPr>
        <p:spPr>
          <a:xfrm>
            <a:off x="5481575" y="2083150"/>
            <a:ext cx="115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flex-grow: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55" name="Google Shape;655;p63">
            <a:hlinkClick r:id="rId3"/>
          </p:cNvPr>
          <p:cNvSpPr/>
          <p:nvPr/>
        </p:nvSpPr>
        <p:spPr>
          <a:xfrm>
            <a:off x="0" y="5092700"/>
            <a:ext cx="7752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4"/>
          <p:cNvSpPr txBox="1"/>
          <p:nvPr>
            <p:ph type="title"/>
          </p:nvPr>
        </p:nvSpPr>
        <p:spPr>
          <a:xfrm>
            <a:off x="894559" y="810350"/>
            <a:ext cx="31482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</a:t>
            </a:r>
            <a:r>
              <a:rPr lang="en"/>
              <a:t>i figli</a:t>
            </a:r>
            <a:endParaRPr/>
          </a:p>
        </p:txBody>
      </p:sp>
      <p:sp>
        <p:nvSpPr>
          <p:cNvPr id="661" name="Google Shape;661;p64"/>
          <p:cNvSpPr txBox="1"/>
          <p:nvPr>
            <p:ph idx="4294967295" type="body"/>
          </p:nvPr>
        </p:nvSpPr>
        <p:spPr>
          <a:xfrm>
            <a:off x="894550" y="1632900"/>
            <a:ext cx="3148200" cy="24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</a:rPr>
              <a:t>flex-shrink</a:t>
            </a:r>
            <a:endParaRPr b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Imposta il fattore di restringimento di un elemento 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Se la dimensione di tutti gli elementi è maggiore del loro contenitore, gli elementi si restringono per adattarsi secondo il valore impostato di flex-shrink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Se shrink è 0, l’elemento non si restringe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662" name="Google Shape;662;p6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64"/>
          <p:cNvSpPr txBox="1"/>
          <p:nvPr/>
        </p:nvSpPr>
        <p:spPr>
          <a:xfrm>
            <a:off x="991900" y="4049400"/>
            <a:ext cx="36552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.item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flex-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shrink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default 1 */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4" name="Google Shape;664;p64"/>
          <p:cNvSpPr txBox="1"/>
          <p:nvPr/>
        </p:nvSpPr>
        <p:spPr>
          <a:xfrm>
            <a:off x="5319500" y="2427050"/>
            <a:ext cx="3134100" cy="6333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665" name="Google Shape;665;p64"/>
          <p:cNvSpPr/>
          <p:nvPr/>
        </p:nvSpPr>
        <p:spPr>
          <a:xfrm>
            <a:off x="5469450" y="2581925"/>
            <a:ext cx="29841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64"/>
          <p:cNvSpPr/>
          <p:nvPr/>
        </p:nvSpPr>
        <p:spPr>
          <a:xfrm>
            <a:off x="8558808" y="2581923"/>
            <a:ext cx="36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64"/>
          <p:cNvSpPr txBox="1"/>
          <p:nvPr/>
        </p:nvSpPr>
        <p:spPr>
          <a:xfrm>
            <a:off x="5319500" y="2083150"/>
            <a:ext cx="1379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flex-shrink: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68" name="Google Shape;668;p64">
            <a:hlinkClick r:id="rId3"/>
          </p:cNvPr>
          <p:cNvSpPr/>
          <p:nvPr/>
        </p:nvSpPr>
        <p:spPr>
          <a:xfrm>
            <a:off x="0" y="5092700"/>
            <a:ext cx="7951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</a:t>
            </a:r>
            <a:r>
              <a:rPr lang="en"/>
              <a:t>i figli</a:t>
            </a:r>
            <a:endParaRPr/>
          </a:p>
        </p:txBody>
      </p:sp>
      <p:sp>
        <p:nvSpPr>
          <p:cNvPr id="674" name="Google Shape;674;p65"/>
          <p:cNvSpPr txBox="1"/>
          <p:nvPr>
            <p:ph idx="1" type="body"/>
          </p:nvPr>
        </p:nvSpPr>
        <p:spPr>
          <a:xfrm>
            <a:off x="838250" y="1504950"/>
            <a:ext cx="5324100" cy="15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</a:rPr>
              <a:t>flex-basis</a:t>
            </a:r>
            <a:endParaRPr b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Definisce la dimensione di default di un elemento prima che lo spazio rimanente del contenitore venga distribuito 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Può essere una dimensione (20%, 5rem, etc.) o “auto”. In quest’ultimo caso vengono considerate le proprietà di larghezza e altezza dell’elemento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675" name="Google Shape;675;p6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65"/>
          <p:cNvSpPr txBox="1"/>
          <p:nvPr/>
        </p:nvSpPr>
        <p:spPr>
          <a:xfrm>
            <a:off x="950975" y="3044250"/>
            <a:ext cx="36552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.item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flex-basis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20%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default auto */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77" name="Google Shape;677;p65">
            <a:hlinkClick r:id="rId3"/>
          </p:cNvPr>
          <p:cNvSpPr/>
          <p:nvPr/>
        </p:nvSpPr>
        <p:spPr>
          <a:xfrm>
            <a:off x="0" y="5092700"/>
            <a:ext cx="8150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</a:t>
            </a:r>
            <a:r>
              <a:rPr lang="en"/>
              <a:t>i figli</a:t>
            </a:r>
            <a:endParaRPr/>
          </a:p>
        </p:txBody>
      </p:sp>
      <p:sp>
        <p:nvSpPr>
          <p:cNvPr id="683" name="Google Shape;683;p66"/>
          <p:cNvSpPr txBox="1"/>
          <p:nvPr>
            <p:ph idx="1" type="body"/>
          </p:nvPr>
        </p:nvSpPr>
        <p:spPr>
          <a:xfrm>
            <a:off x="838250" y="1504950"/>
            <a:ext cx="5324100" cy="1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</a:rPr>
              <a:t>flex-grow, flex-shrink, flex-basis</a:t>
            </a:r>
            <a:endParaRPr b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flex-basis si utilizza molto spesso insieme alle altre due proprietà. La forma contratta flex vi permette di definire rispettivamente flex-grow, flex-shrink, flex-basis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684" name="Google Shape;684;p6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5" name="Google Shape;685;p66"/>
          <p:cNvSpPr txBox="1"/>
          <p:nvPr/>
        </p:nvSpPr>
        <p:spPr>
          <a:xfrm>
            <a:off x="956075" y="2566950"/>
            <a:ext cx="6347100" cy="2320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.item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sarà minimo 200px, ma crescerà se ne avrà la possibilità */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flex: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sarà 200px al massimo e potrà contrarsi se necessario */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flex: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assumerà la dimensione dei contenuti e potrà crescere se avrà spazio */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flex: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auto;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/*default*/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flex: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auto;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86" name="Google Shape;686;p66">
            <a:hlinkClick r:id="rId3"/>
          </p:cNvPr>
          <p:cNvSpPr/>
          <p:nvPr/>
        </p:nvSpPr>
        <p:spPr>
          <a:xfrm>
            <a:off x="0" y="5092700"/>
            <a:ext cx="8349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Proprietà per </a:t>
            </a:r>
            <a:r>
              <a:rPr lang="en"/>
              <a:t>i figli</a:t>
            </a:r>
            <a:endParaRPr/>
          </a:p>
        </p:txBody>
      </p:sp>
      <p:sp>
        <p:nvSpPr>
          <p:cNvPr id="692" name="Google Shape;692;p67"/>
          <p:cNvSpPr txBox="1"/>
          <p:nvPr>
            <p:ph idx="1" type="body"/>
          </p:nvPr>
        </p:nvSpPr>
        <p:spPr>
          <a:xfrm>
            <a:off x="838250" y="1504950"/>
            <a:ext cx="53241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</a:rPr>
              <a:t>align-self</a:t>
            </a:r>
            <a:endParaRPr b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Permette di sovrascrivere, per un singolo elemento, la proprietà align-items impostata dal genitore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Ricordatevi che float, clear e vertical-align non avranno effetto su elementi flex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693" name="Google Shape;693;p6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4" name="Google Shape;694;p67"/>
          <p:cNvSpPr txBox="1"/>
          <p:nvPr/>
        </p:nvSpPr>
        <p:spPr>
          <a:xfrm>
            <a:off x="950950" y="2843400"/>
            <a:ext cx="61014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.item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align-self: auto | flex-start | flex-end | center | baseline | stretch;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95" name="Google Shape;695;p67">
            <a:hlinkClick r:id="rId3"/>
          </p:cNvPr>
          <p:cNvSpPr/>
          <p:nvPr/>
        </p:nvSpPr>
        <p:spPr>
          <a:xfrm>
            <a:off x="0" y="5092700"/>
            <a:ext cx="8547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8"/>
          <p:cNvSpPr txBox="1"/>
          <p:nvPr>
            <p:ph type="title"/>
          </p:nvPr>
        </p:nvSpPr>
        <p:spPr>
          <a:xfrm>
            <a:off x="838350" y="893500"/>
            <a:ext cx="5324100" cy="9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PER ESERCITARSI E APPROFONDIRE</a:t>
            </a:r>
            <a:endParaRPr/>
          </a:p>
        </p:txBody>
      </p:sp>
      <p:sp>
        <p:nvSpPr>
          <p:cNvPr id="701" name="Google Shape;701;p68"/>
          <p:cNvSpPr txBox="1"/>
          <p:nvPr>
            <p:ph idx="1" type="body"/>
          </p:nvPr>
        </p:nvSpPr>
        <p:spPr>
          <a:xfrm>
            <a:off x="838250" y="1872400"/>
            <a:ext cx="53241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Test your skills: Flexbox</a:t>
            </a:r>
            <a:endParaRPr sz="1500">
              <a:solidFill>
                <a:srgbClr val="66666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Basic concepts of flexbox</a:t>
            </a:r>
            <a:endParaRPr sz="1500">
              <a:solidFill>
                <a:srgbClr val="66666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linkClick r:id="rId5"/>
              </a:rPr>
              <a:t>What Happens When You Create A Flexbox Flex Container?</a:t>
            </a:r>
            <a:endParaRPr sz="1500">
              <a:solidFill>
                <a:srgbClr val="66666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A Complete Guide to Flexbox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702" name="Google Shape;702;p6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3" name="Google Shape;703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6150" y="1031100"/>
            <a:ext cx="248375" cy="2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8">
            <a:hlinkClick r:id="rId8"/>
          </p:cNvPr>
          <p:cNvSpPr/>
          <p:nvPr/>
        </p:nvSpPr>
        <p:spPr>
          <a:xfrm>
            <a:off x="0" y="5092700"/>
            <a:ext cx="8746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0" name="Google Shape;710;p6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RIFERIMENTI UTILI</a:t>
            </a:r>
            <a:endParaRPr/>
          </a:p>
        </p:txBody>
      </p:sp>
      <p:sp>
        <p:nvSpPr>
          <p:cNvPr id="711" name="Google Shape;711;p69"/>
          <p:cNvSpPr txBox="1"/>
          <p:nvPr>
            <p:ph idx="4294967295" type="body"/>
          </p:nvPr>
        </p:nvSpPr>
        <p:spPr>
          <a:xfrm>
            <a:off x="838250" y="1504950"/>
            <a:ext cx="5842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HTML elements reference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CSS selectors reference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linkClick r:id="rId5"/>
              </a:rPr>
              <a:t>CSS selector tester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FreeCodeCamp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linkClick r:id="rId7"/>
              </a:rPr>
              <a:t>Google</a:t>
            </a:r>
            <a:endParaRPr sz="1500"/>
          </a:p>
        </p:txBody>
      </p:sp>
      <p:pic>
        <p:nvPicPr>
          <p:cNvPr id="712" name="Google Shape;712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6150" y="969700"/>
            <a:ext cx="248375" cy="2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69">
            <a:hlinkClick r:id="rId9"/>
          </p:cNvPr>
          <p:cNvSpPr/>
          <p:nvPr/>
        </p:nvSpPr>
        <p:spPr>
          <a:xfrm>
            <a:off x="0" y="5092700"/>
            <a:ext cx="8945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0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</a:t>
            </a:r>
            <a:endParaRPr sz="3000"/>
          </a:p>
        </p:txBody>
      </p:sp>
      <p:grpSp>
        <p:nvGrpSpPr>
          <p:cNvPr id="719" name="Google Shape;719;p70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720" name="Google Shape;720;p70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70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2" name="Google Shape;722;p70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70"/>
          <p:cNvSpPr txBox="1"/>
          <p:nvPr>
            <p:ph type="ctrTitle"/>
          </p:nvPr>
        </p:nvSpPr>
        <p:spPr>
          <a:xfrm>
            <a:off x="682250" y="2416625"/>
            <a:ext cx="1754700" cy="3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ESERCITAZIONE 2</a:t>
            </a:r>
            <a:endParaRPr sz="1200"/>
          </a:p>
        </p:txBody>
      </p:sp>
      <p:sp>
        <p:nvSpPr>
          <p:cNvPr id="724" name="Google Shape;724;p70">
            <a:hlinkClick r:id="rId3"/>
          </p:cNvPr>
          <p:cNvSpPr/>
          <p:nvPr/>
        </p:nvSpPr>
        <p:spPr>
          <a:xfrm>
            <a:off x="0" y="5092700"/>
            <a:ext cx="9144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viragus template">
  <a:themeElements>
    <a:clrScheme name="Custom 347">
      <a:dk1>
        <a:srgbClr val="555555"/>
      </a:dk1>
      <a:lt1>
        <a:srgbClr val="FFFFFF"/>
      </a:lt1>
      <a:dk2>
        <a:srgbClr val="838383"/>
      </a:dk2>
      <a:lt2>
        <a:srgbClr val="FFFFFF"/>
      </a:lt2>
      <a:accent1>
        <a:srgbClr val="5D2C3E"/>
      </a:accent1>
      <a:accent2>
        <a:srgbClr val="EAAD38"/>
      </a:accent2>
      <a:accent3>
        <a:srgbClr val="035162"/>
      </a:accent3>
      <a:accent4>
        <a:srgbClr val="CC0000"/>
      </a:accent4>
      <a:accent5>
        <a:srgbClr val="FF9800"/>
      </a:accent5>
      <a:accent6>
        <a:srgbClr val="FFEB3B"/>
      </a:accent6>
      <a:hlink>
        <a:srgbClr val="2196F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