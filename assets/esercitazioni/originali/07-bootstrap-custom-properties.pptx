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Fira Code"/>
      <p:regular r:id="rId26"/>
      <p:bold r:id="rId27"/>
    </p:embeddedFont>
    <p:embeddedFont>
      <p:font typeface="Karla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7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Code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Karla-regular.fntdata"/><Relationship Id="rId27" Type="http://schemas.openxmlformats.org/officeDocument/2006/relationships/font" Target="fonts/FiraCod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Karl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Karla-boldItalic.fntdata"/><Relationship Id="rId30" Type="http://schemas.openxmlformats.org/officeDocument/2006/relationships/font" Target="fonts/Karla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621cb6a7f4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621cb6a7f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b23d5e08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b23d5e08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b23d5e084_0_6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b23d5e084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b23d5e0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b23d5e0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90bee280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90bee280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0bee2804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0bee2804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eb4c2a46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eb4c2a46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90bee2804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90bee2804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90bee2804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90bee2804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90bee28043_0_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90bee2804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90bee2804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90bee280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90bee2804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90bee2804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90bee2804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90bee2804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eb4c2a46f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eb4c2a46f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6e9097d0cf_0_2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6e9097d0c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90bee28043_0_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90bee2804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9caecedcd2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9caecedcd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1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2" name="Google Shape;32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Google Shape;33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8" name="Google Shape;38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4" name="Google Shape;44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+2 columns">
  <p:cSld name="TITLE_AND_TWO_COLUMNS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1" name="Google Shape;51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84100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367385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838250" y="1504950"/>
            <a:ext cx="55074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9" name="Google Shape;59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7" name="Google Shape;67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2" name="Google Shape;72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7" name="Google Shape;77;p13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r">
  <p:cSld name="BLANK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529500" y="556000"/>
            <a:ext cx="8085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01525" y="1515201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4944100" y="1582226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▸"/>
              <a:defRPr sz="1600">
                <a:solidFill>
                  <a:srgbClr val="FFFFFF"/>
                </a:solidFill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BLANK_1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full">
  <p:cSld name="BLANK_1_2">
    <p:bg>
      <p:bgPr>
        <a:solidFill>
          <a:srgbClr val="33333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838200" y="255000"/>
            <a:ext cx="7467600" cy="4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▸"/>
              <a:defRPr>
                <a:solidFill>
                  <a:srgbClr val="FFFFFF"/>
                </a:solidFill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8">
          <p15:clr>
            <a:srgbClr val="FA7B17"/>
          </p15:clr>
        </p15:guide>
        <p15:guide id="2" pos="52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BLANK_1_1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>
  <p:cSld name="BLANK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 flipH="1">
            <a:off x="0" y="159275"/>
            <a:ext cx="9143546" cy="499750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94" name="Google Shape;94;p18"/>
          <p:cNvSpPr/>
          <p:nvPr/>
        </p:nvSpPr>
        <p:spPr>
          <a:xfrm flipH="1">
            <a:off x="225" y="238925"/>
            <a:ext cx="9143546" cy="491804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861825" y="1455400"/>
            <a:ext cx="74058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▸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7">
          <p15:clr>
            <a:srgbClr val="FA7B17"/>
          </p15:clr>
        </p15:guide>
        <p15:guide id="2" pos="5193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BLANK_1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">
  <p:cSld name="BLANK_1_1_2">
    <p:bg>
      <p:bgPr>
        <a:solidFill>
          <a:srgbClr val="3333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1227210" y="-10450"/>
            <a:ext cx="7915701" cy="5164387"/>
            <a:chOff x="1113125" y="-10450"/>
            <a:chExt cx="8443415" cy="5164387"/>
          </a:xfrm>
        </p:grpSpPr>
        <p:sp>
          <p:nvSpPr>
            <p:cNvPr id="102" name="Google Shape;102;p20"/>
            <p:cNvSpPr/>
            <p:nvPr/>
          </p:nvSpPr>
          <p:spPr>
            <a:xfrm rot="10800000">
              <a:off x="11131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000000">
                <a:alpha val="7310"/>
              </a:srgbClr>
            </a:solidFill>
            <a:ln>
              <a:noFill/>
            </a:ln>
          </p:spPr>
        </p:sp>
        <p:sp>
          <p:nvSpPr>
            <p:cNvPr id="103" name="Google Shape;103;p20"/>
            <p:cNvSpPr/>
            <p:nvPr/>
          </p:nvSpPr>
          <p:spPr>
            <a:xfrm rot="10800000">
              <a:off x="13272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36375" y="1989650"/>
            <a:ext cx="1483200" cy="27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000"/>
              <a:buFont typeface="Fira Code"/>
              <a:buNone/>
              <a:defRPr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2692125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1">
  <p:cSld name="BLANK_1_1_2_1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0" y="0"/>
            <a:ext cx="2379000" cy="515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819450" y="1504950"/>
            <a:ext cx="58233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2377450" y="0"/>
            <a:ext cx="543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">
  <p:cSld name="TITLE_AND_BODY_1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838350" y="893500"/>
            <a:ext cx="7188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838250" y="1504950"/>
            <a:ext cx="75405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3">
  <p:cSld name="BLANK_1_5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3333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▸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#PROGRESS_BAR_I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#PROGRESS_BAR_I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#PROGRESS_BAR_I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#PROGRESS_BAR_I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#PROGRESS_BAR_I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#PROGRESS_BAR_I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#PROGRESS_BAR_I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#PROGRESS_BAR_I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#PROGRESS_BAR_I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etbootstrap.com/docs/5.3/customize/css-variables/" TargetMode="External"/><Relationship Id="rId4" Type="http://schemas.openxmlformats.org/officeDocument/2006/relationships/hyperlink" Target="#PROGRESS_BAR_I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tackblitz.com/edit/web-platform-zjytpn?file=index.html,styles.css" TargetMode="External"/><Relationship Id="rId4" Type="http://schemas.openxmlformats.org/officeDocument/2006/relationships/hyperlink" Target="#PROGRESS_BAR_I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ackblitz.com/edit/web-platform-bhvbuf?file=index.html,styles.css" TargetMode="External"/><Relationship Id="rId4" Type="http://schemas.openxmlformats.org/officeDocument/2006/relationships/hyperlink" Target="https://stackblitz.com/edit/web-platform-bhvbuf?file=index.html,styles.css" TargetMode="External"/><Relationship Id="rId5" Type="http://schemas.openxmlformats.org/officeDocument/2006/relationships/hyperlink" Target="#PROGRESS_BAR_I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stackblitz.com/edit/web-platform-lvs4zw?file=index.html,about.html,styles.css" TargetMode="External"/><Relationship Id="rId4" Type="http://schemas.openxmlformats.org/officeDocument/2006/relationships/hyperlink" Target="#PROGRESS_BAR_I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presentation/u/0/d/16J43FAwzCB8_qWiUo9W-OccNMJwY-ol33fjXH09YFmo/edit" TargetMode="External"/><Relationship Id="rId4" Type="http://schemas.openxmlformats.org/officeDocument/2006/relationships/hyperlink" Target="#PROGRESS_BAR_I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hyperlink" Target="#PROGRESS_BAR_I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#PROGRESS_BAR_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CVeDI (8 CFU)</a:t>
            </a:r>
            <a:r>
              <a:rPr lang="en"/>
              <a:t> </a:t>
            </a:r>
            <a:endParaRPr/>
          </a:p>
        </p:txBody>
      </p:sp>
      <p:grpSp>
        <p:nvGrpSpPr>
          <p:cNvPr id="125" name="Google Shape;125;p24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126" name="Google Shape;126;p24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8" name="Google Shape;128;p24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4"/>
          <p:cNvSpPr txBox="1"/>
          <p:nvPr/>
        </p:nvSpPr>
        <p:spPr>
          <a:xfrm>
            <a:off x="682250" y="2416625"/>
            <a:ext cx="2870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ESERCITAZIONE 7</a:t>
            </a:r>
            <a:endParaRPr b="1" sz="12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459" y="209475"/>
            <a:ext cx="885366" cy="96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4"/>
          <p:cNvGrpSpPr/>
          <p:nvPr/>
        </p:nvGrpSpPr>
        <p:grpSpPr>
          <a:xfrm>
            <a:off x="7075525" y="209475"/>
            <a:ext cx="935100" cy="965400"/>
            <a:chOff x="2211650" y="411500"/>
            <a:chExt cx="935100" cy="965400"/>
          </a:xfrm>
        </p:grpSpPr>
        <p:sp>
          <p:nvSpPr>
            <p:cNvPr id="132" name="Google Shape;132;p24"/>
            <p:cNvSpPr/>
            <p:nvPr/>
          </p:nvSpPr>
          <p:spPr>
            <a:xfrm>
              <a:off x="2211650" y="411500"/>
              <a:ext cx="935100" cy="96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" name="Google Shape;133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41325" y="456337"/>
              <a:ext cx="875725" cy="87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4"/>
          <p:cNvSpPr txBox="1"/>
          <p:nvPr/>
        </p:nvSpPr>
        <p:spPr>
          <a:xfrm>
            <a:off x="5802725" y="3214950"/>
            <a:ext cx="2948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 Guarnieri</a:t>
            </a:r>
            <a:endParaRPr b="1" sz="13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elia.guarnieri@unimib.it</a:t>
            </a:r>
            <a:endParaRPr b="1" i="1" sz="11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Personalizzare Bootstrap con le custom properties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Custom properties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Personalizzare Bootstrap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5">
            <a:hlinkClick r:id="rId3"/>
          </p:cNvPr>
          <p:cNvSpPr/>
          <p:nvPr/>
        </p:nvSpPr>
        <p:spPr>
          <a:xfrm>
            <a:off x="0" y="5092700"/>
            <a:ext cx="653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648300" y="1354750"/>
            <a:ext cx="40086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PROPERTIES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49" name="Google Shape;149;p26">
            <a:hlinkClick r:id="rId3"/>
          </p:cNvPr>
          <p:cNvSpPr/>
          <p:nvPr/>
        </p:nvSpPr>
        <p:spPr>
          <a:xfrm>
            <a:off x="0" y="5092700"/>
            <a:ext cx="1306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Cosa sono le variabili CSS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838250" y="1504950"/>
            <a:ext cx="5324100" cy="12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Le </a:t>
            </a:r>
            <a:r>
              <a:rPr b="1" lang="en" sz="1500"/>
              <a:t>custom properties</a:t>
            </a:r>
            <a:r>
              <a:rPr lang="en" sz="1500"/>
              <a:t> (talvolta chiamate variabili CSS) sono entità personalizzate che contengono valori specifici da riutilizzare in tutto il documento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Vengono impostate utilizzando la notazione </a:t>
            </a:r>
            <a:endParaRPr sz="1500"/>
          </a:p>
        </p:txBody>
      </p:sp>
      <p:sp>
        <p:nvSpPr>
          <p:cNvPr id="157" name="Google Shape;157;p27"/>
          <p:cNvSpPr txBox="1"/>
          <p:nvPr/>
        </p:nvSpPr>
        <p:spPr>
          <a:xfrm>
            <a:off x="940725" y="2741550"/>
            <a:ext cx="53241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--custom-property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value;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838350" y="3087750"/>
            <a:ext cx="53241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/>
              <a:t>Successivamente vi si accede con la funzione var()</a:t>
            </a:r>
            <a:endParaRPr sz="1500"/>
          </a:p>
        </p:txBody>
      </p:sp>
      <p:sp>
        <p:nvSpPr>
          <p:cNvPr id="159" name="Google Shape;159;p27"/>
          <p:cNvSpPr txBox="1"/>
          <p:nvPr/>
        </p:nvSpPr>
        <p:spPr>
          <a:xfrm>
            <a:off x="940725" y="3503250"/>
            <a:ext cx="53241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color: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--custom-property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27">
            <a:hlinkClick r:id="rId3"/>
          </p:cNvPr>
          <p:cNvSpPr/>
          <p:nvPr/>
        </p:nvSpPr>
        <p:spPr>
          <a:xfrm>
            <a:off x="0" y="5092700"/>
            <a:ext cx="1959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Perché?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838250" y="1504950"/>
            <a:ext cx="53241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I siti complessi hanno </a:t>
            </a:r>
            <a:r>
              <a:rPr b="1" lang="en" sz="1300"/>
              <a:t>quantità molto elevate di CSS, spesso con molti valori ripetuti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Lo stesso colore (e.g. #000) potrebbe essere utilizzato in centinaia di posti diversi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Se successivamente si cambia idea sul colore è necessario fare una ricerca globale nell’intero documento per sostituire il colore in tutte le proprietà dove lo si è utilizzato, mentre con l’utilizzo delle variabili CSS sarà necessario cambiare la sua definizione e il colore cambierà per l’intero documento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Un altro vantaggio risiede negli </a:t>
            </a:r>
            <a:r>
              <a:rPr b="1" lang="en" sz="1300"/>
              <a:t>identificatori semantici</a:t>
            </a:r>
            <a:r>
              <a:rPr lang="en" sz="1300"/>
              <a:t>, infatti, --primary-color è sicuramente più facile da capire e ricordare rispetto a #00ff00</a:t>
            </a:r>
            <a:endParaRPr sz="1300"/>
          </a:p>
        </p:txBody>
      </p:sp>
      <p:sp>
        <p:nvSpPr>
          <p:cNvPr id="168" name="Google Shape;168;p28">
            <a:hlinkClick r:id="rId3"/>
          </p:cNvPr>
          <p:cNvSpPr/>
          <p:nvPr/>
        </p:nvSpPr>
        <p:spPr>
          <a:xfrm>
            <a:off x="0" y="5092700"/>
            <a:ext cx="2612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Dichiarare una custom property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838250" y="1504950"/>
            <a:ext cx="5324100" cy="22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La dichiarazione di una custom property avviene scrivendo il nome della </a:t>
            </a:r>
            <a:r>
              <a:rPr b="1" lang="en" sz="1300"/>
              <a:t>custom property preceduto da due trattini</a:t>
            </a:r>
            <a:r>
              <a:rPr lang="en" sz="1300"/>
              <a:t> (--) e, dopo i due punti, </a:t>
            </a:r>
            <a:r>
              <a:rPr b="1" lang="en" sz="1300"/>
              <a:t>il valore che può essere qualunque valore CSS valido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Il selettore nel quale è dichiarata la custom property definisce lo scope (dove può essere utilizzata)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Generalmente le custom properties si dichiarano all’interno dello pseudo-elemento </a:t>
            </a:r>
            <a:r>
              <a:rPr b="1" lang="en" sz="1300"/>
              <a:t>:root</a:t>
            </a:r>
            <a:r>
              <a:rPr lang="en" sz="1300"/>
              <a:t> che rappresenta l’elemento radice (HTML) in modo tale che la custom property sia utilizzabile nell’intero documento </a:t>
            </a:r>
            <a:endParaRPr sz="1300"/>
          </a:p>
        </p:txBody>
      </p:sp>
      <p:sp>
        <p:nvSpPr>
          <p:cNvPr id="176" name="Google Shape;176;p29"/>
          <p:cNvSpPr txBox="1"/>
          <p:nvPr/>
        </p:nvSpPr>
        <p:spPr>
          <a:xfrm>
            <a:off x="940725" y="3747150"/>
            <a:ext cx="53241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:root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--custom-property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value;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29">
            <a:hlinkClick r:id="rId3"/>
          </p:cNvPr>
          <p:cNvSpPr/>
          <p:nvPr/>
        </p:nvSpPr>
        <p:spPr>
          <a:xfrm>
            <a:off x="0" y="5092700"/>
            <a:ext cx="3265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Dichiarare una custom property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838250" y="1504950"/>
            <a:ext cx="5324100" cy="1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È possibile dichiarare una custom property anche a livello locale (solo per il selettore utilizzato)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In questo caso la custom property sarà accessibile solo all’interno del selettore</a:t>
            </a:r>
            <a:endParaRPr sz="1300"/>
          </a:p>
        </p:txBody>
      </p:sp>
      <p:sp>
        <p:nvSpPr>
          <p:cNvPr id="185" name="Google Shape;185;p30"/>
          <p:cNvSpPr txBox="1"/>
          <p:nvPr/>
        </p:nvSpPr>
        <p:spPr>
          <a:xfrm>
            <a:off x="940725" y="2618250"/>
            <a:ext cx="53241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.my-class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--custom-property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value;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30">
            <a:hlinkClick r:id="rId3"/>
          </p:cNvPr>
          <p:cNvSpPr/>
          <p:nvPr/>
        </p:nvSpPr>
        <p:spPr>
          <a:xfrm>
            <a:off x="0" y="5092700"/>
            <a:ext cx="3265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Utilizzare</a:t>
            </a:r>
            <a:r>
              <a:rPr lang="en">
                <a:solidFill>
                  <a:srgbClr val="999999"/>
                </a:solidFill>
              </a:rPr>
              <a:t> una custom property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838250" y="1504950"/>
            <a:ext cx="5324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300"/>
              <a:t>Come detto precedentemente, l’utilizzo delle custom properties avviene attraverso la funzione var() che, come argomento, prende il nome della custom property precedentemente definita</a:t>
            </a:r>
            <a:endParaRPr sz="1300"/>
          </a:p>
        </p:txBody>
      </p:sp>
      <p:sp>
        <p:nvSpPr>
          <p:cNvPr id="194" name="Google Shape;194;p31"/>
          <p:cNvSpPr txBox="1"/>
          <p:nvPr/>
        </p:nvSpPr>
        <p:spPr>
          <a:xfrm>
            <a:off x="940725" y="2290050"/>
            <a:ext cx="53241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element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property: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--custom-property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838350" y="30751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300"/>
              <a:t>La funzione var() prende un secondo argomento il </a:t>
            </a:r>
            <a:r>
              <a:rPr b="1" lang="en" sz="1300"/>
              <a:t>fallback value </a:t>
            </a:r>
            <a:r>
              <a:rPr lang="en" sz="1300"/>
              <a:t>che viene utilizzato se la custom property non è definita</a:t>
            </a:r>
            <a:endParaRPr sz="1300"/>
          </a:p>
        </p:txBody>
      </p:sp>
      <p:sp>
        <p:nvSpPr>
          <p:cNvPr id="196" name="Google Shape;196;p31"/>
          <p:cNvSpPr txBox="1"/>
          <p:nvPr/>
        </p:nvSpPr>
        <p:spPr>
          <a:xfrm>
            <a:off x="940725" y="3660150"/>
            <a:ext cx="53241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element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property: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--custom-property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fallback-value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31">
            <a:hlinkClick r:id="rId3"/>
          </p:cNvPr>
          <p:cNvSpPr/>
          <p:nvPr/>
        </p:nvSpPr>
        <p:spPr>
          <a:xfrm>
            <a:off x="0" y="5092700"/>
            <a:ext cx="3918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/>
        </p:nvSpPr>
        <p:spPr>
          <a:xfrm>
            <a:off x="5286725" y="965800"/>
            <a:ext cx="3805200" cy="3636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:root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--primary-text-color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#c3c3c3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--primary-bg-color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#f4f4f4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.one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color: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--primary-text-color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background-color: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--primary-bg-color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.two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color: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--primary-text-color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background-color: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--primary-bg-color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32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Esempio custom property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Qualora decidessimo di cambiare i colori sarà sufficiente cambiarli nella definizione delle relative custom properties</a:t>
            </a:r>
            <a:endParaRPr/>
          </a:p>
        </p:txBody>
      </p:sp>
      <p:sp>
        <p:nvSpPr>
          <p:cNvPr id="206" name="Google Shape;206;p32">
            <a:hlinkClick r:id="rId3"/>
          </p:cNvPr>
          <p:cNvSpPr/>
          <p:nvPr/>
        </p:nvSpPr>
        <p:spPr>
          <a:xfrm>
            <a:off x="0" y="5092700"/>
            <a:ext cx="4572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ctrTitle"/>
          </p:nvPr>
        </p:nvSpPr>
        <p:spPr>
          <a:xfrm>
            <a:off x="648300" y="1354750"/>
            <a:ext cx="40086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Personalizzare Bootstrap</a:t>
            </a:r>
            <a:endParaRPr/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13" name="Google Shape;213;p33">
            <a:hlinkClick r:id="rId3"/>
          </p:cNvPr>
          <p:cNvSpPr/>
          <p:nvPr/>
        </p:nvSpPr>
        <p:spPr>
          <a:xfrm>
            <a:off x="0" y="5092700"/>
            <a:ext cx="5225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4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Custom properties e Bootstrap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838250" y="1504950"/>
            <a:ext cx="53241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Dalla versione 5, Bootstrap, espone molte custom properties nel CSS compilato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È possibile sovrascrivere le custom properties, o aggiungerne di nuove, per personalizzare Bootstrap a nostro piacimento</a:t>
            </a:r>
            <a:endParaRPr sz="1500"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838250" y="4334350"/>
            <a:ext cx="56886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https://getbootstrap.com/docs/5.3/customize/css-variables/</a:t>
            </a:r>
            <a:endParaRPr sz="1500"/>
          </a:p>
        </p:txBody>
      </p:sp>
      <p:sp>
        <p:nvSpPr>
          <p:cNvPr id="222" name="Google Shape;222;p34">
            <a:hlinkClick r:id="rId4"/>
          </p:cNvPr>
          <p:cNvSpPr/>
          <p:nvPr/>
        </p:nvSpPr>
        <p:spPr>
          <a:xfrm>
            <a:off x="0" y="5092700"/>
            <a:ext cx="5878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5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Sovrascrivere custom property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29" name="Google Shape;229;p35"/>
          <p:cNvSpPr txBox="1"/>
          <p:nvPr>
            <p:ph idx="4294967295" type="body"/>
          </p:nvPr>
        </p:nvSpPr>
        <p:spPr>
          <a:xfrm>
            <a:off x="5699950" y="4334350"/>
            <a:ext cx="1045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esempio</a:t>
            </a:r>
            <a:endParaRPr sz="1300"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838250" y="2419350"/>
            <a:ext cx="31482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In questo esempio vengono sovrascritti i colori white e black di Bootstrap e vengono cambiati i colori di sfondo e del testo del body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N.B.</a:t>
            </a:r>
            <a:br>
              <a:rPr lang="en" sz="1300"/>
            </a:br>
            <a:r>
              <a:rPr lang="en" sz="1300"/>
              <a:t>È possibile assegnare come valore di una custom property un’altra custom property precedentemente definita</a:t>
            </a:r>
            <a:endParaRPr sz="1300"/>
          </a:p>
        </p:txBody>
      </p:sp>
      <p:sp>
        <p:nvSpPr>
          <p:cNvPr id="231" name="Google Shape;231;p35"/>
          <p:cNvSpPr txBox="1"/>
          <p:nvPr/>
        </p:nvSpPr>
        <p:spPr>
          <a:xfrm>
            <a:off x="5699950" y="229360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:root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--bs-black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2E3440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--bs-white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eceff4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--bs-body-color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white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--bs-body-bg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black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35">
            <a:hlinkClick r:id="rId4"/>
          </p:cNvPr>
          <p:cNvSpPr/>
          <p:nvPr/>
        </p:nvSpPr>
        <p:spPr>
          <a:xfrm>
            <a:off x="0" y="5092700"/>
            <a:ext cx="6531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838250" y="2419350"/>
            <a:ext cx="31482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In questo esempio vengono aggiunti colori ai colori di default di Bootstrap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Viene poi creata una nuova variante di bottone basata su questi nuovi colori sfruttando le custom property esposte da Bootstrap per il componente button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/>
              <a:t>N.B.</a:t>
            </a:r>
            <a:br>
              <a:rPr lang="en" sz="1300"/>
            </a:br>
            <a:r>
              <a:rPr lang="en" sz="1300"/>
              <a:t>Le variabili definite nella classe .btn-custom-primary sono valide solo per questa classe</a:t>
            </a:r>
            <a:endParaRPr sz="1300"/>
          </a:p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6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Aggiungere</a:t>
            </a:r>
            <a:r>
              <a:rPr lang="en">
                <a:solidFill>
                  <a:srgbClr val="999999"/>
                </a:solidFill>
              </a:rPr>
              <a:t> custom property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40" name="Google Shape;240;p36"/>
          <p:cNvSpPr txBox="1"/>
          <p:nvPr>
            <p:ph idx="4294967295" type="body"/>
          </p:nvPr>
        </p:nvSpPr>
        <p:spPr>
          <a:xfrm>
            <a:off x="5699950" y="4364950"/>
            <a:ext cx="19476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E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sempio completo</a:t>
            </a:r>
            <a:endParaRPr sz="1300"/>
          </a:p>
        </p:txBody>
      </p:sp>
      <p:sp>
        <p:nvSpPr>
          <p:cNvPr id="241" name="Google Shape;241;p36"/>
          <p:cNvSpPr txBox="1"/>
          <p:nvPr/>
        </p:nvSpPr>
        <p:spPr>
          <a:xfrm>
            <a:off x="5516225" y="972900"/>
            <a:ext cx="35757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:root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--bs-black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2E3440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--bs-white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eceff4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--bs-violet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5e81ac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.btn-custom-primary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--bs-btn-font-weight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600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--bs-btn-color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--bs-white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--bs-btn-bg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--bs-violet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--bs-btn-border-color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--bs-violet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36">
            <a:hlinkClick r:id="rId5"/>
          </p:cNvPr>
          <p:cNvSpPr/>
          <p:nvPr/>
        </p:nvSpPr>
        <p:spPr>
          <a:xfrm>
            <a:off x="0" y="5092700"/>
            <a:ext cx="7184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idx="4294967295" type="body"/>
          </p:nvPr>
        </p:nvSpPr>
        <p:spPr>
          <a:xfrm>
            <a:off x="838250" y="1516975"/>
            <a:ext cx="54267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Per la maggior parte dei componenti, Bootstrap espone le variabili CSS utilizzate nel componente.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Il formato delle variabili è quello SCSS</a:t>
            </a:r>
            <a:endParaRPr sz="1300"/>
          </a:p>
        </p:txBody>
      </p:sp>
      <p:sp>
        <p:nvSpPr>
          <p:cNvPr id="248" name="Google Shape;248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49" name="Google Shape;249;p37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Personalizzazione dei componenti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861825" y="4447100"/>
            <a:ext cx="7405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Esempio completo di personalizzazione della Navbar</a:t>
            </a:r>
            <a:endParaRPr sz="1300"/>
          </a:p>
        </p:txBody>
      </p:sp>
      <p:sp>
        <p:nvSpPr>
          <p:cNvPr id="251" name="Google Shape;251;p37">
            <a:hlinkClick r:id="rId4"/>
          </p:cNvPr>
          <p:cNvSpPr/>
          <p:nvPr/>
        </p:nvSpPr>
        <p:spPr>
          <a:xfrm>
            <a:off x="0" y="5092700"/>
            <a:ext cx="7184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 txBox="1"/>
          <p:nvPr/>
        </p:nvSpPr>
        <p:spPr>
          <a:xfrm>
            <a:off x="940725" y="2398650"/>
            <a:ext cx="53241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--#{$prefix}navbar-padding-x: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value;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37"/>
          <p:cNvSpPr txBox="1"/>
          <p:nvPr>
            <p:ph idx="4294967295" type="body"/>
          </p:nvPr>
        </p:nvSpPr>
        <p:spPr>
          <a:xfrm>
            <a:off x="838250" y="3016000"/>
            <a:ext cx="54267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Il prefisso di Bootstrap è “bs”, quindi nell’uso pratico la variabile risulterà così</a:t>
            </a:r>
            <a:endParaRPr sz="1300"/>
          </a:p>
        </p:txBody>
      </p:sp>
      <p:sp>
        <p:nvSpPr>
          <p:cNvPr id="254" name="Google Shape;254;p37"/>
          <p:cNvSpPr txBox="1"/>
          <p:nvPr/>
        </p:nvSpPr>
        <p:spPr>
          <a:xfrm>
            <a:off x="940725" y="3601000"/>
            <a:ext cx="53241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--bs-navbar-padding-x: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value;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1</a:t>
            </a:r>
            <a:endParaRPr/>
          </a:p>
        </p:txBody>
      </p:sp>
      <p:sp>
        <p:nvSpPr>
          <p:cNvPr id="261" name="Google Shape;261;p38"/>
          <p:cNvSpPr txBox="1"/>
          <p:nvPr>
            <p:ph idx="4294967295" type="body"/>
          </p:nvPr>
        </p:nvSpPr>
        <p:spPr>
          <a:xfrm>
            <a:off x="838250" y="1504950"/>
            <a:ext cx="5842800" cy="3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Utilizzate Bootstrap per creare un mini-sito responsive composto da diverse pagine. Seguite le seguenti specifiche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Il sito dovrà essere composto da una homepage, da almeno una pagina di secondo livello e da almeno una pagina di terzo livello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La navigabilità tra le diverse pagine deve essere garantita da un elemento che rimanga costante (e.g. barra superiore / navbar / menù)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Ogni pagina dovrà avere un contenuto (testuale o multimediale)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Utilizzate più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utilities</a:t>
            </a:r>
            <a:r>
              <a:rPr lang="en" sz="1300"/>
              <a:t> possibile per margini, bordi, posizionamenti e dimensioni, e utilizzate le classi di Bootstrap per garantire la responsiveness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In una delle pagine a vostra scelta dovrete inserire una serie di immagini, utilizzando il componente carousel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In ogni pagina, esclusa la homepage, dovrete inoltre implementare le breadcrumbs per aiutare un potenziale utente a orientarsi nella gerarchia delle diverse pagine</a:t>
            </a:r>
            <a:endParaRPr sz="1300"/>
          </a:p>
        </p:txBody>
      </p:sp>
      <p:grpSp>
        <p:nvGrpSpPr>
          <p:cNvPr id="262" name="Google Shape;262;p38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263" name="Google Shape;263;p38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8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8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8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8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8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38">
            <a:hlinkClick r:id="rId4"/>
          </p:cNvPr>
          <p:cNvSpPr/>
          <p:nvPr/>
        </p:nvSpPr>
        <p:spPr>
          <a:xfrm>
            <a:off x="0" y="5092700"/>
            <a:ext cx="7837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1</a:t>
            </a:r>
            <a:endParaRPr/>
          </a:p>
        </p:txBody>
      </p:sp>
      <p:sp>
        <p:nvSpPr>
          <p:cNvPr id="276" name="Google Shape;276;p39"/>
          <p:cNvSpPr txBox="1"/>
          <p:nvPr>
            <p:ph idx="4294967295" type="body"/>
          </p:nvPr>
        </p:nvSpPr>
        <p:spPr>
          <a:xfrm>
            <a:off x="838250" y="1504950"/>
            <a:ext cx="5842800" cy="14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Seguite inoltre le seguenti specifiche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Il layout tra le diverse pagine deve mostrare una certa coerenza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Lo stile tra le diverse pagine deve mostrare una certa coerenza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Utilizzate le custom properties per personalizzare gli stili e creare nuovi componenti o nuove varianti dei componenti già esistenti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Ispiratevi al vostro progetto per definire l’aspetto di questo mini-sito</a:t>
            </a:r>
            <a:endParaRPr sz="1300"/>
          </a:p>
        </p:txBody>
      </p:sp>
      <p:grpSp>
        <p:nvGrpSpPr>
          <p:cNvPr id="277" name="Google Shape;277;p39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278" name="Google Shape;278;p39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9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9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9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9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9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p39">
            <a:hlinkClick r:id="rId3"/>
          </p:cNvPr>
          <p:cNvSpPr/>
          <p:nvPr/>
        </p:nvSpPr>
        <p:spPr>
          <a:xfrm>
            <a:off x="0" y="5092700"/>
            <a:ext cx="8490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</a:t>
            </a:r>
            <a:endParaRPr sz="3000"/>
          </a:p>
        </p:txBody>
      </p:sp>
      <p:grpSp>
        <p:nvGrpSpPr>
          <p:cNvPr id="290" name="Google Shape;290;p40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291" name="Google Shape;291;p40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0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93" name="Google Shape;293;p40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0"/>
          <p:cNvSpPr txBox="1"/>
          <p:nvPr>
            <p:ph type="ctrTitle"/>
          </p:nvPr>
        </p:nvSpPr>
        <p:spPr>
          <a:xfrm>
            <a:off x="682250" y="2416625"/>
            <a:ext cx="1754700" cy="3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ESERCITAZIONE 6</a:t>
            </a:r>
            <a:endParaRPr sz="1200"/>
          </a:p>
        </p:txBody>
      </p:sp>
      <p:sp>
        <p:nvSpPr>
          <p:cNvPr id="295" name="Google Shape;295;p40">
            <a:hlinkClick r:id="rId3"/>
          </p:cNvPr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viragus template">
  <a:themeElements>
    <a:clrScheme name="Custom 347">
      <a:dk1>
        <a:srgbClr val="555555"/>
      </a:dk1>
      <a:lt1>
        <a:srgbClr val="FFFFFF"/>
      </a:lt1>
      <a:dk2>
        <a:srgbClr val="838383"/>
      </a:dk2>
      <a:lt2>
        <a:srgbClr val="FFFFFF"/>
      </a:lt2>
      <a:accent1>
        <a:srgbClr val="5D2C3E"/>
      </a:accent1>
      <a:accent2>
        <a:srgbClr val="EAAD38"/>
      </a:accent2>
      <a:accent3>
        <a:srgbClr val="035162"/>
      </a:accent3>
      <a:accent4>
        <a:srgbClr val="CC0000"/>
      </a:accent4>
      <a:accent5>
        <a:srgbClr val="FF9800"/>
      </a:accent5>
      <a:accent6>
        <a:srgbClr val="FFEB3B"/>
      </a:accent6>
      <a:hlink>
        <a:srgbClr val="2196F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