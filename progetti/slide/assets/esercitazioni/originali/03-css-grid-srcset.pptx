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5143500" cx="9144000"/>
  <p:notesSz cx="6858000" cy="9144000"/>
  <p:embeddedFontLst>
    <p:embeddedFont>
      <p:font typeface="Montserrat"/>
      <p:regular r:id="rId42"/>
      <p:bold r:id="rId43"/>
      <p:italic r:id="rId44"/>
      <p:boldItalic r:id="rId45"/>
    </p:embeddedFont>
    <p:embeddedFont>
      <p:font typeface="Fira Code"/>
      <p:regular r:id="rId46"/>
      <p:bold r:id="rId47"/>
    </p:embeddedFont>
    <p:embeddedFont>
      <p:font typeface="Karla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Montserrat-regular.fntdata"/><Relationship Id="rId41" Type="http://schemas.openxmlformats.org/officeDocument/2006/relationships/slide" Target="slides/slide37.xml"/><Relationship Id="rId44" Type="http://schemas.openxmlformats.org/officeDocument/2006/relationships/font" Target="fonts/Montserrat-italic.fntdata"/><Relationship Id="rId43" Type="http://schemas.openxmlformats.org/officeDocument/2006/relationships/font" Target="fonts/Montserrat-bold.fntdata"/><Relationship Id="rId46" Type="http://schemas.openxmlformats.org/officeDocument/2006/relationships/font" Target="fonts/FiraCode-regular.fntdata"/><Relationship Id="rId45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Karla-regular.fntdata"/><Relationship Id="rId47" Type="http://schemas.openxmlformats.org/officeDocument/2006/relationships/font" Target="fonts/FiraCode-bold.fntdata"/><Relationship Id="rId49" Type="http://schemas.openxmlformats.org/officeDocument/2006/relationships/font" Target="fonts/Karl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Karla-boldItalic.fntdata"/><Relationship Id="rId50" Type="http://schemas.openxmlformats.org/officeDocument/2006/relationships/font" Target="fonts/Karla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621cb6a7f4_0_1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621cb6a7f4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b23d5e08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b23d5e08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9b23d5e084_0_6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9b23d5e084_0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b23d5e08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b23d5e08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90bee2804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90bee2804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9a6cfd783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9a6cfd78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9c01ca768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9c01ca768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9c01ca768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9c01ca768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9c01ca768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9c01ca768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9c01ca76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9c01ca76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9c01ca768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9c01ca76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9a6cfd783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9a6cfd783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9a6cfd783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9a6cfd78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9a6cfd783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9a6cfd783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9a6cfd783d_0_8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9a6cfd783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90bee2804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90bee2804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9a6cfd783d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9a6cfd783d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9a6cfd783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9a6cfd783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9a6cfd783d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9a6cfd783d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9a6cfd783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9a6cfd783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90bee2804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90bee2804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9a6cfd783d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9a6cfd783d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9a6cfd783d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9a6cfd783d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9a6cfd783d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9a6cfd783d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90bee28043_0_1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90bee2804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90bee2804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90bee280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9a6cfd783d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9a6cfd783d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9a6cfd783d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9a6cfd783d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9a6cfd783d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9a6cfd783d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9c01ca768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9c01ca768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9c01ca768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29c01ca768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19a6cfd783d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19a6cfd783d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9a6cfd783d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9a6cfd783d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9c01ca768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9c01ca768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6e9097d0cf_0_2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6e9097d0c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9a6cfd783d_0_3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9a6cfd783d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9caecedcd2_0_2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9caecedcd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648300" y="3175950"/>
            <a:ext cx="35307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15" name="Google Shape;15;p3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Google Shape;16;p3"/>
          <p:cNvSpPr txBox="1"/>
          <p:nvPr>
            <p:ph type="ctrTitle"/>
          </p:nvPr>
        </p:nvSpPr>
        <p:spPr>
          <a:xfrm>
            <a:off x="648300" y="1354750"/>
            <a:ext cx="35223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724950" y="3265700"/>
            <a:ext cx="1906200" cy="103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">
  <p:cSld name="TITLE_1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21892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1" name="Google Shape;21;p4"/>
          <p:cNvSpPr/>
          <p:nvPr/>
        </p:nvSpPr>
        <p:spPr>
          <a:xfrm>
            <a:off x="-9675" y="-9675"/>
            <a:ext cx="5276875" cy="5167075"/>
          </a:xfrm>
          <a:custGeom>
            <a:rect b="b" l="l" r="r" t="t"/>
            <a:pathLst>
              <a:path extrusionOk="0" h="206683" w="211075">
                <a:moveTo>
                  <a:pt x="387" y="0"/>
                </a:moveTo>
                <a:lnTo>
                  <a:pt x="0" y="206683"/>
                </a:lnTo>
                <a:lnTo>
                  <a:pt x="211075" y="206545"/>
                </a:lnTo>
                <a:lnTo>
                  <a:pt x="155812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838309" y="1807900"/>
            <a:ext cx="31482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50" y="2419350"/>
            <a:ext cx="31482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ig image">
  <p:cSld name="TITLE_1_2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2092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27" name="Google Shape;27;p5"/>
          <p:cNvSpPr/>
          <p:nvPr/>
        </p:nvSpPr>
        <p:spPr>
          <a:xfrm>
            <a:off x="-19350" y="-9675"/>
            <a:ext cx="3076750" cy="5167075"/>
          </a:xfrm>
          <a:custGeom>
            <a:rect b="b" l="l" r="r" t="t"/>
            <a:pathLst>
              <a:path extrusionOk="0" h="206683" w="123070">
                <a:moveTo>
                  <a:pt x="0" y="0"/>
                </a:moveTo>
                <a:lnTo>
                  <a:pt x="0" y="206683"/>
                </a:lnTo>
                <a:lnTo>
                  <a:pt x="123070" y="206545"/>
                </a:lnTo>
                <a:lnTo>
                  <a:pt x="67807" y="3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609704" y="4116875"/>
            <a:ext cx="1609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2" name="Google Shape;32;p6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Google Shape;33;p6"/>
          <p:cNvSpPr txBox="1"/>
          <p:nvPr/>
        </p:nvSpPr>
        <p:spPr>
          <a:xfrm>
            <a:off x="799645" y="697675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8250" y="16573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Montserrat"/>
              <a:buChar char="▸"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▹"/>
              <a:defRPr sz="2400">
                <a:latin typeface="Montserrat"/>
                <a:ea typeface="Montserrat"/>
                <a:cs typeface="Montserrat"/>
                <a:sym typeface="Montserrat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●"/>
              <a:defRPr sz="2400">
                <a:latin typeface="Montserrat"/>
                <a:ea typeface="Montserrat"/>
                <a:cs typeface="Montserrat"/>
                <a:sym typeface="Montserrat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○"/>
              <a:defRPr sz="2400">
                <a:latin typeface="Montserrat"/>
                <a:ea typeface="Montserrat"/>
                <a:cs typeface="Montserrat"/>
                <a:sym typeface="Montserrat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Char char="■"/>
              <a:defRPr sz="24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38" name="Google Shape;38;p7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44" name="Google Shape;44;p8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841001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3673842" y="1578025"/>
            <a:ext cx="2671800" cy="24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ody +2 columns">
  <p:cSld name="TITLE_AND_TWO_COLUMNS_2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1" name="Google Shape;51;p9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84100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3673850" y="2912023"/>
            <a:ext cx="2671800" cy="183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rtl="0">
              <a:spcBef>
                <a:spcPts val="600"/>
              </a:spcBef>
              <a:spcAft>
                <a:spcPts val="0"/>
              </a:spcAft>
              <a:buSzPts val="1500"/>
              <a:buChar char="▸"/>
              <a:defRPr sz="15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▹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838250" y="1504950"/>
            <a:ext cx="5507400" cy="12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59" name="Google Shape;59;p10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841000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043281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5245562" y="1600975"/>
            <a:ext cx="2094900" cy="24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67" name="Google Shape;67;p11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2" name="Google Shape;72;p12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841000" y="4025300"/>
            <a:ext cx="78459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74" name="Google Shape;74;p1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/>
          <p:nvPr/>
        </p:nvSpPr>
        <p:spPr>
          <a:xfrm>
            <a:off x="22860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77" name="Google Shape;77;p13"/>
          <p:cNvSpPr/>
          <p:nvPr/>
        </p:nvSpPr>
        <p:spPr>
          <a:xfrm>
            <a:off x="0" y="-10437"/>
            <a:ext cx="8229315" cy="5164387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er">
  <p:cSld name="BLANK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>
            <p:ph type="title"/>
          </p:nvPr>
        </p:nvSpPr>
        <p:spPr>
          <a:xfrm>
            <a:off x="529500" y="556000"/>
            <a:ext cx="8085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01525" y="1515201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4" name="Google Shape;84;p14"/>
          <p:cNvSpPr txBox="1"/>
          <p:nvPr>
            <p:ph idx="2" type="body"/>
          </p:nvPr>
        </p:nvSpPr>
        <p:spPr>
          <a:xfrm>
            <a:off x="4944100" y="1582226"/>
            <a:ext cx="3979200" cy="28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Char char="▸"/>
              <a:defRPr sz="1600">
                <a:solidFill>
                  <a:srgbClr val="FFFFFF"/>
                </a:solidFill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▹"/>
              <a:defRPr sz="1600">
                <a:solidFill>
                  <a:srgbClr val="FFFFFF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  <a:defRPr sz="1600">
                <a:solidFill>
                  <a:srgbClr val="FFFFFF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○"/>
              <a:defRPr sz="1600">
                <a:solidFill>
                  <a:srgbClr val="FFFFFF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■"/>
              <a:defRPr sz="16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2">
  <p:cSld name="BLANK_1_3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full">
  <p:cSld name="BLANK_1_2">
    <p:bg>
      <p:bgPr>
        <a:solidFill>
          <a:srgbClr val="33333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838200" y="255000"/>
            <a:ext cx="7467600" cy="46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▸"/>
              <a:defRPr>
                <a:solidFill>
                  <a:srgbClr val="FFFFFF"/>
                </a:solidFill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▹"/>
              <a:defRPr>
                <a:solidFill>
                  <a:srgbClr val="FFFFFF"/>
                </a:solidFill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●"/>
              <a:defRPr>
                <a:solidFill>
                  <a:srgbClr val="FFFFFF"/>
                </a:solidFill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○"/>
              <a:defRPr>
                <a:solidFill>
                  <a:srgbClr val="FFFFFF"/>
                </a:solidFill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Char char="■"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28">
          <p15:clr>
            <a:srgbClr val="FA7B17"/>
          </p15:clr>
        </p15:guide>
        <p15:guide id="2" pos="5232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1">
  <p:cSld name="BLANK_1_1">
    <p:bg>
      <p:bgPr>
        <a:noFill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">
  <p:cSld name="BLANK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/>
          <p:nvPr/>
        </p:nvSpPr>
        <p:spPr>
          <a:xfrm flipH="1">
            <a:off x="0" y="159275"/>
            <a:ext cx="9143546" cy="499750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rgbClr val="000000">
              <a:alpha val="7310"/>
            </a:srgbClr>
          </a:solidFill>
          <a:ln>
            <a:noFill/>
          </a:ln>
        </p:spPr>
      </p:sp>
      <p:sp>
        <p:nvSpPr>
          <p:cNvPr id="94" name="Google Shape;94;p18"/>
          <p:cNvSpPr/>
          <p:nvPr/>
        </p:nvSpPr>
        <p:spPr>
          <a:xfrm flipH="1">
            <a:off x="225" y="238925"/>
            <a:ext cx="9143546" cy="4918040"/>
          </a:xfrm>
          <a:custGeom>
            <a:rect b="b" l="l" r="r" t="t"/>
            <a:pathLst>
              <a:path extrusionOk="0" h="199900" w="364757">
                <a:moveTo>
                  <a:pt x="0" y="0"/>
                </a:moveTo>
                <a:lnTo>
                  <a:pt x="0" y="199900"/>
                </a:lnTo>
                <a:lnTo>
                  <a:pt x="364757" y="199900"/>
                </a:lnTo>
                <a:lnTo>
                  <a:pt x="364757" y="663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861825" y="1455400"/>
            <a:ext cx="74058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▸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▹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●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○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Karla"/>
              <a:buChar char="■"/>
              <a:defRPr sz="16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7">
          <p15:clr>
            <a:srgbClr val="FA7B17"/>
          </p15:clr>
        </p15:guide>
        <p15:guide id="2" pos="5193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BLANK_1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">
  <p:cSld name="BLANK_1_1_2">
    <p:bg>
      <p:bgPr>
        <a:solidFill>
          <a:srgbClr val="33333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1227210" y="-10450"/>
            <a:ext cx="7915701" cy="5164387"/>
            <a:chOff x="1113125" y="-10450"/>
            <a:chExt cx="8443415" cy="5164387"/>
          </a:xfrm>
        </p:grpSpPr>
        <p:sp>
          <p:nvSpPr>
            <p:cNvPr id="102" name="Google Shape;102;p20"/>
            <p:cNvSpPr/>
            <p:nvPr/>
          </p:nvSpPr>
          <p:spPr>
            <a:xfrm rot="10800000">
              <a:off x="11131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000000">
                <a:alpha val="7310"/>
              </a:srgbClr>
            </a:solidFill>
            <a:ln>
              <a:noFill/>
            </a:ln>
          </p:spPr>
        </p:sp>
        <p:sp>
          <p:nvSpPr>
            <p:cNvPr id="103" name="Google Shape;103;p20"/>
            <p:cNvSpPr/>
            <p:nvPr/>
          </p:nvSpPr>
          <p:spPr>
            <a:xfrm rot="10800000">
              <a:off x="1327225" y="-10450"/>
              <a:ext cx="8229315" cy="5164387"/>
            </a:xfrm>
            <a:custGeom>
              <a:rect b="b" l="l" r="r" t="t"/>
              <a:pathLst>
                <a:path extrusionOk="0" h="206122" w="328450">
                  <a:moveTo>
                    <a:pt x="0" y="0"/>
                  </a:moveTo>
                  <a:lnTo>
                    <a:pt x="0" y="206122"/>
                  </a:lnTo>
                  <a:lnTo>
                    <a:pt x="328450" y="206122"/>
                  </a:lnTo>
                  <a:lnTo>
                    <a:pt x="273309" y="3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subTitle"/>
          </p:nvPr>
        </p:nvSpPr>
        <p:spPr>
          <a:xfrm>
            <a:off x="336375" y="1989650"/>
            <a:ext cx="1483200" cy="27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600"/>
              </a:spcBef>
              <a:spcAft>
                <a:spcPts val="0"/>
              </a:spcAft>
              <a:buSzPts val="2000"/>
              <a:buFont typeface="Fira Code"/>
              <a:buNone/>
              <a:defRPr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Fira Code"/>
              <a:buNone/>
              <a:defRPr sz="1500"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2692125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g 1">
  <p:cSld name="BLANK_1_1_2_1">
    <p:bg>
      <p:bgPr>
        <a:noFill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0" y="0"/>
            <a:ext cx="2379000" cy="515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2669800" y="969700"/>
            <a:ext cx="59730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2819450" y="1504950"/>
            <a:ext cx="58233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3" name="Google Shape;113;p21"/>
          <p:cNvSpPr/>
          <p:nvPr/>
        </p:nvSpPr>
        <p:spPr>
          <a:xfrm>
            <a:off x="2377450" y="0"/>
            <a:ext cx="543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ample">
  <p:cSld name="TITLE_AND_BODY_1">
    <p:bg>
      <p:bgPr>
        <a:noFill/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838350" y="893500"/>
            <a:ext cx="71880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838250" y="1504950"/>
            <a:ext cx="75405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rtl="0">
              <a:spcBef>
                <a:spcPts val="600"/>
              </a:spcBef>
              <a:spcAft>
                <a:spcPts val="0"/>
              </a:spcAft>
              <a:buSzPts val="2000"/>
              <a:buChar char="▸"/>
              <a:defRPr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▹"/>
              <a:defRPr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 3">
  <p:cSld name="BLANK_1_5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rgbClr val="33333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41100"/>
            <a:ext cx="5185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ontserrat"/>
              <a:buNone/>
              <a:defRPr b="1" sz="24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52550"/>
            <a:ext cx="5185200" cy="22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▸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▹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●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○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Karla"/>
              <a:buChar char="■"/>
              <a:defRPr sz="2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b="1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#PROGRESS_BAR_I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#PROGRESS_BAR_I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thoughtco.com/css-vendor-prefixes-3466867" TargetMode="External"/><Relationship Id="rId4" Type="http://schemas.openxmlformats.org/officeDocument/2006/relationships/hyperlink" Target="https://caniuse.com/" TargetMode="External"/><Relationship Id="rId5" Type="http://schemas.openxmlformats.org/officeDocument/2006/relationships/hyperlink" Target="#PROGRESS_BAR_I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eveloper.mozilla.org/en-US/docs/Web/CSS/CSS_container_queries" TargetMode="External"/><Relationship Id="rId4" Type="http://schemas.openxmlformats.org/officeDocument/2006/relationships/hyperlink" Target="https://developer.mozilla.org/en-US/docs/Learn/CSS/Building_blocks/Values_and_units" TargetMode="External"/><Relationship Id="rId5" Type="http://schemas.openxmlformats.org/officeDocument/2006/relationships/hyperlink" Target="https://developer.mozilla.org/en-US/docs/Web/CSS/CSS_nesting" TargetMode="External"/><Relationship Id="rId6" Type="http://schemas.openxmlformats.org/officeDocument/2006/relationships/hyperlink" Target="https://developer.mozilla.org/en-US/docs/Web/CSS/CSS_logical_properties_and_values" TargetMode="External"/><Relationship Id="rId7" Type="http://schemas.openxmlformats.org/officeDocument/2006/relationships/hyperlink" Target="#PROGRESS_BAR_ID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mozilla.org/en-US/docs/Web/CSS/CSS_container_queries" TargetMode="External"/><Relationship Id="rId4" Type="http://schemas.openxmlformats.org/officeDocument/2006/relationships/hyperlink" Target="#PROGRESS_BAR_I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bram.us/2021/07/08/the-large-small-and-dynamic-viewports/" TargetMode="External"/><Relationship Id="rId4" Type="http://schemas.openxmlformats.org/officeDocument/2006/relationships/hyperlink" Target="#PROGRESS_BAR_I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etbootstrap.com/docs/5.3/utilities/spacing/" TargetMode="External"/><Relationship Id="rId4" Type="http://schemas.openxmlformats.org/officeDocument/2006/relationships/hyperlink" Target="https://developer.mozilla.org/en-US/docs/Web/CSS/CSS_logical_properties_and_values" TargetMode="External"/><Relationship Id="rId5" Type="http://schemas.openxmlformats.org/officeDocument/2006/relationships/hyperlink" Target="#PROGRESS_BAR_ID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mozilla.org/en-US/docs/Web/CSS/Nesting_selector" TargetMode="External"/><Relationship Id="rId4" Type="http://schemas.openxmlformats.org/officeDocument/2006/relationships/hyperlink" Target="#PROGRESS_BAR_ID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mozilla.org/en-US/docs/Web/CSS/object-fit" TargetMode="External"/><Relationship Id="rId4" Type="http://schemas.openxmlformats.org/officeDocument/2006/relationships/hyperlink" Target="https://developer.mozilla.org/en-US/docs/Web/CSS/clip-path" TargetMode="External"/><Relationship Id="rId5" Type="http://schemas.openxmlformats.org/officeDocument/2006/relationships/hyperlink" Target="https://developer.mozilla.org/en-US/docs/Web/CSS/columns" TargetMode="External"/><Relationship Id="rId6" Type="http://schemas.openxmlformats.org/officeDocument/2006/relationships/hyperlink" Target="https://developer.mozilla.org/en-US/docs/Web/CSS/aspect-ratio" TargetMode="External"/><Relationship Id="rId7" Type="http://schemas.openxmlformats.org/officeDocument/2006/relationships/hyperlink" Target="#PROGRESS_BAR_I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smashingmagazine.com/2021/10/object-fit-background-size-css/" TargetMode="External"/><Relationship Id="rId4" Type="http://schemas.openxmlformats.org/officeDocument/2006/relationships/hyperlink" Target="https://developer.mozilla.org/en-US/docs/Web/CSS/object-fit#try_it" TargetMode="External"/><Relationship Id="rId5" Type="http://schemas.openxmlformats.org/officeDocument/2006/relationships/hyperlink" Target="#PROGRESS_BAR_I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bennettfeely.com/clippy/" TargetMode="External"/><Relationship Id="rId4" Type="http://schemas.openxmlformats.org/officeDocument/2006/relationships/hyperlink" Target="https://developer.mozilla.org/en-US/docs/Web/CSS/clip-path#try_it" TargetMode="External"/><Relationship Id="rId5" Type="http://schemas.openxmlformats.org/officeDocument/2006/relationships/hyperlink" Target="#PROGRESS_BAR_ID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ackblitz.com/edit/web-platform-cx5rq5?file=index.html,styles.css,script.js" TargetMode="External"/><Relationship Id="rId4" Type="http://schemas.openxmlformats.org/officeDocument/2006/relationships/hyperlink" Target="https://stackblitz.com/edit/web-platform-cx5rq5?file=index.html,styles.css,script.js" TargetMode="External"/><Relationship Id="rId5" Type="http://schemas.openxmlformats.org/officeDocument/2006/relationships/hyperlink" Target="https://css-irl.info/aspect-ratio-is-great/" TargetMode="External"/><Relationship Id="rId6" Type="http://schemas.openxmlformats.org/officeDocument/2006/relationships/hyperlink" Target="https://developer.mozilla.org/en-US/docs/Web/CSS/aspect-ratio#try_it" TargetMode="External"/><Relationship Id="rId7" Type="http://schemas.openxmlformats.org/officeDocument/2006/relationships/hyperlink" Target="#PROGRESS_BAR_I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mozilla.org/en-US/docs/Web/CSS/columns#try_it" TargetMode="External"/><Relationship Id="rId4" Type="http://schemas.openxmlformats.org/officeDocument/2006/relationships/hyperlink" Target="#PROGRESS_BAR_ID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#PROGRESS_BAR_ID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ss-tricks.com/snippets/css/complete-guide-grid/" TargetMode="External"/><Relationship Id="rId4" Type="http://schemas.openxmlformats.org/officeDocument/2006/relationships/hyperlink" Target="#PROGRESS_BAR_ID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hyperlink" Target="#PROGRESS_BAR_ID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hyperlink" Target="#PROGRESS_BAR_ID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hyperlink" Target="#PROGRESS_BAR_I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stackblitz.com/edit/web-platform-89fvbe?file=index.html,styles.css,script.js" TargetMode="External"/><Relationship Id="rId4" Type="http://schemas.openxmlformats.org/officeDocument/2006/relationships/hyperlink" Target="https://css-tricks.com/look-ma-no-media-queries-responsive-layouts-using-css-grid/" TargetMode="External"/><Relationship Id="rId5" Type="http://schemas.openxmlformats.org/officeDocument/2006/relationships/hyperlink" Target="#PROGRESS_BAR_ID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hyperlink" Target="#PROGRESS_BAR_ID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hyperlink" Target="#PROGRESS_BAR_I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hyperlink" Target="#PROGRESS_BAR_ID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hyperlink" Target="#PROGRESS_BAR_ID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#PROGRESS_BAR_ID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mozilla.org/en-US/docs/Web/API/HTMLImageElement/srcset" TargetMode="External"/><Relationship Id="rId4" Type="http://schemas.openxmlformats.org/officeDocument/2006/relationships/hyperlink" Target="#PROGRESS_BAR_ID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hyperlink" Target="#PROGRESS_BAR_ID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hyperlink" Target="#PROGRESS_BAR_ID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hyperlink" Target="#PROGRESS_BAR_ID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hyperlink" Target="#PROGRESS_BAR_ID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hyperlink" Target="#PROGRESS_BAR_ID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hyperlink" Target="#PROGRESS_BAR_ID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hyperlink" Target="#PROGRESS_BAR_ID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hyperlink" Target="#PROGRESS_BAR_ID" TargetMode="External"/><Relationship Id="rId4" Type="http://schemas.openxmlformats.org/officeDocument/2006/relationships/hyperlink" Target="https://css-tricks.com/a-guide-to-the-responsive-images-syntax-in-html/" TargetMode="External"/><Relationship Id="rId5" Type="http://schemas.openxmlformats.org/officeDocument/2006/relationships/hyperlink" Target="https://www.smashingmagazine.com/2014/05/responsive-images-done-right-guide-picture-srcset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5.xml"/><Relationship Id="rId3" Type="http://schemas.openxmlformats.org/officeDocument/2006/relationships/hyperlink" Target="#PROGRESS_BAR_ID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6.xml"/><Relationship Id="rId3" Type="http://schemas.openxmlformats.org/officeDocument/2006/relationships/hyperlink" Target="#PROGRESS_BAR_ID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#PROGRESS_BAR_I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</a:rPr>
              <a:t>CVeDI (8 CFU)</a:t>
            </a:r>
            <a:r>
              <a:rPr lang="en"/>
              <a:t> </a:t>
            </a:r>
            <a:endParaRPr/>
          </a:p>
        </p:txBody>
      </p:sp>
      <p:grpSp>
        <p:nvGrpSpPr>
          <p:cNvPr id="125" name="Google Shape;125;p24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126" name="Google Shape;126;p24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4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3333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8" name="Google Shape;128;p24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4"/>
          <p:cNvSpPr txBox="1"/>
          <p:nvPr/>
        </p:nvSpPr>
        <p:spPr>
          <a:xfrm>
            <a:off x="682250" y="2416625"/>
            <a:ext cx="28701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ESERCITAZIONE 3</a:t>
            </a:r>
            <a:endParaRPr b="1" sz="12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2459" y="209475"/>
            <a:ext cx="885366" cy="96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4"/>
          <p:cNvGrpSpPr/>
          <p:nvPr/>
        </p:nvGrpSpPr>
        <p:grpSpPr>
          <a:xfrm>
            <a:off x="7075525" y="209475"/>
            <a:ext cx="935100" cy="965400"/>
            <a:chOff x="2211650" y="411500"/>
            <a:chExt cx="935100" cy="965400"/>
          </a:xfrm>
        </p:grpSpPr>
        <p:sp>
          <p:nvSpPr>
            <p:cNvPr id="132" name="Google Shape;132;p24"/>
            <p:cNvSpPr/>
            <p:nvPr/>
          </p:nvSpPr>
          <p:spPr>
            <a:xfrm>
              <a:off x="2211650" y="411500"/>
              <a:ext cx="935100" cy="965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3" name="Google Shape;133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41325" y="456337"/>
              <a:ext cx="875725" cy="8757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4"/>
          <p:cNvSpPr txBox="1"/>
          <p:nvPr/>
        </p:nvSpPr>
        <p:spPr>
          <a:xfrm>
            <a:off x="5802725" y="3214950"/>
            <a:ext cx="2948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 Guarnieri</a:t>
            </a:r>
            <a:endParaRPr b="1" sz="13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elia.guarnieri@unimib.it</a:t>
            </a:r>
            <a:endParaRPr b="1" i="1" sz="11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Nuove proprietà CSS, Grid e Srcset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838250" y="1504950"/>
            <a:ext cx="5324100" cy="22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Proprietà Css 2025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Grid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/>
              <a:t>Srcset</a:t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5">
            <a:hlinkClick r:id="rId3"/>
          </p:cNvPr>
          <p:cNvSpPr/>
          <p:nvPr/>
        </p:nvSpPr>
        <p:spPr>
          <a:xfrm>
            <a:off x="0" y="5092700"/>
            <a:ext cx="326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648300" y="1354750"/>
            <a:ext cx="40086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PROPRIETÀ CSS DA CONOSCERE NEL 2025</a:t>
            </a:r>
            <a:endParaRPr/>
          </a:p>
        </p:txBody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149" name="Google Shape;149;p26">
            <a:hlinkClick r:id="rId3"/>
          </p:cNvPr>
          <p:cNvSpPr/>
          <p:nvPr/>
        </p:nvSpPr>
        <p:spPr>
          <a:xfrm>
            <a:off x="0" y="5092700"/>
            <a:ext cx="653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CSS, compatibilità e prefissi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838250" y="1504950"/>
            <a:ext cx="5324100" cy="31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Periodicamente, vengono introdotte nuove proprietà CSS che non fanno parte fin da subito delle specifiche supportate da tutti i browser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I prefissi delle proprietà CSS, come "-webkit-", "-moz-" servono a coloro che sviluppano i browser (conosciuti come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vendors</a:t>
            </a:r>
            <a:r>
              <a:rPr lang="en" sz="1300"/>
              <a:t>) per </a:t>
            </a:r>
            <a:r>
              <a:rPr b="1" lang="en" sz="1300"/>
              <a:t>aggiungere nuove proprietà CSS in modo sicuro</a:t>
            </a:r>
            <a:r>
              <a:rPr lang="en" sz="1300"/>
              <a:t>, riservandosi una finestra temporale nella quale queste proprietà sono "sperimentali", in fase di test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Tutte queste proprietà faranno parte, prima o poi, delle specifiche. Utilizzare i prefissi permette allo sviluppatore front-end di avere un "accesso anticipato" a esse, garantendo al contempo la compatibilità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CanIUse</a:t>
            </a:r>
            <a:r>
              <a:rPr lang="en" sz="1300"/>
              <a:t> - per controllare la compatibilità</a:t>
            </a:r>
            <a:endParaRPr sz="1300"/>
          </a:p>
        </p:txBody>
      </p:sp>
      <p:sp>
        <p:nvSpPr>
          <p:cNvPr id="157" name="Google Shape;157;p27">
            <a:hlinkClick r:id="rId5"/>
          </p:cNvPr>
          <p:cNvSpPr/>
          <p:nvPr/>
        </p:nvSpPr>
        <p:spPr>
          <a:xfrm>
            <a:off x="0" y="5092700"/>
            <a:ext cx="979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3" name="Google Shape;163;p28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da tenere d’occhio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838250" y="1504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Container Queries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3"/>
              </a:rPr>
              <a:t>https://developer.mozilla.org/en-US/docs/container_queries</a:t>
            </a:r>
            <a:endParaRPr sz="1300"/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838350" y="2089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Dynamic Viewport Units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4"/>
              </a:rPr>
              <a:t>https://developer.mozilla.org/en-US/docs/CSS/Vlues_and_units</a:t>
            </a:r>
            <a:endParaRPr sz="1300"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838350" y="3259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CSS nesting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5"/>
              </a:rPr>
              <a:t>https://developer.mozilla.org/en-US/docs/Web/CSS/CSS_nesting</a:t>
            </a:r>
            <a:endParaRPr sz="1300"/>
          </a:p>
        </p:txBody>
      </p:sp>
      <p:sp>
        <p:nvSpPr>
          <p:cNvPr id="167" name="Google Shape;167;p28"/>
          <p:cNvSpPr txBox="1"/>
          <p:nvPr>
            <p:ph idx="1" type="body"/>
          </p:nvPr>
        </p:nvSpPr>
        <p:spPr>
          <a:xfrm>
            <a:off x="838350" y="2674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Logical Properties (Inline and Block)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6"/>
              </a:rPr>
              <a:t>https://developer.mozilla.org/en-US/docs/logical_properties</a:t>
            </a:r>
            <a:endParaRPr sz="1300"/>
          </a:p>
        </p:txBody>
      </p:sp>
      <p:sp>
        <p:nvSpPr>
          <p:cNvPr id="168" name="Google Shape;168;p28">
            <a:hlinkClick r:id="rId7"/>
          </p:cNvPr>
          <p:cNvSpPr/>
          <p:nvPr/>
        </p:nvSpPr>
        <p:spPr>
          <a:xfrm>
            <a:off x="0" y="5092700"/>
            <a:ext cx="1306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838350" y="571075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Container Queries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838250" y="1182525"/>
            <a:ext cx="5324100" cy="20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Le "container queries" ti permettono di applicare stili a un elemento in base alla dimensione del contenitore dell'elemento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Ad esempio, se un contenitore ha meno spazio disponibile nel contesto circostante, puoi nascondere alcuni elementi o utilizzare caratteri più piccoli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Le "container queries" sono </a:t>
            </a:r>
            <a:r>
              <a:rPr lang="en" sz="1300"/>
              <a:t>una alternativa</a:t>
            </a:r>
            <a:r>
              <a:rPr lang="en" sz="1300"/>
              <a:t> alle "media queries", che applicano stili agli elementi in base alla dimensione del viewport o ad altre caratteristiche del dispositivo</a:t>
            </a:r>
            <a:endParaRPr sz="1300"/>
          </a:p>
        </p:txBody>
      </p:sp>
      <p:sp>
        <p:nvSpPr>
          <p:cNvPr id="176" name="Google Shape;176;p29"/>
          <p:cNvSpPr txBox="1"/>
          <p:nvPr/>
        </p:nvSpPr>
        <p:spPr>
          <a:xfrm>
            <a:off x="940725" y="3400775"/>
            <a:ext cx="5324100" cy="13623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/* If the container is larger than 700px */</a:t>
            </a:r>
            <a:endParaRPr i="1" sz="900">
              <a:solidFill>
                <a:srgbClr val="5C637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@container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(min-width: 700px) {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.card</a:t>
            </a:r>
            <a:r>
              <a:rPr lang="en" sz="9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9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h2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  font-size: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2em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}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4923425" y="621475"/>
            <a:ext cx="14532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Per approfondire</a:t>
            </a:r>
            <a:endParaRPr sz="1300"/>
          </a:p>
        </p:txBody>
      </p:sp>
      <p:sp>
        <p:nvSpPr>
          <p:cNvPr id="178" name="Google Shape;178;p29">
            <a:hlinkClick r:id="rId4"/>
          </p:cNvPr>
          <p:cNvSpPr/>
          <p:nvPr/>
        </p:nvSpPr>
        <p:spPr>
          <a:xfrm>
            <a:off x="0" y="5092700"/>
            <a:ext cx="1632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30"/>
          <p:cNvSpPr txBox="1"/>
          <p:nvPr>
            <p:ph type="title"/>
          </p:nvPr>
        </p:nvSpPr>
        <p:spPr>
          <a:xfrm>
            <a:off x="838350" y="571075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Dynamic Viewport Units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838250" y="1182525"/>
            <a:ext cx="5324100" cy="15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Le Viewport Unit su mobile non tengono conto della barra di navigazione o di un eventuale bottom menu. Questo causa alcune problematiche di visualizzazione quando lo stato della pagina si aggiorna (e.g., scrollando la barra di navigazione si nasconde)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Sono quindi state introdotte delle nuove Viewport Units che tengono conto di questi elementi: small, large, dynamic viewport units</a:t>
            </a:r>
            <a:endParaRPr sz="1300"/>
          </a:p>
        </p:txBody>
      </p:sp>
      <p:sp>
        <p:nvSpPr>
          <p:cNvPr id="186" name="Google Shape;186;p30"/>
          <p:cNvSpPr txBox="1"/>
          <p:nvPr/>
        </p:nvSpPr>
        <p:spPr>
          <a:xfrm>
            <a:off x="940725" y="2821775"/>
            <a:ext cx="5324100" cy="115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element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property: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10dvh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900">
              <a:solidFill>
                <a:srgbClr val="D19A6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property: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10lvh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900">
              <a:solidFill>
                <a:srgbClr val="D19A6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property: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10svh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900">
              <a:solidFill>
                <a:srgbClr val="D19A6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i="1" sz="900">
              <a:solidFill>
                <a:srgbClr val="5C63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4955400" y="621475"/>
            <a:ext cx="14532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Per approfondire</a:t>
            </a:r>
            <a:endParaRPr sz="1300"/>
          </a:p>
        </p:txBody>
      </p:sp>
      <p:sp>
        <p:nvSpPr>
          <p:cNvPr id="188" name="Google Shape;188;p30">
            <a:hlinkClick r:id="rId4"/>
          </p:cNvPr>
          <p:cNvSpPr/>
          <p:nvPr/>
        </p:nvSpPr>
        <p:spPr>
          <a:xfrm>
            <a:off x="0" y="5092700"/>
            <a:ext cx="1632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1"/>
          <p:cNvSpPr txBox="1"/>
          <p:nvPr>
            <p:ph type="title"/>
          </p:nvPr>
        </p:nvSpPr>
        <p:spPr>
          <a:xfrm>
            <a:off x="838350" y="571075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Logical Properties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838250" y="1182525"/>
            <a:ext cx="5324100" cy="13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Le proprietà e i valori logici utilizzano i termini astratti "block" e "inline" per descrivere la direzione in cui fluiscono. Il significato fisico di questi termini dipende dalla modalità di scrittura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Lo stesso Bootstrap ha introdotto nelle ultime versione le logical properties (cfr.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Bootstrap spacing</a:t>
            </a:r>
            <a:r>
              <a:rPr lang="en" sz="1300"/>
              <a:t>)</a:t>
            </a:r>
            <a:endParaRPr sz="1300"/>
          </a:p>
        </p:txBody>
      </p:sp>
      <p:sp>
        <p:nvSpPr>
          <p:cNvPr id="196" name="Google Shape;196;p31"/>
          <p:cNvSpPr txBox="1"/>
          <p:nvPr/>
        </p:nvSpPr>
        <p:spPr>
          <a:xfrm>
            <a:off x="940725" y="2821775"/>
            <a:ext cx="5324100" cy="115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element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margin-block-start: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1rem</a:t>
            </a:r>
            <a:r>
              <a:rPr lang="en" sz="900">
                <a:solidFill>
                  <a:srgbClr val="ABB2BF"/>
                </a:solidFill>
                <a:highlight>
                  <a:srgbClr val="282C34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900">
              <a:solidFill>
                <a:srgbClr val="D19A6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margin-block-end: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2rem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900">
              <a:solidFill>
                <a:srgbClr val="D19A6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margin-inline: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3rem</a:t>
            </a:r>
            <a:r>
              <a:rPr lang="en" sz="900">
                <a:solidFill>
                  <a:srgbClr val="ABB2BF"/>
                </a:solidFill>
                <a:highlight>
                  <a:srgbClr val="282C34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900">
              <a:solidFill>
                <a:srgbClr val="D19A66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i="1" sz="900">
              <a:solidFill>
                <a:srgbClr val="5C63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4955400" y="621475"/>
            <a:ext cx="14532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Per approfondire</a:t>
            </a:r>
            <a:endParaRPr sz="1300"/>
          </a:p>
        </p:txBody>
      </p:sp>
      <p:sp>
        <p:nvSpPr>
          <p:cNvPr id="198" name="Google Shape;198;p31">
            <a:hlinkClick r:id="rId5"/>
          </p:cNvPr>
          <p:cNvSpPr/>
          <p:nvPr/>
        </p:nvSpPr>
        <p:spPr>
          <a:xfrm>
            <a:off x="0" y="5092700"/>
            <a:ext cx="1632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32"/>
          <p:cNvSpPr txBox="1"/>
          <p:nvPr>
            <p:ph type="title"/>
          </p:nvPr>
        </p:nvSpPr>
        <p:spPr>
          <a:xfrm>
            <a:off x="838350" y="571075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CSS Nesting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838250" y="1182525"/>
            <a:ext cx="5324100" cy="21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Il modulo di nidificazione CSS definisce una sintassi per la nidificazione dei selettori, offrendo la possibilità di annidare una regola di stile all'interno di un'altra. La nidificazione CSS è diversa dai preprocessori CSS come Sass nel senso che viene analizzata dal browser anziché essere precompilata da un preprocessore CSS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La nidificazione CSS aiuta nella leggibilità, modularità e manutenibilità dei fogli di stile CSS. Inoltre, potenzialmente aiuta a ridurre le dimensioni dei file CSS, riducendo così la quantità di dati scaricati dagli utenti</a:t>
            </a:r>
            <a:endParaRPr sz="1300"/>
          </a:p>
        </p:txBody>
      </p:sp>
      <p:sp>
        <p:nvSpPr>
          <p:cNvPr id="206" name="Google Shape;206;p32"/>
          <p:cNvSpPr txBox="1"/>
          <p:nvPr/>
        </p:nvSpPr>
        <p:spPr>
          <a:xfrm>
            <a:off x="838350" y="3296325"/>
            <a:ext cx="2673000" cy="13623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parentRule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i="1" lang="en" sz="9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/* parent rule style properties */</a:t>
            </a:r>
            <a:endParaRPr i="1" sz="900">
              <a:solidFill>
                <a:srgbClr val="5C637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9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&amp; childRule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  </a:t>
            </a:r>
            <a:r>
              <a:rPr i="1" lang="en" sz="9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/* child rule style properties */</a:t>
            </a:r>
            <a:endParaRPr i="1" sz="900">
              <a:solidFill>
                <a:srgbClr val="5C637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}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900">
              <a:solidFill>
                <a:srgbClr val="E06C75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4955400" y="621475"/>
            <a:ext cx="14532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Per approfondire</a:t>
            </a:r>
            <a:endParaRPr sz="1300"/>
          </a:p>
        </p:txBody>
      </p:sp>
      <p:sp>
        <p:nvSpPr>
          <p:cNvPr id="208" name="Google Shape;208;p32">
            <a:hlinkClick r:id="rId4"/>
          </p:cNvPr>
          <p:cNvSpPr/>
          <p:nvPr/>
        </p:nvSpPr>
        <p:spPr>
          <a:xfrm>
            <a:off x="0" y="5092700"/>
            <a:ext cx="1632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2"/>
          <p:cNvSpPr txBox="1"/>
          <p:nvPr/>
        </p:nvSpPr>
        <p:spPr>
          <a:xfrm>
            <a:off x="4128250" y="3192525"/>
            <a:ext cx="3218700" cy="15699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.parent-rule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i="1" lang="en" sz="9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/* parent rule style properties */</a:t>
            </a:r>
            <a:endParaRPr i="1" sz="900">
              <a:solidFill>
                <a:srgbClr val="5C637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.parent-rule</a:t>
            </a:r>
            <a:r>
              <a:rPr lang="en" sz="9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.child-rule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90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i="1" lang="en" sz="900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/* style properties for .child-rule descendants for .parent-rule ancestors */</a:t>
            </a:r>
            <a:endParaRPr i="1" sz="900">
              <a:solidFill>
                <a:srgbClr val="5C6370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900">
              <a:solidFill>
                <a:srgbClr val="C678DD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3692000" y="3885675"/>
            <a:ext cx="255600" cy="1836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3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generalmente supportate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838250" y="1504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Object-fit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3"/>
              </a:rPr>
              <a:t>https://developer.mozilla.org/en-US/docs/Web/CSS/object-fit</a:t>
            </a:r>
            <a:endParaRPr sz="1300"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838350" y="2089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Clip-path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4"/>
              </a:rPr>
              <a:t>https://developer.mozilla.org/en-US/docs/Web/CSS/clip-path</a:t>
            </a:r>
            <a:endParaRPr sz="1300"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838350" y="3259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Columns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5"/>
              </a:rPr>
              <a:t>https://developer.mozilla.org/en-US/docs/Web/CSS/columns</a:t>
            </a:r>
            <a:endParaRPr sz="1300"/>
          </a:p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>
            <a:off x="838350" y="2674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Aspect-ratio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6"/>
              </a:rPr>
              <a:t>https://developer.mozilla.org/en-US/docs/Web/CSS/aspect-ratio</a:t>
            </a:r>
            <a:endParaRPr sz="1300"/>
          </a:p>
        </p:txBody>
      </p:sp>
      <p:sp>
        <p:nvSpPr>
          <p:cNvPr id="221" name="Google Shape;221;p33">
            <a:hlinkClick r:id="rId7"/>
          </p:cNvPr>
          <p:cNvSpPr/>
          <p:nvPr/>
        </p:nvSpPr>
        <p:spPr>
          <a:xfrm>
            <a:off x="0" y="5092700"/>
            <a:ext cx="1306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4"/>
          <p:cNvSpPr txBox="1"/>
          <p:nvPr>
            <p:ph type="title"/>
          </p:nvPr>
        </p:nvSpPr>
        <p:spPr>
          <a:xfrm>
            <a:off x="838350" y="571075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Object-fit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28" name="Google Shape;228;p34"/>
          <p:cNvSpPr txBox="1"/>
          <p:nvPr>
            <p:ph idx="1" type="body"/>
          </p:nvPr>
        </p:nvSpPr>
        <p:spPr>
          <a:xfrm>
            <a:off x="838250" y="1182525"/>
            <a:ext cx="5324100" cy="23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La proprietà object-fit definisce il modo in cui un elemento si adatta all’altezza e alla larghezza del box che lo contiene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Si utilizza su elementi come </a:t>
            </a:r>
            <a:r>
              <a:rPr b="1" lang="en" sz="1300"/>
              <a:t>immagini e video</a:t>
            </a:r>
            <a:r>
              <a:rPr lang="en" sz="1300"/>
              <a:t>, e permette di acquisire il controllo su come l’elemento si “schiaccia” o si “allarga” nel suo contenitore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Per modificare l'allineamento dell'elemento ridimensionato rispetto al suo contenitore si può usare la proprietà </a:t>
            </a:r>
            <a:r>
              <a:rPr b="1" lang="en" sz="1300"/>
              <a:t>object-position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Per approfondire la differenza tra background-image e object -fit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ts val="1300"/>
              <a:buChar char="▸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A Deep Dive Into object-fit And background-size In CSS</a:t>
            </a:r>
            <a:endParaRPr sz="1300"/>
          </a:p>
        </p:txBody>
      </p:sp>
      <p:sp>
        <p:nvSpPr>
          <p:cNvPr id="229" name="Google Shape;229;p34"/>
          <p:cNvSpPr txBox="1"/>
          <p:nvPr/>
        </p:nvSpPr>
        <p:spPr>
          <a:xfrm>
            <a:off x="940725" y="3747150"/>
            <a:ext cx="5324100" cy="1223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height: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width: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object-fit: fill | contain | cover | none | scale-down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5613750" y="621475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Try it</a:t>
            </a:r>
            <a:endParaRPr sz="1300"/>
          </a:p>
        </p:txBody>
      </p:sp>
      <p:sp>
        <p:nvSpPr>
          <p:cNvPr id="231" name="Google Shape;231;p34">
            <a:hlinkClick r:id="rId5"/>
          </p:cNvPr>
          <p:cNvSpPr/>
          <p:nvPr/>
        </p:nvSpPr>
        <p:spPr>
          <a:xfrm>
            <a:off x="0" y="5092700"/>
            <a:ext cx="1632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5"/>
          <p:cNvSpPr txBox="1"/>
          <p:nvPr>
            <p:ph type="title"/>
          </p:nvPr>
        </p:nvSpPr>
        <p:spPr>
          <a:xfrm>
            <a:off x="838350" y="571075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Clip-path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838250" y="1182525"/>
            <a:ext cx="53241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clip-path permette di isolare nell’elemento la specifica regione che deve essere mostrata. Uno dei suoi utilizzi più semplici prevede la creazione di una regione sfruttando </a:t>
            </a:r>
            <a:r>
              <a:rPr b="1" lang="en" sz="1300"/>
              <a:t>semplici forme geometriche</a:t>
            </a:r>
            <a:r>
              <a:rPr lang="en" sz="1300"/>
              <a:t> (circle, ellipses, polygon)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Si può altrimenti utilizzare un SVG contenente un path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Un sito utile per creare particolari forme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Clippy — CSS clip-path maker</a:t>
            </a:r>
            <a:endParaRPr sz="1300"/>
          </a:p>
        </p:txBody>
      </p:sp>
      <p:sp>
        <p:nvSpPr>
          <p:cNvPr id="239" name="Google Shape;239;p35"/>
          <p:cNvSpPr txBox="1"/>
          <p:nvPr/>
        </p:nvSpPr>
        <p:spPr>
          <a:xfrm>
            <a:off x="940650" y="3024525"/>
            <a:ext cx="5221800" cy="16623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* Per mostrare soltanto una regione circolare di 60px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* di diametro posizionata al centro dell'immagine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*/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clip-path: </a:t>
            </a:r>
            <a:r>
              <a:rPr lang="en" sz="1050">
                <a:solidFill>
                  <a:srgbClr val="56B6C2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circle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(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60px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C678DD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center);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5613750" y="621475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4"/>
              </a:rPr>
              <a:t>Try it</a:t>
            </a:r>
            <a:endParaRPr sz="1300"/>
          </a:p>
        </p:txBody>
      </p:sp>
      <p:sp>
        <p:nvSpPr>
          <p:cNvPr id="241" name="Google Shape;241;p35">
            <a:hlinkClick r:id="rId5"/>
          </p:cNvPr>
          <p:cNvSpPr/>
          <p:nvPr/>
        </p:nvSpPr>
        <p:spPr>
          <a:xfrm>
            <a:off x="0" y="5092700"/>
            <a:ext cx="1959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36"/>
          <p:cNvSpPr txBox="1"/>
          <p:nvPr>
            <p:ph type="title"/>
          </p:nvPr>
        </p:nvSpPr>
        <p:spPr>
          <a:xfrm>
            <a:off x="838350" y="571075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Aspect-ratio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838250" y="1182525"/>
            <a:ext cx="5324100" cy="26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La proprietà CSS aspect-ratio imposta un </a:t>
            </a:r>
            <a:r>
              <a:rPr b="1" lang="en" sz="1300"/>
              <a:t>rapporto di aspetto preferito per il box</a:t>
            </a:r>
            <a:r>
              <a:rPr lang="en" sz="1300"/>
              <a:t>, che sarà utilizzato </a:t>
            </a:r>
            <a:r>
              <a:rPr b="1" lang="en" sz="1300"/>
              <a:t>nel calcolo delle dimensioni automatiche</a:t>
            </a:r>
            <a:r>
              <a:rPr lang="en" sz="1300"/>
              <a:t> e in alcune altre funzioni di layout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Se viene definita una dimensione, l’altra verrà calcolata in automatico in base al rapporto d’aspetto selezionato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Può essere un valido strumento da abbinare a object-fit nella creazione di immagini responsive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Per approfondire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▸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e</a:t>
            </a:r>
            <a:r>
              <a:rPr lang="en" sz="1300" u="sng">
                <a:solidFill>
                  <a:schemeClr val="hlink"/>
                </a:solidFill>
                <a:hlinkClick r:id="rId4"/>
              </a:rPr>
              <a:t>sempio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▸"/>
            </a:pPr>
            <a:r>
              <a:rPr lang="en" sz="1300" u="sng">
                <a:solidFill>
                  <a:schemeClr val="hlink"/>
                </a:solidFill>
                <a:hlinkClick r:id="rId5"/>
              </a:rPr>
              <a:t>Aspect Ratio is Great</a:t>
            </a:r>
            <a:endParaRPr sz="1300"/>
          </a:p>
        </p:txBody>
      </p:sp>
      <p:sp>
        <p:nvSpPr>
          <p:cNvPr id="249" name="Google Shape;249;p36"/>
          <p:cNvSpPr txBox="1"/>
          <p:nvPr/>
        </p:nvSpPr>
        <p:spPr>
          <a:xfrm>
            <a:off x="940650" y="3940575"/>
            <a:ext cx="5221800" cy="785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aspect-ratio: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/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img sarà quadrato */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36"/>
          <p:cNvSpPr txBox="1"/>
          <p:nvPr>
            <p:ph idx="1" type="body"/>
          </p:nvPr>
        </p:nvSpPr>
        <p:spPr>
          <a:xfrm>
            <a:off x="5613750" y="621475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6"/>
              </a:rPr>
              <a:t>Try it</a:t>
            </a:r>
            <a:endParaRPr sz="1300"/>
          </a:p>
        </p:txBody>
      </p:sp>
      <p:sp>
        <p:nvSpPr>
          <p:cNvPr id="251" name="Google Shape;251;p36">
            <a:hlinkClick r:id="rId7"/>
          </p:cNvPr>
          <p:cNvSpPr/>
          <p:nvPr/>
        </p:nvSpPr>
        <p:spPr>
          <a:xfrm>
            <a:off x="0" y="5092700"/>
            <a:ext cx="2286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7"/>
          <p:cNvSpPr txBox="1"/>
          <p:nvPr>
            <p:ph type="title"/>
          </p:nvPr>
        </p:nvSpPr>
        <p:spPr>
          <a:xfrm>
            <a:off x="838350" y="571075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Columns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838250" y="1182525"/>
            <a:ext cx="5324100" cy="23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Grazie a columns potete creare un layout ispirato alla stampa, dotato tuttavia della flessibilità necessaria sul web. 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La proprietà accetta i valori </a:t>
            </a:r>
            <a:r>
              <a:rPr b="1" lang="en" sz="1300"/>
              <a:t>column-count</a:t>
            </a:r>
            <a:r>
              <a:rPr lang="en" sz="1300"/>
              <a:t> (intero) o </a:t>
            </a:r>
            <a:r>
              <a:rPr b="1" lang="en" sz="1300"/>
              <a:t>column-width</a:t>
            </a:r>
            <a:r>
              <a:rPr lang="en" sz="1300"/>
              <a:t> (dimensione), o entrambe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Si può abbinare a </a:t>
            </a:r>
            <a:r>
              <a:rPr b="1" lang="en" sz="1300"/>
              <a:t>column-gap</a:t>
            </a:r>
            <a:r>
              <a:rPr lang="en" sz="1300"/>
              <a:t>, che indica lo spazio tra le colonne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Le colonne sono già responsive e non c’è bisogno di utilizzare media queries per cambiare il numero di colonne. Il browser userà la larghezza ottimale da noi specificata per decidere quando spostare una colonna sotto l’altra</a:t>
            </a:r>
            <a:endParaRPr sz="1300"/>
          </a:p>
        </p:txBody>
      </p:sp>
      <p:sp>
        <p:nvSpPr>
          <p:cNvPr id="259" name="Google Shape;259;p37"/>
          <p:cNvSpPr txBox="1"/>
          <p:nvPr/>
        </p:nvSpPr>
        <p:spPr>
          <a:xfrm>
            <a:off x="940650" y="3940575"/>
            <a:ext cx="5221800" cy="100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.testo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columns: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300px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3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crea tre colonne di 300px ciascuna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column-gap: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 </a:t>
            </a: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/* crea un gap di 10px tra ogni colonna */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5613750" y="621475"/>
            <a:ext cx="548700" cy="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Try it</a:t>
            </a:r>
            <a:endParaRPr sz="1300"/>
          </a:p>
        </p:txBody>
      </p:sp>
      <p:sp>
        <p:nvSpPr>
          <p:cNvPr id="261" name="Google Shape;261;p37">
            <a:hlinkClick r:id="rId4"/>
          </p:cNvPr>
          <p:cNvSpPr/>
          <p:nvPr/>
        </p:nvSpPr>
        <p:spPr>
          <a:xfrm>
            <a:off x="0" y="5092700"/>
            <a:ext cx="2612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>
            <p:ph type="ctrTitle"/>
          </p:nvPr>
        </p:nvSpPr>
        <p:spPr>
          <a:xfrm>
            <a:off x="648300" y="1354750"/>
            <a:ext cx="40086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</a:t>
            </a:r>
            <a:endParaRPr/>
          </a:p>
        </p:txBody>
      </p:sp>
      <p:sp>
        <p:nvSpPr>
          <p:cNvPr id="267" name="Google Shape;267;p3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68" name="Google Shape;268;p38">
            <a:hlinkClick r:id="rId3"/>
          </p:cNvPr>
          <p:cNvSpPr/>
          <p:nvPr/>
        </p:nvSpPr>
        <p:spPr>
          <a:xfrm>
            <a:off x="0" y="5092700"/>
            <a:ext cx="2939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Cos’è grid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75" name="Google Shape;275;p39"/>
          <p:cNvSpPr txBox="1"/>
          <p:nvPr>
            <p:ph idx="1" type="body"/>
          </p:nvPr>
        </p:nvSpPr>
        <p:spPr>
          <a:xfrm>
            <a:off x="838250" y="1504950"/>
            <a:ext cx="53241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Il grid layout di CSS è un potente strumento per creare layout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Al contrario di flexbox, che si basa su una sola dimensione, grid è “bidimensionale”, permettendo di gestire righe e colonne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Le regole si possono applicare a un elemento genitore (il </a:t>
            </a:r>
            <a:r>
              <a:rPr b="1" lang="en" sz="1500"/>
              <a:t>contenitore grid</a:t>
            </a:r>
            <a:r>
              <a:rPr lang="en" sz="1500"/>
              <a:t>) e agli elementi figli (i </a:t>
            </a:r>
            <a:r>
              <a:rPr b="1" lang="en" sz="1500"/>
              <a:t>grid items</a:t>
            </a:r>
            <a:r>
              <a:rPr lang="en" sz="1500"/>
              <a:t>)</a:t>
            </a:r>
            <a:endParaRPr sz="1500"/>
          </a:p>
        </p:txBody>
      </p:sp>
      <p:sp>
        <p:nvSpPr>
          <p:cNvPr id="276" name="Google Shape;276;p39"/>
          <p:cNvSpPr txBox="1"/>
          <p:nvPr>
            <p:ph idx="1" type="body"/>
          </p:nvPr>
        </p:nvSpPr>
        <p:spPr>
          <a:xfrm>
            <a:off x="838250" y="4119775"/>
            <a:ext cx="53241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Reference</a:t>
            </a:r>
            <a:endParaRPr sz="1500"/>
          </a:p>
        </p:txBody>
      </p:sp>
      <p:sp>
        <p:nvSpPr>
          <p:cNvPr id="277" name="Google Shape;277;p39">
            <a:hlinkClick r:id="rId4"/>
          </p:cNvPr>
          <p:cNvSpPr/>
          <p:nvPr/>
        </p:nvSpPr>
        <p:spPr>
          <a:xfrm>
            <a:off x="0" y="5092700"/>
            <a:ext cx="3265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4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per il genitore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838250" y="1504950"/>
            <a:ext cx="53241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Per dichiarare un contenitore grid basta assegnargli </a:t>
            </a:r>
            <a:r>
              <a:rPr b="1" lang="en" sz="1500"/>
              <a:t>display: grid;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Al genitore possono essere dunque assegnate diverse proprietà, tra cui: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grid-template-columns e grid-template-rows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grid-template-areas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column-gap e row-gap</a:t>
            </a:r>
            <a:endParaRPr sz="1500"/>
          </a:p>
        </p:txBody>
      </p:sp>
      <p:sp>
        <p:nvSpPr>
          <p:cNvPr id="285" name="Google Shape;285;p40">
            <a:hlinkClick r:id="rId3"/>
          </p:cNvPr>
          <p:cNvSpPr/>
          <p:nvPr/>
        </p:nvSpPr>
        <p:spPr>
          <a:xfrm>
            <a:off x="0" y="5092700"/>
            <a:ext cx="3592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291" name="Google Shape;291;p41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grid-template-columns e</a:t>
            </a:r>
            <a:br>
              <a:rPr lang="en">
                <a:solidFill>
                  <a:srgbClr val="999999"/>
                </a:solidFill>
              </a:rPr>
            </a:br>
            <a:r>
              <a:rPr lang="en">
                <a:solidFill>
                  <a:srgbClr val="999999"/>
                </a:solidFill>
              </a:rPr>
              <a:t>grid-template-row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292" name="Google Shape;292;p41"/>
          <p:cNvSpPr txBox="1"/>
          <p:nvPr>
            <p:ph idx="4294967295" type="body"/>
          </p:nvPr>
        </p:nvSpPr>
        <p:spPr>
          <a:xfrm>
            <a:off x="838250" y="1464800"/>
            <a:ext cx="3906000" cy="15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Queste proprietà definiscono le righe e le colonne della vostra griglia, grazie ad una lista di valori separati da uno spazio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Ogni valore rappresenta le dimensioni della vostra colonna o della vostra riga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Gli spazi tra colonne e righe sono detti linee </a:t>
            </a:r>
            <a:endParaRPr sz="1300"/>
          </a:p>
        </p:txBody>
      </p:sp>
      <p:sp>
        <p:nvSpPr>
          <p:cNvPr id="293" name="Google Shape;293;p41"/>
          <p:cNvSpPr txBox="1"/>
          <p:nvPr/>
        </p:nvSpPr>
        <p:spPr>
          <a:xfrm>
            <a:off x="876375" y="3089700"/>
            <a:ext cx="3906000" cy="100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grid-template-columns: auto auto auto auto;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grid-template-rows: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250px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150px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grpSp>
        <p:nvGrpSpPr>
          <p:cNvPr id="294" name="Google Shape;294;p41"/>
          <p:cNvGrpSpPr/>
          <p:nvPr/>
        </p:nvGrpSpPr>
        <p:grpSpPr>
          <a:xfrm>
            <a:off x="6408075" y="1711650"/>
            <a:ext cx="1874100" cy="2221800"/>
            <a:chOff x="6309775" y="2528050"/>
            <a:chExt cx="1874100" cy="2221800"/>
          </a:xfrm>
        </p:grpSpPr>
        <p:sp>
          <p:nvSpPr>
            <p:cNvPr id="295" name="Google Shape;295;p41"/>
            <p:cNvSpPr txBox="1"/>
            <p:nvPr/>
          </p:nvSpPr>
          <p:spPr>
            <a:xfrm rot="-5400000">
              <a:off x="6135925" y="2701900"/>
              <a:ext cx="2221800" cy="1874100"/>
            </a:xfrm>
            <a:prstGeom prst="rect">
              <a:avLst/>
            </a:prstGeom>
            <a:solidFill>
              <a:srgbClr val="8BC34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t/>
              </a:r>
              <a:endParaRPr sz="3600">
                <a:highlight>
                  <a:srgbClr val="FFEB3B"/>
                </a:highlight>
              </a:endParaRPr>
            </a:p>
          </p:txBody>
        </p:sp>
        <p:sp>
          <p:nvSpPr>
            <p:cNvPr id="296" name="Google Shape;296;p41"/>
            <p:cNvSpPr/>
            <p:nvPr/>
          </p:nvSpPr>
          <p:spPr>
            <a:xfrm rot="-5400000">
              <a:off x="7585148" y="4134294"/>
              <a:ext cx="5643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41"/>
            <p:cNvSpPr/>
            <p:nvPr/>
          </p:nvSpPr>
          <p:spPr>
            <a:xfrm rot="-5400000">
              <a:off x="7492298" y="3373590"/>
              <a:ext cx="7500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1"/>
            <p:cNvSpPr/>
            <p:nvPr/>
          </p:nvSpPr>
          <p:spPr>
            <a:xfrm rot="-5400000">
              <a:off x="7681898" y="2709717"/>
              <a:ext cx="3708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1"/>
            <p:cNvSpPr/>
            <p:nvPr/>
          </p:nvSpPr>
          <p:spPr>
            <a:xfrm rot="-5400000">
              <a:off x="7174893" y="4130256"/>
              <a:ext cx="5643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1"/>
            <p:cNvSpPr/>
            <p:nvPr/>
          </p:nvSpPr>
          <p:spPr>
            <a:xfrm rot="-5400000">
              <a:off x="7082043" y="3369553"/>
              <a:ext cx="7500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1"/>
            <p:cNvSpPr/>
            <p:nvPr/>
          </p:nvSpPr>
          <p:spPr>
            <a:xfrm rot="-5400000">
              <a:off x="7271643" y="2705680"/>
              <a:ext cx="3708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1"/>
            <p:cNvSpPr/>
            <p:nvPr/>
          </p:nvSpPr>
          <p:spPr>
            <a:xfrm rot="-5400000">
              <a:off x="6764639" y="4130256"/>
              <a:ext cx="5643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1"/>
            <p:cNvSpPr/>
            <p:nvPr/>
          </p:nvSpPr>
          <p:spPr>
            <a:xfrm rot="-5400000">
              <a:off x="6671789" y="3369553"/>
              <a:ext cx="7500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1"/>
            <p:cNvSpPr/>
            <p:nvPr/>
          </p:nvSpPr>
          <p:spPr>
            <a:xfrm rot="-5400000">
              <a:off x="6861389" y="2705680"/>
              <a:ext cx="3708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1"/>
            <p:cNvSpPr/>
            <p:nvPr/>
          </p:nvSpPr>
          <p:spPr>
            <a:xfrm rot="-5400000">
              <a:off x="6354385" y="4130269"/>
              <a:ext cx="5643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1"/>
            <p:cNvSpPr/>
            <p:nvPr/>
          </p:nvSpPr>
          <p:spPr>
            <a:xfrm rot="-5400000">
              <a:off x="6261535" y="3369606"/>
              <a:ext cx="7500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1"/>
            <p:cNvSpPr/>
            <p:nvPr/>
          </p:nvSpPr>
          <p:spPr>
            <a:xfrm rot="-5400000">
              <a:off x="6451135" y="2705692"/>
              <a:ext cx="370800" cy="323700"/>
            </a:xfrm>
            <a:prstGeom prst="rect">
              <a:avLst/>
            </a:prstGeom>
            <a:solidFill>
              <a:srgbClr val="FFE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8" name="Google Shape;308;p41">
            <a:hlinkClick r:id="rId3"/>
          </p:cNvPr>
          <p:cNvSpPr/>
          <p:nvPr/>
        </p:nvSpPr>
        <p:spPr>
          <a:xfrm>
            <a:off x="0" y="5092700"/>
            <a:ext cx="3918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14" name="Google Shape;314;p42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grid-template-columns e</a:t>
            </a:r>
            <a:br>
              <a:rPr lang="en">
                <a:solidFill>
                  <a:srgbClr val="999999"/>
                </a:solidFill>
              </a:rPr>
            </a:br>
            <a:r>
              <a:rPr lang="en">
                <a:solidFill>
                  <a:srgbClr val="999999"/>
                </a:solidFill>
              </a:rPr>
              <a:t>grid-template-row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15" name="Google Shape;315;p42"/>
          <p:cNvSpPr txBox="1"/>
          <p:nvPr>
            <p:ph idx="4294967295" type="body"/>
          </p:nvPr>
        </p:nvSpPr>
        <p:spPr>
          <a:xfrm>
            <a:off x="838250" y="1464800"/>
            <a:ext cx="3906000" cy="8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Potete assegnare un nome alle linee usando parentesi quadre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Questo vi aiuterà a posizionare i grid items</a:t>
            </a:r>
            <a:endParaRPr sz="1300"/>
          </a:p>
        </p:txBody>
      </p:sp>
      <p:sp>
        <p:nvSpPr>
          <p:cNvPr id="316" name="Google Shape;316;p42"/>
          <p:cNvSpPr txBox="1"/>
          <p:nvPr/>
        </p:nvSpPr>
        <p:spPr>
          <a:xfrm>
            <a:off x="876375" y="3929025"/>
            <a:ext cx="7005300" cy="100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grid-template-columns: [col1] auto [col2] auto [col3] auto [col4] auto [col5];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grid-template-rows: [row1]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[row2]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250px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[row3]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150px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[row4];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7" name="Google Shape;317;p42"/>
          <p:cNvSpPr txBox="1"/>
          <p:nvPr/>
        </p:nvSpPr>
        <p:spPr>
          <a:xfrm rot="-5400000">
            <a:off x="6596550" y="1123125"/>
            <a:ext cx="2221800" cy="18741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318" name="Google Shape;318;p42"/>
          <p:cNvSpPr/>
          <p:nvPr/>
        </p:nvSpPr>
        <p:spPr>
          <a:xfrm rot="-5400000">
            <a:off x="8045773" y="2555519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2"/>
          <p:cNvSpPr/>
          <p:nvPr/>
        </p:nvSpPr>
        <p:spPr>
          <a:xfrm rot="-5400000">
            <a:off x="7952923" y="1794815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2"/>
          <p:cNvSpPr/>
          <p:nvPr/>
        </p:nvSpPr>
        <p:spPr>
          <a:xfrm rot="-5400000">
            <a:off x="8142523" y="1130942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2"/>
          <p:cNvSpPr/>
          <p:nvPr/>
        </p:nvSpPr>
        <p:spPr>
          <a:xfrm rot="-5400000">
            <a:off x="7622498" y="2551481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2"/>
          <p:cNvSpPr/>
          <p:nvPr/>
        </p:nvSpPr>
        <p:spPr>
          <a:xfrm rot="-5400000">
            <a:off x="7529648" y="1790778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2"/>
          <p:cNvSpPr/>
          <p:nvPr/>
        </p:nvSpPr>
        <p:spPr>
          <a:xfrm rot="-5400000">
            <a:off x="7719248" y="1126905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2"/>
          <p:cNvSpPr/>
          <p:nvPr/>
        </p:nvSpPr>
        <p:spPr>
          <a:xfrm rot="-5400000">
            <a:off x="7199223" y="2551481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42"/>
          <p:cNvSpPr/>
          <p:nvPr/>
        </p:nvSpPr>
        <p:spPr>
          <a:xfrm rot="-5400000">
            <a:off x="7106373" y="1790778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2"/>
          <p:cNvSpPr/>
          <p:nvPr/>
        </p:nvSpPr>
        <p:spPr>
          <a:xfrm rot="-5400000">
            <a:off x="7295973" y="1126905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2"/>
          <p:cNvSpPr/>
          <p:nvPr/>
        </p:nvSpPr>
        <p:spPr>
          <a:xfrm rot="-5400000">
            <a:off x="6815010" y="2551494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2"/>
          <p:cNvSpPr/>
          <p:nvPr/>
        </p:nvSpPr>
        <p:spPr>
          <a:xfrm rot="-5400000">
            <a:off x="6722160" y="1790790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 rot="-5400000">
            <a:off x="6911760" y="1126917"/>
            <a:ext cx="370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0" name="Google Shape;330;p42"/>
          <p:cNvCxnSpPr/>
          <p:nvPr/>
        </p:nvCxnSpPr>
        <p:spPr>
          <a:xfrm flipH="1" rot="10800000">
            <a:off x="6495075" y="1506550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42"/>
          <p:cNvCxnSpPr/>
          <p:nvPr/>
        </p:nvCxnSpPr>
        <p:spPr>
          <a:xfrm flipH="1" rot="10800000">
            <a:off x="6434750" y="870525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42"/>
          <p:cNvCxnSpPr/>
          <p:nvPr/>
        </p:nvCxnSpPr>
        <p:spPr>
          <a:xfrm flipH="1" rot="10800000">
            <a:off x="6434750" y="2377150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42"/>
          <p:cNvCxnSpPr/>
          <p:nvPr/>
        </p:nvCxnSpPr>
        <p:spPr>
          <a:xfrm flipH="1" rot="10800000">
            <a:off x="6493500" y="3234325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42"/>
          <p:cNvSpPr txBox="1"/>
          <p:nvPr/>
        </p:nvSpPr>
        <p:spPr>
          <a:xfrm>
            <a:off x="5884075" y="726075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row1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5" name="Google Shape;335;p42"/>
          <p:cNvSpPr txBox="1"/>
          <p:nvPr/>
        </p:nvSpPr>
        <p:spPr>
          <a:xfrm>
            <a:off x="5884075" y="1362100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row2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6" name="Google Shape;336;p42"/>
          <p:cNvSpPr txBox="1"/>
          <p:nvPr/>
        </p:nvSpPr>
        <p:spPr>
          <a:xfrm>
            <a:off x="5884075" y="2185625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row3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5884075" y="3089875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row4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38" name="Google Shape;338;p42"/>
          <p:cNvCxnSpPr/>
          <p:nvPr/>
        </p:nvCxnSpPr>
        <p:spPr>
          <a:xfrm>
            <a:off x="6795425" y="768275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42"/>
          <p:cNvCxnSpPr/>
          <p:nvPr/>
        </p:nvCxnSpPr>
        <p:spPr>
          <a:xfrm>
            <a:off x="7298225" y="768275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42"/>
          <p:cNvCxnSpPr/>
          <p:nvPr/>
        </p:nvCxnSpPr>
        <p:spPr>
          <a:xfrm>
            <a:off x="7700925" y="768275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42"/>
          <p:cNvCxnSpPr/>
          <p:nvPr/>
        </p:nvCxnSpPr>
        <p:spPr>
          <a:xfrm>
            <a:off x="8128650" y="768275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42"/>
          <p:cNvCxnSpPr/>
          <p:nvPr/>
        </p:nvCxnSpPr>
        <p:spPr>
          <a:xfrm>
            <a:off x="8644500" y="768275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42"/>
          <p:cNvSpPr txBox="1"/>
          <p:nvPr/>
        </p:nvSpPr>
        <p:spPr>
          <a:xfrm>
            <a:off x="6547025" y="3485750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col1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4" name="Google Shape;344;p42"/>
          <p:cNvSpPr txBox="1"/>
          <p:nvPr/>
        </p:nvSpPr>
        <p:spPr>
          <a:xfrm>
            <a:off x="6999775" y="3485750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col2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5" name="Google Shape;345;p42"/>
          <p:cNvSpPr txBox="1"/>
          <p:nvPr/>
        </p:nvSpPr>
        <p:spPr>
          <a:xfrm>
            <a:off x="8358025" y="3481725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col5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6" name="Google Shape;346;p42"/>
          <p:cNvSpPr txBox="1"/>
          <p:nvPr/>
        </p:nvSpPr>
        <p:spPr>
          <a:xfrm>
            <a:off x="7465025" y="3485775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col3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7" name="Google Shape;347;p42"/>
          <p:cNvSpPr txBox="1"/>
          <p:nvPr/>
        </p:nvSpPr>
        <p:spPr>
          <a:xfrm>
            <a:off x="7924313" y="3481725"/>
            <a:ext cx="496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9999"/>
                </a:solidFill>
                <a:latin typeface="Karla"/>
                <a:ea typeface="Karla"/>
                <a:cs typeface="Karla"/>
                <a:sym typeface="Karla"/>
              </a:rPr>
              <a:t>col4</a:t>
            </a:r>
            <a:endParaRPr sz="1100">
              <a:solidFill>
                <a:srgbClr val="999999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8" name="Google Shape;348;p42">
            <a:hlinkClick r:id="rId3"/>
          </p:cNvPr>
          <p:cNvSpPr/>
          <p:nvPr/>
        </p:nvSpPr>
        <p:spPr>
          <a:xfrm>
            <a:off x="0" y="5092700"/>
            <a:ext cx="4245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54" name="Google Shape;354;p43"/>
          <p:cNvSpPr txBox="1"/>
          <p:nvPr>
            <p:ph type="title"/>
          </p:nvPr>
        </p:nvSpPr>
        <p:spPr>
          <a:xfrm>
            <a:off x="876375" y="893500"/>
            <a:ext cx="74058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grid-template-areas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55" name="Google Shape;355;p43"/>
          <p:cNvSpPr txBox="1"/>
          <p:nvPr>
            <p:ph idx="4294967295" type="body"/>
          </p:nvPr>
        </p:nvSpPr>
        <p:spPr>
          <a:xfrm>
            <a:off x="838250" y="1464800"/>
            <a:ext cx="39060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Questa proprietà permette di definire dei nomi arbitrari per le aree della vostra griglia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La sintassi stessa permette di “visualizzare” la struttura della griglia 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Questo permetterà di posizionare più comodamente i grid items (abbinandolo con grid-area)</a:t>
            </a:r>
            <a:endParaRPr sz="1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O addirittura creare un layout completamente responsive senza l’utilizzo delle media queries</a:t>
            </a:r>
            <a:endParaRPr sz="1300"/>
          </a:p>
        </p:txBody>
      </p:sp>
      <p:sp>
        <p:nvSpPr>
          <p:cNvPr id="356" name="Google Shape;356;p43"/>
          <p:cNvSpPr txBox="1"/>
          <p:nvPr/>
        </p:nvSpPr>
        <p:spPr>
          <a:xfrm>
            <a:off x="4831300" y="1033000"/>
            <a:ext cx="3711900" cy="36363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grid-template-columns: auto auto auto auto;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grid-template-rows: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100px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250px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150px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grid-template-areas: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"header header header header"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"main main main side"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"footer footer footer side"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.header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grid-area: header;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.main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grid-area: main;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7" name="Google Shape;357;p43"/>
          <p:cNvSpPr txBox="1"/>
          <p:nvPr/>
        </p:nvSpPr>
        <p:spPr>
          <a:xfrm>
            <a:off x="710300" y="3858650"/>
            <a:ext cx="3906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Karla"/>
              <a:buChar char="▸"/>
            </a:pPr>
            <a:r>
              <a:rPr lang="en" sz="13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3"/>
              </a:rPr>
              <a:t>Esempio interattivo</a:t>
            </a:r>
            <a:endParaRPr sz="13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Karla"/>
              <a:buChar char="▸"/>
            </a:pPr>
            <a:r>
              <a:rPr lang="en" sz="13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Look Ma, No Media Queries! Responsive Layouts Using CSS Grid</a:t>
            </a:r>
            <a:endParaRPr sz="1500"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8" name="Google Shape;358;p43">
            <a:hlinkClick r:id="rId5"/>
          </p:cNvPr>
          <p:cNvSpPr/>
          <p:nvPr/>
        </p:nvSpPr>
        <p:spPr>
          <a:xfrm>
            <a:off x="0" y="5092700"/>
            <a:ext cx="4572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4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column-gap e row-gap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65" name="Google Shape;365;p44"/>
          <p:cNvSpPr txBox="1"/>
          <p:nvPr>
            <p:ph idx="1" type="body"/>
          </p:nvPr>
        </p:nvSpPr>
        <p:spPr>
          <a:xfrm>
            <a:off x="838250" y="1504950"/>
            <a:ext cx="53241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Permette di definire quello che potete immaginare come il gutter tra colonne o tra righe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Entrambe le proprietà accettano una dimensione come valore</a:t>
            </a:r>
            <a:endParaRPr sz="1300"/>
          </a:p>
        </p:txBody>
      </p:sp>
      <p:sp>
        <p:nvSpPr>
          <p:cNvPr id="366" name="Google Shape;366;p44"/>
          <p:cNvSpPr txBox="1"/>
          <p:nvPr/>
        </p:nvSpPr>
        <p:spPr>
          <a:xfrm>
            <a:off x="940725" y="2418150"/>
            <a:ext cx="5324100" cy="100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.container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column-gap: &lt;line-size&gt;;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row-gap: &lt;line-size&gt;;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44">
            <a:hlinkClick r:id="rId3"/>
          </p:cNvPr>
          <p:cNvSpPr/>
          <p:nvPr/>
        </p:nvSpPr>
        <p:spPr>
          <a:xfrm>
            <a:off x="0" y="5092700"/>
            <a:ext cx="4898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Proprietà per i figli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74" name="Google Shape;374;p45"/>
          <p:cNvSpPr txBox="1"/>
          <p:nvPr>
            <p:ph idx="1" type="body"/>
          </p:nvPr>
        </p:nvSpPr>
        <p:spPr>
          <a:xfrm>
            <a:off x="838250" y="1504950"/>
            <a:ext cx="53241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grid-column e grid-row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grid-area</a:t>
            </a:r>
            <a:endParaRPr sz="1500"/>
          </a:p>
        </p:txBody>
      </p:sp>
      <p:sp>
        <p:nvSpPr>
          <p:cNvPr id="375" name="Google Shape;375;p45">
            <a:hlinkClick r:id="rId3"/>
          </p:cNvPr>
          <p:cNvSpPr/>
          <p:nvPr/>
        </p:nvSpPr>
        <p:spPr>
          <a:xfrm>
            <a:off x="0" y="5092700"/>
            <a:ext cx="5225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4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grid-column e grid-row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82" name="Google Shape;382;p46"/>
          <p:cNvSpPr txBox="1"/>
          <p:nvPr>
            <p:ph idx="1" type="body"/>
          </p:nvPr>
        </p:nvSpPr>
        <p:spPr>
          <a:xfrm>
            <a:off x="838250" y="1504950"/>
            <a:ext cx="5324100" cy="22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/>
              <a:t>Sono rispettivamente forme contratte di 4 altre proprietà: </a:t>
            </a:r>
            <a:r>
              <a:rPr b="1" lang="en" sz="1300"/>
              <a:t>grid-column-start</a:t>
            </a:r>
            <a:r>
              <a:rPr lang="en" sz="1300"/>
              <a:t> + </a:t>
            </a:r>
            <a:r>
              <a:rPr b="1" lang="en" sz="1300"/>
              <a:t>grid-column-end</a:t>
            </a:r>
            <a:r>
              <a:rPr lang="en" sz="1300"/>
              <a:t> e </a:t>
            </a:r>
            <a:r>
              <a:rPr b="1" lang="en" sz="1300"/>
              <a:t>grid-row-start</a:t>
            </a:r>
            <a:r>
              <a:rPr lang="en" sz="1300"/>
              <a:t> + </a:t>
            </a:r>
            <a:r>
              <a:rPr b="1" lang="en" sz="1300"/>
              <a:t>grid-row-end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I valori accettati sono il numero (o il nome) della linea da cui deve partire l’elemento, unito a un “/” e al numero (o al nome) della linea di fine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Alternativamente, il secondo argomento può essere “span” seguito da un numero che indicherà quante righe/colonne dovrà occupare l’elemento</a:t>
            </a:r>
            <a:endParaRPr sz="1300"/>
          </a:p>
        </p:txBody>
      </p:sp>
      <p:sp>
        <p:nvSpPr>
          <p:cNvPr id="383" name="Google Shape;383;p46"/>
          <p:cNvSpPr txBox="1"/>
          <p:nvPr/>
        </p:nvSpPr>
        <p:spPr>
          <a:xfrm>
            <a:off x="940725" y="3747150"/>
            <a:ext cx="5948100" cy="100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.item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{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grid-column: &lt;start-line&gt;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/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&lt;end-line&gt; | &lt;start-line&gt; / span &lt;value&gt;;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grid-row: &lt;start-line&gt; / &lt;end-line&gt; | &lt;start-line&gt; / span &lt;value&gt;;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1050">
              <a:solidFill>
                <a:srgbClr val="D19A66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46">
            <a:hlinkClick r:id="rId3"/>
          </p:cNvPr>
          <p:cNvSpPr/>
          <p:nvPr/>
        </p:nvSpPr>
        <p:spPr>
          <a:xfrm>
            <a:off x="0" y="5092700"/>
            <a:ext cx="5551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4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grid-area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391" name="Google Shape;391;p47"/>
          <p:cNvSpPr txBox="1"/>
          <p:nvPr>
            <p:ph idx="1" type="body"/>
          </p:nvPr>
        </p:nvSpPr>
        <p:spPr>
          <a:xfrm>
            <a:off x="838250" y="1504950"/>
            <a:ext cx="5324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300"/>
              <a:t>Dovete abbinarlo a grid-template-areas per permettere di posizionare direttamente un elemento su una determinata area della griglia.</a:t>
            </a:r>
            <a:endParaRPr sz="1300"/>
          </a:p>
        </p:txBody>
      </p:sp>
      <p:sp>
        <p:nvSpPr>
          <p:cNvPr id="392" name="Google Shape;392;p47">
            <a:hlinkClick r:id="rId3"/>
          </p:cNvPr>
          <p:cNvSpPr/>
          <p:nvPr/>
        </p:nvSpPr>
        <p:spPr>
          <a:xfrm>
            <a:off x="0" y="5092700"/>
            <a:ext cx="5878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"/>
          <p:cNvSpPr txBox="1"/>
          <p:nvPr>
            <p:ph type="ctrTitle"/>
          </p:nvPr>
        </p:nvSpPr>
        <p:spPr>
          <a:xfrm>
            <a:off x="648300" y="1354750"/>
            <a:ext cx="4008600" cy="29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C10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srcset</a:t>
            </a:r>
            <a:endParaRPr/>
          </a:p>
        </p:txBody>
      </p:sp>
      <p:sp>
        <p:nvSpPr>
          <p:cNvPr id="398" name="Google Shape;398;p4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‹#›</a:t>
            </a:fld>
            <a:endParaRPr>
              <a:solidFill>
                <a:srgbClr val="FFFFFF"/>
              </a:solidFill>
            </a:endParaRPr>
          </a:p>
        </p:txBody>
      </p:sp>
      <p:sp>
        <p:nvSpPr>
          <p:cNvPr id="399" name="Google Shape;399;p48">
            <a:hlinkClick r:id="rId3"/>
          </p:cNvPr>
          <p:cNvSpPr/>
          <p:nvPr/>
        </p:nvSpPr>
        <p:spPr>
          <a:xfrm>
            <a:off x="0" y="5092700"/>
            <a:ext cx="6204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49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Cos’è srcset e perché usarlo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06" name="Google Shape;406;p49"/>
          <p:cNvSpPr txBox="1"/>
          <p:nvPr>
            <p:ph idx="1" type="body"/>
          </p:nvPr>
        </p:nvSpPr>
        <p:spPr>
          <a:xfrm>
            <a:off x="838250" y="1504950"/>
            <a:ext cx="5324100" cy="22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In Html è possibile servire all’utente un’immagine differente in base alle circostanze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Usando i </a:t>
            </a:r>
            <a:r>
              <a:rPr b="1" lang="en" sz="1500"/>
              <a:t>srcset </a:t>
            </a:r>
            <a:r>
              <a:rPr lang="en" sz="1500"/>
              <a:t>si fornisce al browser la possibilità di scegliere di mostrare una versione più leggera dell’immagine, </a:t>
            </a:r>
            <a:r>
              <a:rPr b="1" lang="en" sz="1500"/>
              <a:t>se lo ritiene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Il risultato è una potenziale riduzione significativa del tempo di caricamento generale, soprattutto su dispositivi piccoli</a:t>
            </a:r>
            <a:endParaRPr sz="1500"/>
          </a:p>
        </p:txBody>
      </p:sp>
      <p:sp>
        <p:nvSpPr>
          <p:cNvPr id="407" name="Google Shape;407;p49"/>
          <p:cNvSpPr txBox="1"/>
          <p:nvPr>
            <p:ph idx="1" type="body"/>
          </p:nvPr>
        </p:nvSpPr>
        <p:spPr>
          <a:xfrm>
            <a:off x="863825" y="4119775"/>
            <a:ext cx="5688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https://developer.mozilla.org/en-US/docs/Web/API/HTMLImageElement/srcset</a:t>
            </a:r>
            <a:endParaRPr sz="1500"/>
          </a:p>
        </p:txBody>
      </p:sp>
      <p:sp>
        <p:nvSpPr>
          <p:cNvPr id="408" name="Google Shape;408;p49">
            <a:hlinkClick r:id="rId4"/>
          </p:cNvPr>
          <p:cNvSpPr/>
          <p:nvPr/>
        </p:nvSpPr>
        <p:spPr>
          <a:xfrm>
            <a:off x="0" y="5092700"/>
            <a:ext cx="6531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0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50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La sintassi di srcset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15" name="Google Shape;415;p50"/>
          <p:cNvSpPr txBox="1"/>
          <p:nvPr>
            <p:ph idx="1" type="body"/>
          </p:nvPr>
        </p:nvSpPr>
        <p:spPr>
          <a:xfrm>
            <a:off x="838250" y="1504950"/>
            <a:ext cx="53241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500"/>
              <a:t>Oltre al normale attributo src, si aggiunge srcset per definire versioni della stessa immagine con dimensioni differenti</a:t>
            </a:r>
            <a:endParaRPr sz="1500"/>
          </a:p>
        </p:txBody>
      </p:sp>
      <p:sp>
        <p:nvSpPr>
          <p:cNvPr id="416" name="Google Shape;416;p50"/>
          <p:cNvSpPr txBox="1"/>
          <p:nvPr/>
        </p:nvSpPr>
        <p:spPr>
          <a:xfrm>
            <a:off x="940850" y="2382150"/>
            <a:ext cx="1971300" cy="3462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srcset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7" name="Google Shape;417;p50"/>
          <p:cNvSpPr txBox="1"/>
          <p:nvPr>
            <p:ph idx="1" type="body"/>
          </p:nvPr>
        </p:nvSpPr>
        <p:spPr>
          <a:xfrm>
            <a:off x="838350" y="2728350"/>
            <a:ext cx="5324100" cy="12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Il browser assumerà che ogni elemento del srcset è visivamente identico, e sceglierà di utilizzare l’elemento che riterrà più adatto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Non è consigliato inserire immagini diverse</a:t>
            </a:r>
            <a:endParaRPr sz="1500"/>
          </a:p>
        </p:txBody>
      </p:sp>
      <p:sp>
        <p:nvSpPr>
          <p:cNvPr id="418" name="Google Shape;418;p50">
            <a:hlinkClick r:id="rId3"/>
          </p:cNvPr>
          <p:cNvSpPr/>
          <p:nvPr/>
        </p:nvSpPr>
        <p:spPr>
          <a:xfrm>
            <a:off x="0" y="5092700"/>
            <a:ext cx="6858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1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1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Implementare srcset con gli x-descriptors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838250" y="1504950"/>
            <a:ext cx="5324100" cy="16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Il modo più semplice di implementare srcset è utilizzare gli </a:t>
            </a:r>
            <a:r>
              <a:rPr b="1" lang="en" sz="1500"/>
              <a:t>x descriptors</a:t>
            </a:r>
            <a:r>
              <a:rPr lang="en" sz="1500"/>
              <a:t>: si tratta di una etichetta apposta ad ogni immagine per schermi a diversa densità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Nel src si fornisce il file di “</a:t>
            </a:r>
            <a:r>
              <a:rPr b="1" lang="en" sz="1500"/>
              <a:t>default</a:t>
            </a:r>
            <a:r>
              <a:rPr lang="en" sz="1500"/>
              <a:t>”, di solito a bassa risoluzione, e nel srcset si indicano i file per schermi con una </a:t>
            </a:r>
            <a:r>
              <a:rPr b="1" lang="en" sz="1500"/>
              <a:t>pixel-density</a:t>
            </a:r>
            <a:r>
              <a:rPr lang="en" sz="1500"/>
              <a:t> maggiore</a:t>
            </a:r>
            <a:endParaRPr sz="1500"/>
          </a:p>
        </p:txBody>
      </p:sp>
      <p:sp>
        <p:nvSpPr>
          <p:cNvPr id="426" name="Google Shape;426;p51"/>
          <p:cNvSpPr txBox="1"/>
          <p:nvPr/>
        </p:nvSpPr>
        <p:spPr>
          <a:xfrm>
            <a:off x="940850" y="3203250"/>
            <a:ext cx="5221500" cy="100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endParaRPr sz="1050">
              <a:solidFill>
                <a:srgbClr val="E06C75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"image.jpg"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srcset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"image-large.jpg 2x, image-extra-large.jpg 4x"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51">
            <a:hlinkClick r:id="rId3"/>
          </p:cNvPr>
          <p:cNvSpPr/>
          <p:nvPr/>
        </p:nvSpPr>
        <p:spPr>
          <a:xfrm>
            <a:off x="0" y="5092700"/>
            <a:ext cx="71847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2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2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Limitazioni degli x-descriptors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34" name="Google Shape;434;p52"/>
          <p:cNvSpPr txBox="1"/>
          <p:nvPr>
            <p:ph idx="1" type="body"/>
          </p:nvPr>
        </p:nvSpPr>
        <p:spPr>
          <a:xfrm>
            <a:off x="838250" y="1504950"/>
            <a:ext cx="5324100" cy="27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Gli x-descriptors presentano diverse limitazioni perché permettono al browser di basarsi </a:t>
            </a:r>
            <a:r>
              <a:rPr b="1" lang="en" sz="1500"/>
              <a:t>soltanto sul parametro della pixel-density</a:t>
            </a:r>
            <a:r>
              <a:rPr lang="en" sz="1500"/>
              <a:t> del display, e non sulla dimensione dell’immagine nel layout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Visto che le nostre immagini saranno molto spesso inserite nel contesto di un layout responsive, dobbiamo fare in modo che il browser possa decidere anche in base a questo fattore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È per questo che entrano in gioco i </a:t>
            </a:r>
            <a:r>
              <a:rPr b="1" lang="en" sz="1500"/>
              <a:t>w-descriptors</a:t>
            </a:r>
            <a:r>
              <a:rPr lang="en" sz="1500"/>
              <a:t> e l’attributo </a:t>
            </a:r>
            <a:r>
              <a:rPr b="1" lang="en" sz="1500"/>
              <a:t>sizes</a:t>
            </a:r>
            <a:endParaRPr sz="1500"/>
          </a:p>
        </p:txBody>
      </p:sp>
      <p:sp>
        <p:nvSpPr>
          <p:cNvPr id="435" name="Google Shape;435;p52">
            <a:hlinkClick r:id="rId3"/>
          </p:cNvPr>
          <p:cNvSpPr/>
          <p:nvPr/>
        </p:nvSpPr>
        <p:spPr>
          <a:xfrm>
            <a:off x="0" y="5092700"/>
            <a:ext cx="75111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3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53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Srcset con i w-descriptors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42" name="Google Shape;442;p53"/>
          <p:cNvSpPr txBox="1"/>
          <p:nvPr>
            <p:ph idx="1" type="body"/>
          </p:nvPr>
        </p:nvSpPr>
        <p:spPr>
          <a:xfrm>
            <a:off x="838250" y="1504950"/>
            <a:ext cx="5324100" cy="19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Con l'uso dei w-descriptors stiamo ancora fornendo copie multiple della stessa immagine e lasciando al browser la scelta di quella più appropriata.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Tuttavia, anziché etichettarle con una densità di pixel (x), le stiamo etichettando con la larghezza della risorsa. Quindi, se img-small.jpg è 300×450, lo etichettiamo come 300w e lo stesso faremo con tutte le altre dimensioni</a:t>
            </a:r>
            <a:endParaRPr sz="1500"/>
          </a:p>
        </p:txBody>
      </p:sp>
      <p:sp>
        <p:nvSpPr>
          <p:cNvPr id="443" name="Google Shape;443;p53"/>
          <p:cNvSpPr txBox="1"/>
          <p:nvPr/>
        </p:nvSpPr>
        <p:spPr>
          <a:xfrm>
            <a:off x="940850" y="3745450"/>
            <a:ext cx="5221500" cy="100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srcset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"image-small.jpg 300w,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image-medium.jpg 460w, 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image-large.jpg 800w"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53">
            <a:hlinkClick r:id="rId3"/>
          </p:cNvPr>
          <p:cNvSpPr/>
          <p:nvPr/>
        </p:nvSpPr>
        <p:spPr>
          <a:xfrm>
            <a:off x="0" y="5092700"/>
            <a:ext cx="7837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4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54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L’attributo sizes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51" name="Google Shape;451;p54"/>
          <p:cNvSpPr txBox="1"/>
          <p:nvPr>
            <p:ph idx="1" type="body"/>
          </p:nvPr>
        </p:nvSpPr>
        <p:spPr>
          <a:xfrm>
            <a:off x="838250" y="1504950"/>
            <a:ext cx="5324100" cy="20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L'utilizzo di srcset con descrittori di larghezza (w) come questo implica che deve essere abbinato all’attributo sizes in modo che il browser sappia quanto spazio l'immagine occuperà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/>
              <a:t>Senza queste informazioni, i browser non possono prendere decisioni intelligenti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La sintassi dell’attributo sizes è</a:t>
            </a:r>
            <a:endParaRPr sz="1500"/>
          </a:p>
        </p:txBody>
      </p:sp>
      <p:sp>
        <p:nvSpPr>
          <p:cNvPr id="452" name="Google Shape;452;p54"/>
          <p:cNvSpPr txBox="1"/>
          <p:nvPr/>
        </p:nvSpPr>
        <p:spPr>
          <a:xfrm>
            <a:off x="940950" y="3595450"/>
            <a:ext cx="5221500" cy="11544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900">
                <a:solidFill>
                  <a:srgbClr val="E06C75"/>
                </a:solidFill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r>
              <a:rPr lang="en" sz="900">
                <a:solidFill>
                  <a:srgbClr val="D19A66"/>
                </a:solidFill>
                <a:latin typeface="Fira Code"/>
                <a:ea typeface="Fira Code"/>
                <a:cs typeface="Fira Code"/>
                <a:sym typeface="Fira Code"/>
              </a:rPr>
              <a:t> sizes</a:t>
            </a: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900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"[media query] [length],</a:t>
            </a:r>
            <a:endParaRPr sz="900">
              <a:solidFill>
                <a:srgbClr val="98C379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            	  [media query] [length],</a:t>
            </a:r>
            <a:endParaRPr sz="900">
              <a:solidFill>
                <a:srgbClr val="98C379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            	  ...</a:t>
            </a:r>
            <a:endParaRPr sz="900">
              <a:solidFill>
                <a:srgbClr val="98C379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            	  [default length]"</a:t>
            </a:r>
            <a:endParaRPr sz="900">
              <a:solidFill>
                <a:srgbClr val="98C379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ABB2BF"/>
                </a:solidFill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3" name="Google Shape;453;p54">
            <a:hlinkClick r:id="rId3"/>
          </p:cNvPr>
          <p:cNvSpPr/>
          <p:nvPr/>
        </p:nvSpPr>
        <p:spPr>
          <a:xfrm>
            <a:off x="0" y="5092700"/>
            <a:ext cx="7837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5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55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Implementare srcset con i w-descriptors e sizes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60" name="Google Shape;460;p55"/>
          <p:cNvSpPr txBox="1"/>
          <p:nvPr>
            <p:ph idx="1" type="body"/>
          </p:nvPr>
        </p:nvSpPr>
        <p:spPr>
          <a:xfrm>
            <a:off x="838250" y="1504950"/>
            <a:ext cx="5324100" cy="1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I w-descriptors etichettano le varie versioni delle immagini specificando la loro </a:t>
            </a:r>
            <a:r>
              <a:rPr b="1" lang="en" sz="1500"/>
              <a:t>larghezza 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Bisogna accoppiare tali descrittori con un attributo sizes, che darà al browser informazioni sullo spazio che l’immagine occuperà all’interno del layout</a:t>
            </a:r>
            <a:endParaRPr sz="1500"/>
          </a:p>
        </p:txBody>
      </p:sp>
      <p:sp>
        <p:nvSpPr>
          <p:cNvPr id="461" name="Google Shape;461;p55"/>
          <p:cNvSpPr txBox="1"/>
          <p:nvPr/>
        </p:nvSpPr>
        <p:spPr>
          <a:xfrm>
            <a:off x="940850" y="2972250"/>
            <a:ext cx="6546600" cy="1881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C6370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&lt;!-- Stiamo prevedendo che l'immagine avrà una larghezza di 280px sugli schermi fino a 320px, di 440px sugli schermi fino a 480px, di 800px negli altri casi. Il browser prenderà l'immagine più adeguata dal srcset, scegliendo quella più vicina per dimensione --&gt;</a:t>
            </a:r>
            <a:endParaRPr sz="1050">
              <a:solidFill>
                <a:srgbClr val="5C6370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&lt;</a:t>
            </a:r>
            <a:r>
              <a:rPr lang="en" sz="1050">
                <a:solidFill>
                  <a:srgbClr val="E06C75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img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srcset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"image-small.jpg 300w,image-medium.jpg 460w, image-large.jpg 800w"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sizes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"(max-width: 320px) 280px, (max-width: 480px) 440px,  800px"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   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src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"image-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small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.jpg"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" sz="1050">
                <a:solidFill>
                  <a:srgbClr val="D19A66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alt</a:t>
            </a: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=</a:t>
            </a:r>
            <a:r>
              <a:rPr lang="en" sz="1050">
                <a:solidFill>
                  <a:srgbClr val="98C379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"An image"</a:t>
            </a:r>
            <a:endParaRPr sz="1050">
              <a:solidFill>
                <a:srgbClr val="98C379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BB2BF"/>
                </a:solidFill>
                <a:highlight>
                  <a:srgbClr val="333333"/>
                </a:highlight>
                <a:latin typeface="Fira Code"/>
                <a:ea typeface="Fira Code"/>
                <a:cs typeface="Fira Code"/>
                <a:sym typeface="Fira Code"/>
              </a:rPr>
              <a:t>&gt;</a:t>
            </a:r>
            <a:endParaRPr sz="1050">
              <a:solidFill>
                <a:srgbClr val="ABB2BF"/>
              </a:solidFill>
              <a:highlight>
                <a:srgbClr val="333333"/>
              </a:highlight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2" name="Google Shape;462;p55">
            <a:hlinkClick r:id="rId3"/>
          </p:cNvPr>
          <p:cNvSpPr/>
          <p:nvPr/>
        </p:nvSpPr>
        <p:spPr>
          <a:xfrm>
            <a:off x="0" y="5092700"/>
            <a:ext cx="78378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6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8" name="Google Shape;468;p56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Sizes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69" name="Google Shape;469;p56"/>
          <p:cNvSpPr txBox="1"/>
          <p:nvPr>
            <p:ph idx="1" type="body"/>
          </p:nvPr>
        </p:nvSpPr>
        <p:spPr>
          <a:xfrm>
            <a:off x="838250" y="1504950"/>
            <a:ext cx="53241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/>
              <a:t>Quando definite le sizes, ricordate che esse dipenderanno dal vostro layout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/>
              <a:t>In alcuni casi vi sarà possibile conoscere la dimensione precisa dell’immagine sulla pagina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/>
              <a:t>In altri casi, potete fornire una stima che sia “buona abbastanza”, lasciando fare al browser il resto</a:t>
            </a:r>
            <a:endParaRPr sz="1500"/>
          </a:p>
        </p:txBody>
      </p:sp>
      <p:sp>
        <p:nvSpPr>
          <p:cNvPr id="470" name="Google Shape;470;p56">
            <a:hlinkClick r:id="rId3"/>
          </p:cNvPr>
          <p:cNvSpPr/>
          <p:nvPr/>
        </p:nvSpPr>
        <p:spPr>
          <a:xfrm>
            <a:off x="0" y="5092700"/>
            <a:ext cx="8164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7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57"/>
          <p:cNvSpPr txBox="1"/>
          <p:nvPr>
            <p:ph type="title"/>
          </p:nvPr>
        </p:nvSpPr>
        <p:spPr>
          <a:xfrm>
            <a:off x="838350" y="893500"/>
            <a:ext cx="5324100" cy="4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</a:rPr>
              <a:t>Srcset refercence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477" name="Google Shape;477;p57">
            <a:hlinkClick r:id="rId3"/>
          </p:cNvPr>
          <p:cNvSpPr/>
          <p:nvPr/>
        </p:nvSpPr>
        <p:spPr>
          <a:xfrm>
            <a:off x="0" y="5092700"/>
            <a:ext cx="81642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7"/>
          <p:cNvSpPr txBox="1"/>
          <p:nvPr>
            <p:ph idx="1" type="body"/>
          </p:nvPr>
        </p:nvSpPr>
        <p:spPr>
          <a:xfrm>
            <a:off x="838250" y="1504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CSS Tricks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4"/>
              </a:rPr>
              <a:t>A Guide to the Responsive Images Syntax in HTML</a:t>
            </a:r>
            <a:endParaRPr sz="1300"/>
          </a:p>
        </p:txBody>
      </p:sp>
      <p:sp>
        <p:nvSpPr>
          <p:cNvPr id="479" name="Google Shape;479;p57"/>
          <p:cNvSpPr txBox="1"/>
          <p:nvPr>
            <p:ph idx="1" type="body"/>
          </p:nvPr>
        </p:nvSpPr>
        <p:spPr>
          <a:xfrm>
            <a:off x="838250" y="2089950"/>
            <a:ext cx="53241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1000"/>
              </a:spcAft>
              <a:buNone/>
            </a:pPr>
            <a:r>
              <a:rPr b="1" lang="en" sz="1300"/>
              <a:t>Smashing Magazine</a:t>
            </a:r>
            <a:br>
              <a:rPr b="1" lang="en" sz="1300"/>
            </a:br>
            <a:r>
              <a:rPr lang="en" sz="1300" u="sng">
                <a:solidFill>
                  <a:schemeClr val="hlink"/>
                </a:solidFill>
                <a:hlinkClick r:id="rId5"/>
              </a:rPr>
              <a:t>Responsive Images Done Right: A Guide To And srcset</a:t>
            </a:r>
            <a:endParaRPr sz="1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8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5" name="Google Shape;485;p58"/>
          <p:cNvSpPr txBox="1"/>
          <p:nvPr>
            <p:ph type="title"/>
          </p:nvPr>
        </p:nvSpPr>
        <p:spPr>
          <a:xfrm>
            <a:off x="841000" y="969700"/>
            <a:ext cx="4801500" cy="4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ESERCIZIO 1</a:t>
            </a:r>
            <a:endParaRPr/>
          </a:p>
        </p:txBody>
      </p:sp>
      <p:sp>
        <p:nvSpPr>
          <p:cNvPr id="486" name="Google Shape;486;p58"/>
          <p:cNvSpPr txBox="1"/>
          <p:nvPr>
            <p:ph idx="4294967295" type="body"/>
          </p:nvPr>
        </p:nvSpPr>
        <p:spPr>
          <a:xfrm>
            <a:off x="838250" y="1504950"/>
            <a:ext cx="5842800" cy="27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Replicate le grid raffigurate nella slide successiva. Per la prima utilizzate grid-template-areas; per la seconda usate gli attributi dei figli (grid column e grid-row)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▸"/>
            </a:pPr>
            <a:r>
              <a:rPr lang="en" sz="1500"/>
              <a:t>Fate in modo che la grid occupi, in larghezza, il 100% della pagina su mobile, e il 50% su desktop (posizionatela al centro della pagina)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SzPts val="1500"/>
              <a:buChar char="▸"/>
            </a:pPr>
            <a:r>
              <a:rPr lang="en" sz="1500"/>
              <a:t>Nei due quadrati indicati in grigio, inserite un’immagine dotata di attributo srcset con w-descriptors. Create almeno due sizes, cercando di specificarle il più precisamente possibile in base a ciò che conoscete del vostro design</a:t>
            </a:r>
            <a:endParaRPr sz="1500"/>
          </a:p>
        </p:txBody>
      </p:sp>
      <p:grpSp>
        <p:nvGrpSpPr>
          <p:cNvPr id="487" name="Google Shape;487;p58"/>
          <p:cNvGrpSpPr/>
          <p:nvPr/>
        </p:nvGrpSpPr>
        <p:grpSpPr>
          <a:xfrm>
            <a:off x="301521" y="869243"/>
            <a:ext cx="457190" cy="457120"/>
            <a:chOff x="1923675" y="1633650"/>
            <a:chExt cx="436000" cy="435975"/>
          </a:xfrm>
        </p:grpSpPr>
        <p:sp>
          <p:nvSpPr>
            <p:cNvPr id="488" name="Google Shape;488;p58"/>
            <p:cNvSpPr/>
            <p:nvPr/>
          </p:nvSpPr>
          <p:spPr>
            <a:xfrm>
              <a:off x="2209250" y="1633650"/>
              <a:ext cx="150425" cy="150425"/>
            </a:xfrm>
            <a:custGeom>
              <a:rect b="b" l="l" r="r" t="t"/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58"/>
            <p:cNvSpPr/>
            <p:nvPr/>
          </p:nvSpPr>
          <p:spPr>
            <a:xfrm>
              <a:off x="2019900" y="1757250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58"/>
            <p:cNvSpPr/>
            <p:nvPr/>
          </p:nvSpPr>
          <p:spPr>
            <a:xfrm>
              <a:off x="1923675" y="1681150"/>
              <a:ext cx="388500" cy="388475"/>
            </a:xfrm>
            <a:custGeom>
              <a:rect b="b" l="l" r="r" t="t"/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58"/>
            <p:cNvSpPr/>
            <p:nvPr/>
          </p:nvSpPr>
          <p:spPr>
            <a:xfrm>
              <a:off x="1974225" y="1711575"/>
              <a:ext cx="261825" cy="261850"/>
            </a:xfrm>
            <a:custGeom>
              <a:rect b="b" l="l" r="r" t="t"/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58"/>
            <p:cNvSpPr/>
            <p:nvPr/>
          </p:nvSpPr>
          <p:spPr>
            <a:xfrm>
              <a:off x="1934650" y="2014200"/>
              <a:ext cx="44475" cy="44475"/>
            </a:xfrm>
            <a:custGeom>
              <a:rect b="b" l="l" r="r" t="t"/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58"/>
            <p:cNvSpPr/>
            <p:nvPr/>
          </p:nvSpPr>
          <p:spPr>
            <a:xfrm>
              <a:off x="1944375" y="1947225"/>
              <a:ext cx="101725" cy="101700"/>
            </a:xfrm>
            <a:custGeom>
              <a:rect b="b" l="l" r="r" t="t"/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4" name="Google Shape;494;p58">
            <a:hlinkClick r:id="rId3"/>
          </p:cNvPr>
          <p:cNvSpPr/>
          <p:nvPr/>
        </p:nvSpPr>
        <p:spPr>
          <a:xfrm>
            <a:off x="0" y="5092700"/>
            <a:ext cx="84909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"/>
          <p:cNvSpPr txBox="1"/>
          <p:nvPr>
            <p:ph idx="12" type="sldNum"/>
          </p:nvPr>
        </p:nvSpPr>
        <p:spPr>
          <a:xfrm>
            <a:off x="8543227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59"/>
          <p:cNvSpPr txBox="1"/>
          <p:nvPr/>
        </p:nvSpPr>
        <p:spPr>
          <a:xfrm rot="-5400000">
            <a:off x="1168500" y="664300"/>
            <a:ext cx="1884900" cy="18741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01" name="Google Shape;501;p59"/>
          <p:cNvSpPr/>
          <p:nvPr/>
        </p:nvSpPr>
        <p:spPr>
          <a:xfrm rot="-5400000">
            <a:off x="2580825" y="2133497"/>
            <a:ext cx="3012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9"/>
          <p:cNvSpPr/>
          <p:nvPr/>
        </p:nvSpPr>
        <p:spPr>
          <a:xfrm rot="-5400000">
            <a:off x="2162500" y="2124478"/>
            <a:ext cx="291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9"/>
          <p:cNvSpPr/>
          <p:nvPr/>
        </p:nvSpPr>
        <p:spPr>
          <a:xfrm rot="-5400000">
            <a:off x="1899553" y="1071398"/>
            <a:ext cx="1212600" cy="719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9"/>
          <p:cNvSpPr/>
          <p:nvPr/>
        </p:nvSpPr>
        <p:spPr>
          <a:xfrm rot="-5400000">
            <a:off x="1732325" y="2131553"/>
            <a:ext cx="3051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59"/>
          <p:cNvSpPr/>
          <p:nvPr/>
        </p:nvSpPr>
        <p:spPr>
          <a:xfrm rot="-5400000">
            <a:off x="1509873" y="1500403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59"/>
          <p:cNvSpPr/>
          <p:nvPr/>
        </p:nvSpPr>
        <p:spPr>
          <a:xfrm rot="-5400000">
            <a:off x="1313075" y="2136203"/>
            <a:ext cx="2958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9"/>
          <p:cNvSpPr/>
          <p:nvPr/>
        </p:nvSpPr>
        <p:spPr>
          <a:xfrm rot="-5400000">
            <a:off x="1085985" y="1509703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59"/>
          <p:cNvSpPr/>
          <p:nvPr/>
        </p:nvSpPr>
        <p:spPr>
          <a:xfrm rot="-5400000">
            <a:off x="1484512" y="636875"/>
            <a:ext cx="370800" cy="7416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9" name="Google Shape;509;p59"/>
          <p:cNvCxnSpPr/>
          <p:nvPr/>
        </p:nvCxnSpPr>
        <p:spPr>
          <a:xfrm flipH="1" rot="10800000">
            <a:off x="898575" y="1216175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59"/>
          <p:cNvCxnSpPr/>
          <p:nvPr/>
        </p:nvCxnSpPr>
        <p:spPr>
          <a:xfrm flipH="1" rot="10800000">
            <a:off x="838250" y="580150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59"/>
          <p:cNvCxnSpPr/>
          <p:nvPr/>
        </p:nvCxnSpPr>
        <p:spPr>
          <a:xfrm flipH="1" rot="10800000">
            <a:off x="838250" y="2086775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59"/>
          <p:cNvCxnSpPr/>
          <p:nvPr/>
        </p:nvCxnSpPr>
        <p:spPr>
          <a:xfrm flipH="1" rot="10800000">
            <a:off x="897000" y="2486750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59"/>
          <p:cNvCxnSpPr/>
          <p:nvPr/>
        </p:nvCxnSpPr>
        <p:spPr>
          <a:xfrm>
            <a:off x="1198925" y="48825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59"/>
          <p:cNvCxnSpPr/>
          <p:nvPr/>
        </p:nvCxnSpPr>
        <p:spPr>
          <a:xfrm>
            <a:off x="1701725" y="48825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59"/>
          <p:cNvCxnSpPr/>
          <p:nvPr/>
        </p:nvCxnSpPr>
        <p:spPr>
          <a:xfrm>
            <a:off x="2104425" y="47790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59"/>
          <p:cNvCxnSpPr/>
          <p:nvPr/>
        </p:nvCxnSpPr>
        <p:spPr>
          <a:xfrm>
            <a:off x="2532150" y="47790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59"/>
          <p:cNvCxnSpPr/>
          <p:nvPr/>
        </p:nvCxnSpPr>
        <p:spPr>
          <a:xfrm>
            <a:off x="3048000" y="47790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59"/>
          <p:cNvSpPr txBox="1"/>
          <p:nvPr/>
        </p:nvSpPr>
        <p:spPr>
          <a:xfrm rot="-5400000">
            <a:off x="4093325" y="832750"/>
            <a:ext cx="2221800" cy="18741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3600">
              <a:highlight>
                <a:srgbClr val="FFEB3B"/>
              </a:highlight>
            </a:endParaRPr>
          </a:p>
        </p:txBody>
      </p:sp>
      <p:sp>
        <p:nvSpPr>
          <p:cNvPr id="519" name="Google Shape;519;p59"/>
          <p:cNvSpPr/>
          <p:nvPr/>
        </p:nvSpPr>
        <p:spPr>
          <a:xfrm rot="-5400000">
            <a:off x="5542548" y="2265144"/>
            <a:ext cx="564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9"/>
          <p:cNvSpPr/>
          <p:nvPr/>
        </p:nvSpPr>
        <p:spPr>
          <a:xfrm rot="-5400000">
            <a:off x="5449698" y="1504440"/>
            <a:ext cx="7500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9"/>
          <p:cNvSpPr/>
          <p:nvPr/>
        </p:nvSpPr>
        <p:spPr>
          <a:xfrm rot="-5400000">
            <a:off x="4696275" y="1830550"/>
            <a:ext cx="1410300" cy="3237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9"/>
          <p:cNvSpPr/>
          <p:nvPr/>
        </p:nvSpPr>
        <p:spPr>
          <a:xfrm rot="-5400000">
            <a:off x="4491614" y="2081275"/>
            <a:ext cx="564300" cy="6834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9"/>
          <p:cNvSpPr/>
          <p:nvPr/>
        </p:nvSpPr>
        <p:spPr>
          <a:xfrm rot="-5400000">
            <a:off x="4377765" y="1341575"/>
            <a:ext cx="750000" cy="6414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9"/>
          <p:cNvSpPr/>
          <p:nvPr/>
        </p:nvSpPr>
        <p:spPr>
          <a:xfrm rot="-5400000">
            <a:off x="5028587" y="216450"/>
            <a:ext cx="370800" cy="15639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5" name="Google Shape;525;p59"/>
          <p:cNvCxnSpPr/>
          <p:nvPr/>
        </p:nvCxnSpPr>
        <p:spPr>
          <a:xfrm flipH="1" rot="10800000">
            <a:off x="3991850" y="1216175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59"/>
          <p:cNvCxnSpPr/>
          <p:nvPr/>
        </p:nvCxnSpPr>
        <p:spPr>
          <a:xfrm flipH="1" rot="10800000">
            <a:off x="3931525" y="580150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59"/>
          <p:cNvCxnSpPr/>
          <p:nvPr/>
        </p:nvCxnSpPr>
        <p:spPr>
          <a:xfrm flipH="1" rot="10800000">
            <a:off x="3931525" y="2086775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59"/>
          <p:cNvCxnSpPr/>
          <p:nvPr/>
        </p:nvCxnSpPr>
        <p:spPr>
          <a:xfrm flipH="1" rot="10800000">
            <a:off x="3990275" y="2943950"/>
            <a:ext cx="2427900" cy="12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59"/>
          <p:cNvCxnSpPr/>
          <p:nvPr/>
        </p:nvCxnSpPr>
        <p:spPr>
          <a:xfrm>
            <a:off x="4292200" y="47790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59"/>
          <p:cNvCxnSpPr/>
          <p:nvPr/>
        </p:nvCxnSpPr>
        <p:spPr>
          <a:xfrm>
            <a:off x="4795000" y="47790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59"/>
          <p:cNvCxnSpPr/>
          <p:nvPr/>
        </p:nvCxnSpPr>
        <p:spPr>
          <a:xfrm>
            <a:off x="5197700" y="47790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59"/>
          <p:cNvCxnSpPr/>
          <p:nvPr/>
        </p:nvCxnSpPr>
        <p:spPr>
          <a:xfrm>
            <a:off x="5625425" y="47790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59"/>
          <p:cNvCxnSpPr/>
          <p:nvPr/>
        </p:nvCxnSpPr>
        <p:spPr>
          <a:xfrm>
            <a:off x="6141275" y="477900"/>
            <a:ext cx="0" cy="28158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" name="Google Shape;534;p59">
            <a:hlinkClick r:id="rId3"/>
          </p:cNvPr>
          <p:cNvSpPr/>
          <p:nvPr/>
        </p:nvSpPr>
        <p:spPr>
          <a:xfrm>
            <a:off x="0" y="5092700"/>
            <a:ext cx="88173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33333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 txBox="1"/>
          <p:nvPr>
            <p:ph type="ctrTitle"/>
          </p:nvPr>
        </p:nvSpPr>
        <p:spPr>
          <a:xfrm>
            <a:off x="648300" y="3175950"/>
            <a:ext cx="4229100" cy="118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</a:t>
            </a:r>
            <a:endParaRPr sz="3000"/>
          </a:p>
        </p:txBody>
      </p:sp>
      <p:grpSp>
        <p:nvGrpSpPr>
          <p:cNvPr id="540" name="Google Shape;540;p60"/>
          <p:cNvGrpSpPr/>
          <p:nvPr/>
        </p:nvGrpSpPr>
        <p:grpSpPr>
          <a:xfrm>
            <a:off x="770812" y="2018590"/>
            <a:ext cx="387933" cy="367467"/>
            <a:chOff x="2583100" y="2973775"/>
            <a:chExt cx="461550" cy="437200"/>
          </a:xfrm>
        </p:grpSpPr>
        <p:sp>
          <p:nvSpPr>
            <p:cNvPr id="541" name="Google Shape;541;p60"/>
            <p:cNvSpPr/>
            <p:nvPr/>
          </p:nvSpPr>
          <p:spPr>
            <a:xfrm>
              <a:off x="2701225" y="3315975"/>
              <a:ext cx="225300" cy="95000"/>
            </a:xfrm>
            <a:custGeom>
              <a:rect b="b" l="l" r="r" t="t"/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0"/>
            <p:cNvSpPr/>
            <p:nvPr/>
          </p:nvSpPr>
          <p:spPr>
            <a:xfrm>
              <a:off x="2583100" y="2973775"/>
              <a:ext cx="461550" cy="336125"/>
            </a:xfrm>
            <a:custGeom>
              <a:rect b="b" l="l" r="r" t="t"/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43" name="Google Shape;543;p60"/>
          <p:cNvCxnSpPr/>
          <p:nvPr/>
        </p:nvCxnSpPr>
        <p:spPr>
          <a:xfrm>
            <a:off x="754150" y="2784125"/>
            <a:ext cx="151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" name="Google Shape;544;p60"/>
          <p:cNvSpPr txBox="1"/>
          <p:nvPr>
            <p:ph type="ctrTitle"/>
          </p:nvPr>
        </p:nvSpPr>
        <p:spPr>
          <a:xfrm>
            <a:off x="682250" y="2416625"/>
            <a:ext cx="1754700" cy="36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ESERCITAZIONE 3</a:t>
            </a:r>
            <a:endParaRPr sz="1200"/>
          </a:p>
        </p:txBody>
      </p:sp>
      <p:sp>
        <p:nvSpPr>
          <p:cNvPr id="545" name="Google Shape;545;p60">
            <a:hlinkClick r:id="rId3"/>
          </p:cNvPr>
          <p:cNvSpPr/>
          <p:nvPr/>
        </p:nvSpPr>
        <p:spPr>
          <a:xfrm>
            <a:off x="0" y="5092700"/>
            <a:ext cx="9144000" cy="50700"/>
          </a:xfrm>
          <a:prstGeom prst="rect">
            <a:avLst/>
          </a:prstGeom>
          <a:solidFill>
            <a:srgbClr val="EAAD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viragus template">
  <a:themeElements>
    <a:clrScheme name="Custom 347">
      <a:dk1>
        <a:srgbClr val="555555"/>
      </a:dk1>
      <a:lt1>
        <a:srgbClr val="FFFFFF"/>
      </a:lt1>
      <a:dk2>
        <a:srgbClr val="838383"/>
      </a:dk2>
      <a:lt2>
        <a:srgbClr val="FFFFFF"/>
      </a:lt2>
      <a:accent1>
        <a:srgbClr val="5D2C3E"/>
      </a:accent1>
      <a:accent2>
        <a:srgbClr val="EAAD38"/>
      </a:accent2>
      <a:accent3>
        <a:srgbClr val="035162"/>
      </a:accent3>
      <a:accent4>
        <a:srgbClr val="CC0000"/>
      </a:accent4>
      <a:accent5>
        <a:srgbClr val="FF9800"/>
      </a:accent5>
      <a:accent6>
        <a:srgbClr val="FFEB3B"/>
      </a:accent6>
      <a:hlink>
        <a:srgbClr val="2196F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