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Montserrat"/>
      <p:regular r:id="rId39"/>
      <p:bold r:id="rId40"/>
      <p:italic r:id="rId41"/>
      <p:boldItalic r:id="rId42"/>
    </p:embeddedFont>
    <p:embeddedFont>
      <p:font typeface="Source Code Pro"/>
      <p:regular r:id="rId43"/>
      <p:bold r:id="rId44"/>
      <p:italic r:id="rId45"/>
      <p:boldItalic r:id="rId46"/>
    </p:embeddedFont>
    <p:embeddedFont>
      <p:font typeface="Fira Code"/>
      <p:regular r:id="rId47"/>
      <p:bold r:id="rId48"/>
    </p:embeddedFont>
    <p:embeddedFont>
      <p:font typeface="Karla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44" Type="http://schemas.openxmlformats.org/officeDocument/2006/relationships/font" Target="fonts/SourceCodePro-bold.fntdata"/><Relationship Id="rId43" Type="http://schemas.openxmlformats.org/officeDocument/2006/relationships/font" Target="fonts/SourceCodePro-regular.fntdata"/><Relationship Id="rId46" Type="http://schemas.openxmlformats.org/officeDocument/2006/relationships/font" Target="fonts/SourceCodePro-boldItalic.fntdata"/><Relationship Id="rId45" Type="http://schemas.openxmlformats.org/officeDocument/2006/relationships/font" Target="fonts/SourceCodePr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FiraCode-bold.fntdata"/><Relationship Id="rId47" Type="http://schemas.openxmlformats.org/officeDocument/2006/relationships/font" Target="fonts/FiraCode-regular.fntdata"/><Relationship Id="rId49" Type="http://schemas.openxmlformats.org/officeDocument/2006/relationships/font" Target="fonts/Karl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font" Target="fonts/Montserrat-regular.fntdata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Karla-italic.fntdata"/><Relationship Id="rId50" Type="http://schemas.openxmlformats.org/officeDocument/2006/relationships/font" Target="fonts/Karla-bold.fntdata"/><Relationship Id="rId52" Type="http://schemas.openxmlformats.org/officeDocument/2006/relationships/font" Target="fonts/Karla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621cb6a7f4_0_1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621cb6a7f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b23d5e08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b23d5e08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9b23d5e084_0_6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9b23d5e084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b23d5e08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b23d5e08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6e9097d0c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6e9097d0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6e9097d0c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6e9097d0c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Adaptive richiede diverse codebase per ogni piattaforma. Ad oggi, nella maggior parte dei casi, si utilizza un approccio responsive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6e9097d0cf_0_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6e9097d0c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69c058156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69c058156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6e9097d0c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6e9097d0c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 rendering di dimensioni maggiori è stato concepito perché nei primi tempo i siti web non erano responsive e non sarebbe stato possibile visualizzare i contenuti se fossero stati renderizzati alla dimensione corretta. Utilizzanto questo meta tag si dice al browser che può fidarsi di noi e che il contenuto sarà correttamente visualizzato nel dispositivo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6e9097d0c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6e9097d0c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6e9097d0cf_0_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6e9097d0c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6e9097d0c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6e9097d0c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6e9097d0c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6e9097d0c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 esempio nascondere una sidebar su mobile e sostituirla con un hamburger menu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6e9097d0c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6e9097d0c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6e9097d0c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6e9097d0c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6e9097d0c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6e9097d0c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6e9097d0c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6e9097d0c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 oggi, come vedremo su bootstrap, i breakpoint sono leggermente diversi, ma è bene tenere in considerazione standard un po’ più vecchi per questione di compatibilità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6e9097d0c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6e9097d0c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6e9097d0c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6e9097d0c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6a140726a8_0_8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6a140726a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6e9097d0cf_0_1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6e9097d0c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69c058156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69c058156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6e9097d0cf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6e9097d0c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6e9097d0cf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6e9097d0c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6e9097d0c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6e9097d0c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6e9097d0cf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6e9097d0cf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6e9097d0cf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6e9097d0cf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 oggi esiste un’evoluzione di queste unità di misura dvh e dvw creati appositamente per i browser mobile.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6e9097d0cf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6e9097d0cf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6e9097d0c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6e9097d0c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6e9097d0cf_0_2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6e9097d0cf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6e9097d0cf_0_2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6e9097d0cf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6e9097d0cf_0_29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6e9097d0cf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6e9097d0cf_0_3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6e9097d0cf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9caecedcd2_0_2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9caecedcd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648300" y="3175950"/>
            <a:ext cx="35307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5" name="Google Shape;15;p3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724950" y="3265700"/>
            <a:ext cx="1906200" cy="10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1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1" name="Google Shape;21;p4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ig image">
  <p:cSld name="TITLE_1_2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092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-193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2" name="Google Shape;32;p6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Google Shape;33;p6"/>
          <p:cNvSpPr txBox="1"/>
          <p:nvPr/>
        </p:nvSpPr>
        <p:spPr>
          <a:xfrm>
            <a:off x="799645" y="697675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8250" y="16573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Font typeface="Montserrat"/>
              <a:buChar char="▸"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8" name="Google Shape;38;p7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44" name="Google Shape;44;p8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841001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3673842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+2 columns">
  <p:cSld name="TITLE_AND_TWO_COLUMNS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1" name="Google Shape;51;p9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84100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367385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838250" y="1504950"/>
            <a:ext cx="5507400" cy="12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9" name="Google Shape;59;p10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841000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3043281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0"/>
          <p:cNvSpPr txBox="1"/>
          <p:nvPr>
            <p:ph idx="3" type="body"/>
          </p:nvPr>
        </p:nvSpPr>
        <p:spPr>
          <a:xfrm>
            <a:off x="5245562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67" name="Google Shape;67;p11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2" name="Google Shape;72;p12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841000" y="4025300"/>
            <a:ext cx="78459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7" name="Google Shape;77;p13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er">
  <p:cSld name="BLANK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529500" y="556000"/>
            <a:ext cx="8085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301525" y="1515201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4" name="Google Shape;84;p14"/>
          <p:cNvSpPr txBox="1"/>
          <p:nvPr>
            <p:ph idx="2" type="body"/>
          </p:nvPr>
        </p:nvSpPr>
        <p:spPr>
          <a:xfrm>
            <a:off x="4944100" y="1582226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▸"/>
              <a:defRPr sz="1600">
                <a:solidFill>
                  <a:srgbClr val="FFFFFF"/>
                </a:solidFill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2">
  <p:cSld name="BLANK_1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full">
  <p:cSld name="BLANK_1_2">
    <p:bg>
      <p:bgPr>
        <a:solidFill>
          <a:srgbClr val="333333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838200" y="255000"/>
            <a:ext cx="7467600" cy="46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▸"/>
              <a:defRPr>
                <a:solidFill>
                  <a:srgbClr val="FFFFFF"/>
                </a:solidFill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8">
          <p15:clr>
            <a:srgbClr val="FA7B17"/>
          </p15:clr>
        </p15:guide>
        <p15:guide id="2" pos="5232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1">
  <p:cSld name="BLANK_1_1">
    <p:bg>
      <p:bgPr>
        <a:noFill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">
  <p:cSld name="BLANK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 flipH="1">
            <a:off x="0" y="159275"/>
            <a:ext cx="9143546" cy="499750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94" name="Google Shape;94;p18"/>
          <p:cNvSpPr/>
          <p:nvPr/>
        </p:nvSpPr>
        <p:spPr>
          <a:xfrm flipH="1">
            <a:off x="225" y="238925"/>
            <a:ext cx="9143546" cy="491804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861825" y="1455400"/>
            <a:ext cx="74058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▸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7">
          <p15:clr>
            <a:srgbClr val="FA7B17"/>
          </p15:clr>
        </p15:guide>
        <p15:guide id="2" pos="5193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BLANK_1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">
  <p:cSld name="BLANK_1_1_2">
    <p:bg>
      <p:bgPr>
        <a:solidFill>
          <a:srgbClr val="33333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1227210" y="-10450"/>
            <a:ext cx="7915701" cy="5164387"/>
            <a:chOff x="1113125" y="-10450"/>
            <a:chExt cx="8443415" cy="5164387"/>
          </a:xfrm>
        </p:grpSpPr>
        <p:sp>
          <p:nvSpPr>
            <p:cNvPr id="102" name="Google Shape;102;p20"/>
            <p:cNvSpPr/>
            <p:nvPr/>
          </p:nvSpPr>
          <p:spPr>
            <a:xfrm rot="10800000">
              <a:off x="11131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000000">
                <a:alpha val="7310"/>
              </a:srgbClr>
            </a:solidFill>
            <a:ln>
              <a:noFill/>
            </a:ln>
          </p:spPr>
        </p:sp>
        <p:sp>
          <p:nvSpPr>
            <p:cNvPr id="103" name="Google Shape;103;p20"/>
            <p:cNvSpPr/>
            <p:nvPr/>
          </p:nvSpPr>
          <p:spPr>
            <a:xfrm rot="10800000">
              <a:off x="13272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336375" y="1989650"/>
            <a:ext cx="1483200" cy="27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600"/>
              </a:spcBef>
              <a:spcAft>
                <a:spcPts val="0"/>
              </a:spcAft>
              <a:buSzPts val="2000"/>
              <a:buFont typeface="Fira Code"/>
              <a:buNone/>
              <a:defRPr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2692125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1">
  <p:cSld name="BLANK_1_1_2_1">
    <p:bg>
      <p:bgPr>
        <a:noFill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0" y="0"/>
            <a:ext cx="2379000" cy="515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819450" y="1504950"/>
            <a:ext cx="58233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3" name="Google Shape;113;p21"/>
          <p:cNvSpPr/>
          <p:nvPr/>
        </p:nvSpPr>
        <p:spPr>
          <a:xfrm>
            <a:off x="2377450" y="0"/>
            <a:ext cx="543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ample">
  <p:cSld name="TITLE_AND_BODY_1"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838350" y="893500"/>
            <a:ext cx="7188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838250" y="1504950"/>
            <a:ext cx="75405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3">
  <p:cSld name="BLANK_1_5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33333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41100"/>
            <a:ext cx="518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352550"/>
            <a:ext cx="51852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▸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#PROGRESS_BAR_I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#PROGRESS_BAR_I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#PROGRESS_BAR_I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#PROGRESS_BAR_I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s://medium.com/react-camp/adaptive-responsive-reactive-62fb938d6191" TargetMode="External"/><Relationship Id="rId5" Type="http://schemas.openxmlformats.org/officeDocument/2006/relationships/hyperlink" Target="#PROGRESS_BAR_I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#PROGRESS_BAR_I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hyperlink" Target="#PROGRESS_BAR_I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#PROGRESS_BAR_I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#PROGRESS_BAR_I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#PROGRESS_BAR_I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hyperlink" Target="#PROGRESS_BAR_I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hyperlink" Target="#PROGRESS_BAR_I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hyperlink" Target="#PROGRESS_BAR_ID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hyperlink" Target="#PROGRESS_BAR_I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hyperlink" Target="#PROGRESS_BAR_ID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hyperlink" Target="#PROGRESS_BAR_ID" TargetMode="External"/><Relationship Id="rId4" Type="http://schemas.openxmlformats.org/officeDocument/2006/relationships/hyperlink" Target="https://stackblitz.com/edit/stackblitz-starters-wro1wk?file=styles.cs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hyperlink" Target="#PROGRESS_BAR_ID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#PROGRESS_BAR_ID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hyperlink" Target="#PROGRESS_BAR_ID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#PROGRESS_BAR_ID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hyperlink" Target="#PROGRESS_BAR_ID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hyperlink" Target="#PROGRESS_BAR_ID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ss-tricks.com/oh-hey-padding-percentage-is-based-on-the-parent-elements-width/" TargetMode="External"/><Relationship Id="rId4" Type="http://schemas.openxmlformats.org/officeDocument/2006/relationships/hyperlink" Target="https://stackoverflow.com/a/18295172" TargetMode="External"/><Relationship Id="rId5" Type="http://schemas.openxmlformats.org/officeDocument/2006/relationships/hyperlink" Target="#PROGRESS_BAR_I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hyperlink" Target="#PROGRESS_BAR_ID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stackblitz.com/edit/web-platform-nn5rhn?file=index.html,styles.css" TargetMode="External"/><Relationship Id="rId4" Type="http://schemas.openxmlformats.org/officeDocument/2006/relationships/hyperlink" Target="#PROGRESS_BAR_ID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hyperlink" Target="#PROGRESS_BAR_ID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odepen.io/kevinpowell/pen/MWoYgrN" TargetMode="External"/><Relationship Id="rId4" Type="http://schemas.openxmlformats.org/officeDocument/2006/relationships/hyperlink" Target="https://www.youtube.com/watch?v=wARbgs5Fmuw" TargetMode="External"/><Relationship Id="rId5" Type="http://schemas.openxmlformats.org/officeDocument/2006/relationships/hyperlink" Target="#PROGRESS_BAR_ID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stackblitz.com/edit/stackblitz-starters-4gpyod?file=styles.css" TargetMode="External"/><Relationship Id="rId4" Type="http://schemas.openxmlformats.org/officeDocument/2006/relationships/hyperlink" Target="https://codepen.io/metacracker/full/KwMjRa" TargetMode="External"/><Relationship Id="rId5" Type="http://schemas.openxmlformats.org/officeDocument/2006/relationships/hyperlink" Target="https://codepen.io/girliemac/pen/CuvBc" TargetMode="External"/><Relationship Id="rId6" Type="http://schemas.openxmlformats.org/officeDocument/2006/relationships/hyperlink" Target="#PROGRESS_BAR_ID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Relationship Id="rId3" Type="http://schemas.openxmlformats.org/officeDocument/2006/relationships/hyperlink" Target="#PROGRESS_BAR_ID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support.google.com/adsense/answer/132618?hl=it" TargetMode="External"/><Relationship Id="rId4" Type="http://schemas.openxmlformats.org/officeDocument/2006/relationships/hyperlink" Target="#PROGRESS_BAR_ID" TargetMode="External"/><Relationship Id="rId5" Type="http://schemas.openxmlformats.org/officeDocument/2006/relationships/hyperlink" Target="https://stackblitz.com/edit/stackblitz-starters-mmxdal?file=index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Relationship Id="rId3" Type="http://schemas.openxmlformats.org/officeDocument/2006/relationships/hyperlink" Target="#PROGRESS_BAR_ID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Relationship Id="rId3" Type="http://schemas.openxmlformats.org/officeDocument/2006/relationships/hyperlink" Target="#PROGRESS_BAR_ID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#PROGRESS_BAR_I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</a:rPr>
              <a:t>CVeDI (8 CFU)</a:t>
            </a:r>
            <a:r>
              <a:rPr lang="en"/>
              <a:t> </a:t>
            </a:r>
            <a:endParaRPr/>
          </a:p>
        </p:txBody>
      </p:sp>
      <p:grpSp>
        <p:nvGrpSpPr>
          <p:cNvPr id="125" name="Google Shape;125;p24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126" name="Google Shape;126;p24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4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8" name="Google Shape;128;p24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4"/>
          <p:cNvSpPr txBox="1"/>
          <p:nvPr/>
        </p:nvSpPr>
        <p:spPr>
          <a:xfrm>
            <a:off x="682250" y="2416625"/>
            <a:ext cx="28701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ESERCITAZIONE 4</a:t>
            </a:r>
            <a:endParaRPr b="1" sz="12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459" y="209475"/>
            <a:ext cx="885366" cy="96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24"/>
          <p:cNvGrpSpPr/>
          <p:nvPr/>
        </p:nvGrpSpPr>
        <p:grpSpPr>
          <a:xfrm>
            <a:off x="7075525" y="209475"/>
            <a:ext cx="935100" cy="965400"/>
            <a:chOff x="2211650" y="411500"/>
            <a:chExt cx="935100" cy="965400"/>
          </a:xfrm>
        </p:grpSpPr>
        <p:sp>
          <p:nvSpPr>
            <p:cNvPr id="132" name="Google Shape;132;p24"/>
            <p:cNvSpPr/>
            <p:nvPr/>
          </p:nvSpPr>
          <p:spPr>
            <a:xfrm>
              <a:off x="2211650" y="411500"/>
              <a:ext cx="935100" cy="96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" name="Google Shape;133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41325" y="456337"/>
              <a:ext cx="875725" cy="87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4"/>
          <p:cNvSpPr txBox="1"/>
          <p:nvPr/>
        </p:nvSpPr>
        <p:spPr>
          <a:xfrm>
            <a:off x="5802725" y="3214950"/>
            <a:ext cx="2948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 Guarnieri</a:t>
            </a:r>
            <a:endParaRPr b="1" sz="13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elia.guarnieri@unimib.it</a:t>
            </a:r>
            <a:endParaRPr b="1" i="1" sz="11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Interfacce responsive e approccio mobile-first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Responsive web design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Viewport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Media Queries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Unità di misura relative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5">
            <a:hlinkClick r:id="rId3"/>
          </p:cNvPr>
          <p:cNvSpPr/>
          <p:nvPr/>
        </p:nvSpPr>
        <p:spPr>
          <a:xfrm>
            <a:off x="0" y="5092700"/>
            <a:ext cx="277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ctrTitle"/>
          </p:nvPr>
        </p:nvSpPr>
        <p:spPr>
          <a:xfrm>
            <a:off x="648300" y="1354750"/>
            <a:ext cx="39015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RESPONSIVE </a:t>
            </a:r>
            <a:br>
              <a:rPr lang="en"/>
            </a:br>
            <a:r>
              <a:rPr lang="en"/>
              <a:t>WEB DESIGN</a:t>
            </a:r>
            <a:endParaRPr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49" name="Google Shape;149;p26">
            <a:hlinkClick r:id="rId3"/>
          </p:cNvPr>
          <p:cNvSpPr/>
          <p:nvPr/>
        </p:nvSpPr>
        <p:spPr>
          <a:xfrm>
            <a:off x="0" y="5092700"/>
            <a:ext cx="554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Responsive design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838250" y="1504950"/>
            <a:ext cx="5324100" cy="28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Il </a:t>
            </a:r>
            <a:r>
              <a:rPr b="1" lang="en" sz="1500"/>
              <a:t>Responsive Design</a:t>
            </a:r>
            <a:r>
              <a:rPr lang="en" sz="1500"/>
              <a:t> è un approccio che si è reso necessario in seguito alla diffusione dei dispositivi mobili (smartphone, tablet, etc)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I dispositivi mobili hanno dimensioni e forme molto differenti rispetto ai desktop, e molto differenti tra loro. Il design dei siti web deve adattarsi a queste caratteristiche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Ad esempio: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▸"/>
            </a:pPr>
            <a:r>
              <a:rPr b="1" lang="en" sz="1500"/>
              <a:t>Griglie </a:t>
            </a:r>
            <a:r>
              <a:rPr lang="en" sz="1500"/>
              <a:t>flessibili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/>
              <a:t>Immagini </a:t>
            </a:r>
            <a:r>
              <a:rPr lang="en" sz="1500"/>
              <a:t>dalle dimensioni responsive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/>
              <a:t>Testi </a:t>
            </a:r>
            <a:r>
              <a:rPr lang="en" sz="1500"/>
              <a:t>con dimensioni relative</a:t>
            </a:r>
            <a:endParaRPr sz="1500"/>
          </a:p>
        </p:txBody>
      </p:sp>
      <p:sp>
        <p:nvSpPr>
          <p:cNvPr id="157" name="Google Shape;157;p27">
            <a:hlinkClick r:id="rId3"/>
          </p:cNvPr>
          <p:cNvSpPr/>
          <p:nvPr/>
        </p:nvSpPr>
        <p:spPr>
          <a:xfrm>
            <a:off x="0" y="5092700"/>
            <a:ext cx="831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8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I siti web su schermi piccoli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838250" y="1504950"/>
            <a:ext cx="5324100" cy="18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Quando visualizzato da smartphone, il sito deve essere pensato affinché tutti gli elementi siano ben visibili, ma soprattutto accessibili all’interazione touch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Affinché questo sia possibile esistono due approcci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Responsive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Adaptive</a:t>
            </a:r>
            <a:endParaRPr sz="1500"/>
          </a:p>
        </p:txBody>
      </p:sp>
      <p:sp>
        <p:nvSpPr>
          <p:cNvPr id="165" name="Google Shape;165;p28">
            <a:hlinkClick r:id="rId3"/>
          </p:cNvPr>
          <p:cNvSpPr/>
          <p:nvPr/>
        </p:nvSpPr>
        <p:spPr>
          <a:xfrm>
            <a:off x="0" y="5092700"/>
            <a:ext cx="1108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9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Responsive VS Adaptive</a:t>
            </a:r>
            <a:endParaRPr>
              <a:solidFill>
                <a:srgbClr val="999999"/>
              </a:solidFill>
            </a:endParaRPr>
          </a:p>
        </p:txBody>
      </p:sp>
      <p:pic>
        <p:nvPicPr>
          <p:cNvPr id="172" name="Google Shape;172;p29"/>
          <p:cNvPicPr preferRelativeResize="0"/>
          <p:nvPr/>
        </p:nvPicPr>
        <p:blipFill rotWithShape="1">
          <a:blip r:embed="rId3">
            <a:alphaModFix/>
          </a:blip>
          <a:srcRect b="3087" l="2385" r="2213" t="2234"/>
          <a:stretch/>
        </p:blipFill>
        <p:spPr>
          <a:xfrm>
            <a:off x="5251125" y="1334025"/>
            <a:ext cx="3653701" cy="24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838250" y="2419350"/>
            <a:ext cx="3148200" cy="16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Il design responsive è fluido. Si adatta a ogni schermo. I contenuti sono “come l’acqua”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Il design adaptive fornisce template differenti a device con risoluzione differente</a:t>
            </a:r>
            <a:endParaRPr sz="1500"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838300" y="4364950"/>
            <a:ext cx="31482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Per approfondire</a:t>
            </a:r>
            <a:endParaRPr sz="1300"/>
          </a:p>
        </p:txBody>
      </p:sp>
      <p:sp>
        <p:nvSpPr>
          <p:cNvPr id="175" name="Google Shape;175;p29">
            <a:hlinkClick r:id="rId5"/>
          </p:cNvPr>
          <p:cNvSpPr/>
          <p:nvPr/>
        </p:nvSpPr>
        <p:spPr>
          <a:xfrm>
            <a:off x="0" y="5092700"/>
            <a:ext cx="13854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ctrTitle"/>
          </p:nvPr>
        </p:nvSpPr>
        <p:spPr>
          <a:xfrm>
            <a:off x="648300" y="1354750"/>
            <a:ext cx="39015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VIEWPORT</a:t>
            </a:r>
            <a:endParaRPr/>
          </a:p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82" name="Google Shape;182;p30">
            <a:hlinkClick r:id="rId3"/>
          </p:cNvPr>
          <p:cNvSpPr/>
          <p:nvPr/>
        </p:nvSpPr>
        <p:spPr>
          <a:xfrm>
            <a:off x="0" y="5092700"/>
            <a:ext cx="16626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31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Il viewport</a:t>
            </a:r>
            <a:endParaRPr/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838250" y="1504950"/>
            <a:ext cx="53241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Le pagine ottimizzate per dispositivi con diverse dimensioni </a:t>
            </a:r>
            <a:r>
              <a:rPr b="1" lang="en" sz="1500">
                <a:highlight>
                  <a:schemeClr val="lt1"/>
                </a:highlight>
              </a:rPr>
              <a:t>devono</a:t>
            </a:r>
            <a:r>
              <a:rPr lang="en" sz="1500">
                <a:highlight>
                  <a:schemeClr val="lt1"/>
                </a:highlight>
              </a:rPr>
              <a:t> contenere un elemento </a:t>
            </a:r>
            <a:r>
              <a:rPr b="1" lang="en" sz="1500">
                <a:highlight>
                  <a:schemeClr val="lt1"/>
                </a:highlight>
              </a:rPr>
              <a:t>meta viewport</a:t>
            </a:r>
            <a:r>
              <a:rPr lang="en" sz="1500">
                <a:highlight>
                  <a:schemeClr val="lt1"/>
                </a:highlight>
              </a:rPr>
              <a:t> nella sezione 'head' del documento, che indica al browser come controllare dimensioni e scala della pagina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Il viewport è l’area della pagina visibile all’utente</a:t>
            </a:r>
            <a:endParaRPr sz="1500">
              <a:highlight>
                <a:schemeClr val="lt1"/>
              </a:highlight>
            </a:endParaRPr>
          </a:p>
        </p:txBody>
      </p:sp>
      <p:sp>
        <p:nvSpPr>
          <p:cNvPr id="190" name="Google Shape;190;p31">
            <a:hlinkClick r:id="rId3"/>
          </p:cNvPr>
          <p:cNvSpPr/>
          <p:nvPr/>
        </p:nvSpPr>
        <p:spPr>
          <a:xfrm>
            <a:off x="0" y="5092700"/>
            <a:ext cx="1939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2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Controllare il viewport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838250" y="1504950"/>
            <a:ext cx="5324100" cy="21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Gli schermi dei dispositivi più stretti renderizzano le pagine in un viewport che solitamente è più largo dello schermo. 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Per esempio, se lo schermo di uno smartphone ha una larghezza di 640 pixel, le pagine potrebbero essere renderizzate con una finestra virtuale di 980 pixel, e successivamente ristrette per stare nello spazio di 640 pixel. 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Per imporre al browser di impostare la larghezza della viewport basandosi sulla larghezza dello schermo del dispositivo dobbiamo inserire meta viewport</a:t>
            </a:r>
            <a:endParaRPr sz="1300">
              <a:highlight>
                <a:schemeClr val="lt1"/>
              </a:highlight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940725" y="3644550"/>
            <a:ext cx="5788800" cy="34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meta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name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"viewport"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content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"width=device-width, initial-scale=1.0"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32">
            <a:hlinkClick r:id="rId3"/>
          </p:cNvPr>
          <p:cNvSpPr/>
          <p:nvPr/>
        </p:nvSpPr>
        <p:spPr>
          <a:xfrm>
            <a:off x="0" y="5092700"/>
            <a:ext cx="2216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3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Controllare il viewport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838250" y="2419350"/>
            <a:ext cx="3148200" cy="20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L’attributo </a:t>
            </a:r>
            <a:r>
              <a:rPr b="1" lang="en" sz="1300"/>
              <a:t>width=device-width</a:t>
            </a:r>
            <a:r>
              <a:rPr lang="en" sz="1300"/>
              <a:t> comunica al browser di impostare la larghezza (width) della viewport in base alla larghezza dello schermo del dispositivo (device-width).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L'attributo </a:t>
            </a:r>
            <a:r>
              <a:rPr b="1" lang="en" sz="1300"/>
              <a:t>initial-scale</a:t>
            </a:r>
            <a:r>
              <a:rPr lang="en" sz="1300"/>
              <a:t> imposta il fattore di zoom iniziale nel momento in cui la pagina viene caricata. </a:t>
            </a:r>
            <a:r>
              <a:rPr b="1" lang="en" sz="1300"/>
              <a:t>1</a:t>
            </a:r>
            <a:r>
              <a:rPr lang="en" sz="1300"/>
              <a:t> corrisponde a nessuno zoom</a:t>
            </a:r>
            <a:endParaRPr sz="1300"/>
          </a:p>
        </p:txBody>
      </p:sp>
      <p:pic>
        <p:nvPicPr>
          <p:cNvPr id="207" name="Google Shape;207;p33"/>
          <p:cNvPicPr preferRelativeResize="0"/>
          <p:nvPr/>
        </p:nvPicPr>
        <p:blipFill rotWithShape="1">
          <a:blip r:embed="rId3">
            <a:alphaModFix/>
          </a:blip>
          <a:srcRect b="9337" l="0" r="0" t="11599"/>
          <a:stretch/>
        </p:blipFill>
        <p:spPr>
          <a:xfrm>
            <a:off x="7158116" y="1161125"/>
            <a:ext cx="1467584" cy="206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3"/>
          <p:cNvPicPr preferRelativeResize="0"/>
          <p:nvPr/>
        </p:nvPicPr>
        <p:blipFill rotWithShape="1">
          <a:blip r:embed="rId4">
            <a:alphaModFix/>
          </a:blip>
          <a:srcRect b="7870" l="-4178" r="0" t="12315"/>
          <a:stretch/>
        </p:blipFill>
        <p:spPr>
          <a:xfrm>
            <a:off x="5437508" y="1161125"/>
            <a:ext cx="1514536" cy="2062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3"/>
          <p:cNvSpPr txBox="1"/>
          <p:nvPr/>
        </p:nvSpPr>
        <p:spPr>
          <a:xfrm>
            <a:off x="5437500" y="3349350"/>
            <a:ext cx="3000000" cy="1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La stessa schermata con il controllo del viewport (sinistra) e senza (destra).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Nota: Ogni quadratino è di 50px</a:t>
            </a:r>
            <a:endParaRPr sz="1050">
              <a:solidFill>
                <a:srgbClr val="5C6370"/>
              </a:solidFill>
              <a:highlight>
                <a:srgbClr val="282C34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33">
            <a:hlinkClick r:id="rId5"/>
          </p:cNvPr>
          <p:cNvSpPr/>
          <p:nvPr/>
        </p:nvSpPr>
        <p:spPr>
          <a:xfrm>
            <a:off x="0" y="5092700"/>
            <a:ext cx="2493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ctrTitle"/>
          </p:nvPr>
        </p:nvSpPr>
        <p:spPr>
          <a:xfrm>
            <a:off x="648300" y="1354750"/>
            <a:ext cx="39015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QUERIES</a:t>
            </a:r>
            <a:endParaRPr/>
          </a:p>
        </p:txBody>
      </p:sp>
      <p:sp>
        <p:nvSpPr>
          <p:cNvPr id="216" name="Google Shape;216;p3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17" name="Google Shape;217;p34">
            <a:hlinkClick r:id="rId3"/>
          </p:cNvPr>
          <p:cNvSpPr/>
          <p:nvPr/>
        </p:nvSpPr>
        <p:spPr>
          <a:xfrm>
            <a:off x="0" y="5092700"/>
            <a:ext cx="2770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La regola @media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838250" y="1504950"/>
            <a:ext cx="5324100" cy="14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La regola </a:t>
            </a:r>
            <a:r>
              <a:rPr b="1" lang="en" sz="1300">
                <a:highlight>
                  <a:schemeClr val="lt1"/>
                </a:highlight>
              </a:rPr>
              <a:t>@media</a:t>
            </a:r>
            <a:r>
              <a:rPr lang="en" sz="1300">
                <a:highlight>
                  <a:schemeClr val="lt1"/>
                </a:highlight>
              </a:rPr>
              <a:t> è stata introdotta nei CSS3. Può contenere un blocco di regole CSS che il browser deve tenere in considerazione solo se alcune condizioni sono soddisfatte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Il </a:t>
            </a:r>
            <a:r>
              <a:rPr b="1" lang="en" sz="1300">
                <a:highlight>
                  <a:schemeClr val="lt1"/>
                </a:highlight>
              </a:rPr>
              <a:t>breakpoint </a:t>
            </a:r>
            <a:r>
              <a:rPr lang="en" sz="1300">
                <a:highlight>
                  <a:schemeClr val="lt1"/>
                </a:highlight>
              </a:rPr>
              <a:t>è un “punto di rottura” in cui avviene un cambiamento tra un blocco di regole e un altro. Si possono inserire breakpoint multipli, per definire molti insiemi differenti di regole</a:t>
            </a:r>
            <a:endParaRPr sz="1300">
              <a:highlight>
                <a:schemeClr val="lt1"/>
              </a:highlight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940725" y="2967150"/>
            <a:ext cx="5788800" cy="1881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.box ha larghezza 100% su schermi minori di 768 px */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@media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only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screen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and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(max-width: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768px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.box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 width: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100%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.box ha larghezza 400px su schermi maggiori di 768 px */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@media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only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screen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and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(min-width: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768px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.box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 width: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400px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35">
            <a:hlinkClick r:id="rId3"/>
          </p:cNvPr>
          <p:cNvSpPr/>
          <p:nvPr/>
        </p:nvSpPr>
        <p:spPr>
          <a:xfrm>
            <a:off x="0" y="5092700"/>
            <a:ext cx="3048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Nascondere gli elementi su mobile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838250" y="1504950"/>
            <a:ext cx="53241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Potreste voler nascondere alcuni elementi nella versione mobile dei vostri design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Per farlo, basta dichiarare</a:t>
            </a:r>
            <a:endParaRPr sz="1300">
              <a:highlight>
                <a:schemeClr val="lt1"/>
              </a:highlight>
            </a:endParaRPr>
          </a:p>
        </p:txBody>
      </p:sp>
      <p:sp>
        <p:nvSpPr>
          <p:cNvPr id="234" name="Google Shape;234;p36"/>
          <p:cNvSpPr txBox="1"/>
          <p:nvPr/>
        </p:nvSpPr>
        <p:spPr>
          <a:xfrm>
            <a:off x="940725" y="2366850"/>
            <a:ext cx="5788800" cy="1443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questo div è nascosto su schermi minori di 520 px */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@media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only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screen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and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(max-width: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520px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.example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display: none;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5" name="Google Shape;235;p36">
            <a:hlinkClick r:id="rId3"/>
          </p:cNvPr>
          <p:cNvSpPr/>
          <p:nvPr/>
        </p:nvSpPr>
        <p:spPr>
          <a:xfrm>
            <a:off x="0" y="5092700"/>
            <a:ext cx="3325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3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La sintassi di @media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42" name="Google Shape;242;p37"/>
          <p:cNvSpPr txBox="1"/>
          <p:nvPr>
            <p:ph idx="1" type="body"/>
          </p:nvPr>
        </p:nvSpPr>
        <p:spPr>
          <a:xfrm>
            <a:off x="838250" y="1504950"/>
            <a:ext cx="53241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Le media query possono specificare stili per differenti tipi di schermi (mediatype). 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Le mediafeature permettono di dichiarare dettagli più specifici</a:t>
            </a:r>
            <a:endParaRPr sz="1300">
              <a:highlight>
                <a:schemeClr val="lt1"/>
              </a:highlight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940725" y="2737550"/>
            <a:ext cx="61911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@media not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|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only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mediatype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and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(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mediafeature and|or|not mediafeature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CSS-Code;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4" name="Google Shape;244;p37">
            <a:hlinkClick r:id="rId3"/>
          </p:cNvPr>
          <p:cNvSpPr/>
          <p:nvPr/>
        </p:nvSpPr>
        <p:spPr>
          <a:xfrm>
            <a:off x="0" y="5092700"/>
            <a:ext cx="3602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38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Mediatypes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51" name="Google Shape;251;p38"/>
          <p:cNvSpPr txBox="1"/>
          <p:nvPr>
            <p:ph idx="1" type="body"/>
          </p:nvPr>
        </p:nvSpPr>
        <p:spPr>
          <a:xfrm>
            <a:off x="838250" y="1504950"/>
            <a:ext cx="5324100" cy="16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I diversi possibili </a:t>
            </a:r>
            <a:r>
              <a:rPr i="1" lang="en" sz="1500">
                <a:highlight>
                  <a:schemeClr val="lt1"/>
                </a:highlight>
              </a:rPr>
              <a:t>mediatypes </a:t>
            </a:r>
            <a:r>
              <a:rPr lang="en" sz="1500">
                <a:highlight>
                  <a:schemeClr val="lt1"/>
                </a:highlight>
              </a:rPr>
              <a:t>(i più comuni):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b="1" lang="en" sz="1500">
                <a:highlight>
                  <a:schemeClr val="lt1"/>
                </a:highlight>
              </a:rPr>
              <a:t>all </a:t>
            </a:r>
            <a:r>
              <a:rPr lang="en" sz="1500">
                <a:highlight>
                  <a:schemeClr val="lt1"/>
                </a:highlight>
              </a:rPr>
              <a:t>(default)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>
                <a:highlight>
                  <a:schemeClr val="lt1"/>
                </a:highlight>
              </a:rPr>
              <a:t>screen </a:t>
            </a:r>
            <a:r>
              <a:rPr lang="en" sz="1500">
                <a:highlight>
                  <a:schemeClr val="lt1"/>
                </a:highlight>
              </a:rPr>
              <a:t>(di computer, smartphone,tablet)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>
                <a:highlight>
                  <a:schemeClr val="lt1"/>
                </a:highlight>
              </a:rPr>
              <a:t>print </a:t>
            </a:r>
            <a:r>
              <a:rPr lang="en" sz="1500">
                <a:highlight>
                  <a:schemeClr val="lt1"/>
                </a:highlight>
              </a:rPr>
              <a:t>(per le stampanti)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>
                <a:highlight>
                  <a:schemeClr val="lt1"/>
                </a:highlight>
              </a:rPr>
              <a:t>projection </a:t>
            </a:r>
            <a:r>
              <a:rPr lang="en" sz="1500">
                <a:highlight>
                  <a:schemeClr val="lt1"/>
                </a:highlight>
              </a:rPr>
              <a:t>(per i proiettori)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>
                <a:highlight>
                  <a:schemeClr val="lt1"/>
                </a:highlight>
              </a:rPr>
              <a:t>tv </a:t>
            </a:r>
            <a:r>
              <a:rPr lang="en" sz="1500">
                <a:highlight>
                  <a:schemeClr val="lt1"/>
                </a:highlight>
              </a:rPr>
              <a:t>(per le televisioni)</a:t>
            </a:r>
            <a:endParaRPr sz="1500">
              <a:highlight>
                <a:schemeClr val="lt1"/>
              </a:highlight>
            </a:endParaRPr>
          </a:p>
        </p:txBody>
      </p:sp>
      <p:sp>
        <p:nvSpPr>
          <p:cNvPr id="252" name="Google Shape;252;p38">
            <a:hlinkClick r:id="rId3"/>
          </p:cNvPr>
          <p:cNvSpPr/>
          <p:nvPr/>
        </p:nvSpPr>
        <p:spPr>
          <a:xfrm>
            <a:off x="0" y="5092700"/>
            <a:ext cx="3879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3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Mediafeatures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59" name="Google Shape;259;p39"/>
          <p:cNvSpPr txBox="1"/>
          <p:nvPr>
            <p:ph idx="1" type="body"/>
          </p:nvPr>
        </p:nvSpPr>
        <p:spPr>
          <a:xfrm>
            <a:off x="838250" y="1504950"/>
            <a:ext cx="5324100" cy="25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Le possibili mediafeatures (le più comuni):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b="1" lang="en" sz="1500">
                <a:highlight>
                  <a:schemeClr val="lt1"/>
                </a:highlight>
              </a:rPr>
              <a:t>width</a:t>
            </a:r>
            <a:r>
              <a:rPr lang="en" sz="1500">
                <a:highlight>
                  <a:schemeClr val="lt1"/>
                </a:highlight>
              </a:rPr>
              <a:t>, </a:t>
            </a:r>
            <a:r>
              <a:rPr b="1" lang="en" sz="1500">
                <a:highlight>
                  <a:schemeClr val="lt1"/>
                </a:highlight>
              </a:rPr>
              <a:t>height</a:t>
            </a:r>
            <a:r>
              <a:rPr lang="en" sz="1500">
                <a:highlight>
                  <a:schemeClr val="lt1"/>
                </a:highlight>
              </a:rPr>
              <a:t>, </a:t>
            </a:r>
            <a:r>
              <a:rPr b="1" lang="en" sz="1500">
                <a:highlight>
                  <a:schemeClr val="lt1"/>
                </a:highlight>
              </a:rPr>
              <a:t>min-width</a:t>
            </a:r>
            <a:r>
              <a:rPr lang="en" sz="1500">
                <a:highlight>
                  <a:schemeClr val="lt1"/>
                </a:highlight>
              </a:rPr>
              <a:t>, </a:t>
            </a:r>
            <a:r>
              <a:rPr b="1" lang="en" sz="1500">
                <a:highlight>
                  <a:schemeClr val="lt1"/>
                </a:highlight>
              </a:rPr>
              <a:t>min-height</a:t>
            </a:r>
            <a:r>
              <a:rPr lang="en" sz="1500">
                <a:highlight>
                  <a:schemeClr val="lt1"/>
                </a:highlight>
              </a:rPr>
              <a:t>, </a:t>
            </a:r>
            <a:r>
              <a:rPr b="1" lang="en" sz="1500">
                <a:highlight>
                  <a:schemeClr val="lt1"/>
                </a:highlight>
              </a:rPr>
              <a:t>max-width</a:t>
            </a:r>
            <a:r>
              <a:rPr lang="en" sz="1500">
                <a:highlight>
                  <a:schemeClr val="lt1"/>
                </a:highlight>
              </a:rPr>
              <a:t>, </a:t>
            </a:r>
            <a:r>
              <a:rPr b="1" lang="en" sz="1500">
                <a:highlight>
                  <a:schemeClr val="lt1"/>
                </a:highlight>
              </a:rPr>
              <a:t>max-height</a:t>
            </a:r>
            <a:endParaRPr b="1"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>
                <a:highlight>
                  <a:schemeClr val="lt1"/>
                </a:highlight>
              </a:rPr>
              <a:t>color</a:t>
            </a:r>
            <a:r>
              <a:rPr lang="en" sz="1500">
                <a:highlight>
                  <a:schemeClr val="lt1"/>
                </a:highlight>
              </a:rPr>
              <a:t>, </a:t>
            </a:r>
            <a:r>
              <a:rPr b="1" lang="en" sz="1500">
                <a:highlight>
                  <a:schemeClr val="lt1"/>
                </a:highlight>
              </a:rPr>
              <a:t>min-color</a:t>
            </a:r>
            <a:r>
              <a:rPr lang="en" sz="1500">
                <a:highlight>
                  <a:schemeClr val="lt1"/>
                </a:highlight>
              </a:rPr>
              <a:t>, </a:t>
            </a:r>
            <a:r>
              <a:rPr b="1" lang="en" sz="1500">
                <a:highlight>
                  <a:schemeClr val="lt1"/>
                </a:highlight>
              </a:rPr>
              <a:t>max-color</a:t>
            </a:r>
            <a:r>
              <a:rPr lang="en" sz="1500">
                <a:highlight>
                  <a:schemeClr val="lt1"/>
                </a:highlight>
              </a:rPr>
              <a:t> (il numero di bit per componente cromatica del device di output)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>
                <a:highlight>
                  <a:schemeClr val="lt1"/>
                </a:highlight>
              </a:rPr>
              <a:t>max-aspect-ratio</a:t>
            </a:r>
            <a:r>
              <a:rPr lang="en" sz="1500">
                <a:highlight>
                  <a:schemeClr val="lt1"/>
                </a:highlight>
              </a:rPr>
              <a:t>, </a:t>
            </a:r>
            <a:r>
              <a:rPr b="1" lang="en" sz="1500">
                <a:highlight>
                  <a:schemeClr val="lt1"/>
                </a:highlight>
              </a:rPr>
              <a:t>min-aspect-ratio</a:t>
            </a:r>
            <a:r>
              <a:rPr lang="en" sz="1500">
                <a:highlight>
                  <a:schemeClr val="lt1"/>
                </a:highlight>
              </a:rPr>
              <a:t> (La min/max proporzione tra la larghezza e l’altezza)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>
                <a:highlight>
                  <a:schemeClr val="lt1"/>
                </a:highlight>
              </a:rPr>
              <a:t>orientation </a:t>
            </a:r>
            <a:r>
              <a:rPr lang="en" sz="1500">
                <a:highlight>
                  <a:schemeClr val="lt1"/>
                </a:highlight>
              </a:rPr>
              <a:t>(landscape </a:t>
            </a:r>
            <a:r>
              <a:rPr lang="en" sz="1500">
                <a:highlight>
                  <a:schemeClr val="lt1"/>
                </a:highlight>
              </a:rPr>
              <a:t>or portrait)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b="1" lang="en" sz="1500">
                <a:highlight>
                  <a:schemeClr val="lt1"/>
                </a:highlight>
              </a:rPr>
              <a:t>resolution</a:t>
            </a:r>
            <a:r>
              <a:rPr lang="en" sz="1500">
                <a:highlight>
                  <a:schemeClr val="lt1"/>
                </a:highlight>
              </a:rPr>
              <a:t>, </a:t>
            </a:r>
            <a:r>
              <a:rPr b="1" lang="en" sz="1500">
                <a:highlight>
                  <a:schemeClr val="lt1"/>
                </a:highlight>
              </a:rPr>
              <a:t>min-resolution</a:t>
            </a:r>
            <a:r>
              <a:rPr lang="en" sz="1500">
                <a:highlight>
                  <a:schemeClr val="lt1"/>
                </a:highlight>
              </a:rPr>
              <a:t>, </a:t>
            </a:r>
            <a:r>
              <a:rPr b="1" lang="en" sz="1500">
                <a:highlight>
                  <a:schemeClr val="lt1"/>
                </a:highlight>
              </a:rPr>
              <a:t>max-resolution</a:t>
            </a:r>
            <a:r>
              <a:rPr lang="en" sz="1500">
                <a:highlight>
                  <a:schemeClr val="lt1"/>
                </a:highlight>
              </a:rPr>
              <a:t> (in dpi o dpcm)</a:t>
            </a:r>
            <a:endParaRPr sz="1500">
              <a:highlight>
                <a:schemeClr val="lt1"/>
              </a:highlight>
            </a:endParaRPr>
          </a:p>
        </p:txBody>
      </p:sp>
      <p:sp>
        <p:nvSpPr>
          <p:cNvPr id="260" name="Google Shape;260;p39">
            <a:hlinkClick r:id="rId3"/>
          </p:cNvPr>
          <p:cNvSpPr/>
          <p:nvPr/>
        </p:nvSpPr>
        <p:spPr>
          <a:xfrm>
            <a:off x="0" y="5092700"/>
            <a:ext cx="4156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Mobile first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838250" y="1504950"/>
            <a:ext cx="5324100" cy="28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l Responsive Design si basa sui vari breakpoint. 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Solitamente vengono utilizzate le seguenti dimensioni per gli schermi: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lang="en" sz="1300">
                <a:highlight>
                  <a:schemeClr val="lt1"/>
                </a:highlight>
              </a:rPr>
              <a:t>fino a </a:t>
            </a:r>
            <a:r>
              <a:rPr b="1" lang="en" sz="1300">
                <a:highlight>
                  <a:schemeClr val="lt1"/>
                </a:highlight>
              </a:rPr>
              <a:t>576px </a:t>
            </a:r>
            <a:r>
              <a:rPr lang="en" sz="1300">
                <a:highlight>
                  <a:schemeClr val="lt1"/>
                </a:highlight>
              </a:rPr>
              <a:t>(smartphone) - default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>
                <a:highlight>
                  <a:schemeClr val="lt1"/>
                </a:highlight>
              </a:rPr>
              <a:t>fino a </a:t>
            </a:r>
            <a:r>
              <a:rPr b="1" lang="en" sz="1300">
                <a:highlight>
                  <a:schemeClr val="lt1"/>
                </a:highlight>
              </a:rPr>
              <a:t>768px </a:t>
            </a:r>
            <a:r>
              <a:rPr lang="en" sz="1300">
                <a:highlight>
                  <a:schemeClr val="lt1"/>
                </a:highlight>
              </a:rPr>
              <a:t>(tablet con orientamento portrait)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>
                <a:highlight>
                  <a:schemeClr val="lt1"/>
                </a:highlight>
              </a:rPr>
              <a:t>fino a </a:t>
            </a:r>
            <a:r>
              <a:rPr b="1" lang="en" sz="1300">
                <a:highlight>
                  <a:schemeClr val="lt1"/>
                </a:highlight>
              </a:rPr>
              <a:t>992px </a:t>
            </a:r>
            <a:r>
              <a:rPr lang="en" sz="1300">
                <a:highlight>
                  <a:schemeClr val="lt1"/>
                </a:highlight>
              </a:rPr>
              <a:t>(tablet con orientamento landscape)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>
                <a:highlight>
                  <a:schemeClr val="lt1"/>
                </a:highlight>
              </a:rPr>
              <a:t>fino a </a:t>
            </a:r>
            <a:r>
              <a:rPr b="1" lang="en" sz="1300">
                <a:highlight>
                  <a:schemeClr val="lt1"/>
                </a:highlight>
              </a:rPr>
              <a:t>1200px </a:t>
            </a:r>
            <a:r>
              <a:rPr lang="en" sz="1300">
                <a:highlight>
                  <a:schemeClr val="lt1"/>
                </a:highlight>
              </a:rPr>
              <a:t>(</a:t>
            </a:r>
            <a:r>
              <a:rPr lang="en" sz="1300">
                <a:highlight>
                  <a:schemeClr val="lt1"/>
                </a:highlight>
              </a:rPr>
              <a:t>laptop e desktop</a:t>
            </a:r>
            <a:r>
              <a:rPr lang="en" sz="1300">
                <a:highlight>
                  <a:schemeClr val="lt1"/>
                </a:highlight>
              </a:rPr>
              <a:t>)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>
                <a:highlight>
                  <a:schemeClr val="lt1"/>
                </a:highlight>
              </a:rPr>
              <a:t>oltre </a:t>
            </a:r>
            <a:r>
              <a:rPr b="1" lang="en" sz="1300">
                <a:highlight>
                  <a:schemeClr val="lt1"/>
                </a:highlight>
              </a:rPr>
              <a:t>1200px </a:t>
            </a:r>
            <a:r>
              <a:rPr lang="en" sz="1300">
                <a:highlight>
                  <a:schemeClr val="lt1"/>
                </a:highlight>
              </a:rPr>
              <a:t>(laptop e desktop grandi)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La visualizzazione su laptop/desktop è sempre stata considerata primaria per definire la struttura del sito. La visualizzazione per tablet e mobile era derivata da essa, togliendo o modificando parti del sito per renderle compatibili e correttamente fruibili.</a:t>
            </a:r>
            <a:endParaRPr sz="1300">
              <a:highlight>
                <a:schemeClr val="lt1"/>
              </a:highlight>
            </a:endParaRPr>
          </a:p>
        </p:txBody>
      </p:sp>
      <p:sp>
        <p:nvSpPr>
          <p:cNvPr id="268" name="Google Shape;268;p40">
            <a:hlinkClick r:id="rId3"/>
          </p:cNvPr>
          <p:cNvSpPr/>
          <p:nvPr/>
        </p:nvSpPr>
        <p:spPr>
          <a:xfrm>
            <a:off x="0" y="5092700"/>
            <a:ext cx="44334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0"/>
          <p:cNvSpPr txBox="1"/>
          <p:nvPr/>
        </p:nvSpPr>
        <p:spPr>
          <a:xfrm>
            <a:off x="7548550" y="943900"/>
            <a:ext cx="131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Esempio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41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Mobile first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76" name="Google Shape;276;p41"/>
          <p:cNvSpPr txBox="1"/>
          <p:nvPr>
            <p:ph idx="1" type="body"/>
          </p:nvPr>
        </p:nvSpPr>
        <p:spPr>
          <a:xfrm>
            <a:off x="838250" y="1504950"/>
            <a:ext cx="5324100" cy="25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Oggi la tendenza è invece quella del </a:t>
            </a:r>
            <a:r>
              <a:rPr b="1" lang="en" sz="1300">
                <a:highlight>
                  <a:schemeClr val="lt1"/>
                </a:highlight>
              </a:rPr>
              <a:t>Mobile First</a:t>
            </a:r>
            <a:r>
              <a:rPr lang="en" sz="1300">
                <a:highlight>
                  <a:schemeClr val="lt1"/>
                </a:highlight>
              </a:rPr>
              <a:t>, cioè quella di partire dalla progettazione su mobile per poi pensare alle risoluzioni più alte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Questo permette anche di individuare fin da subito gli elementi più importanti da mostrare sul sito, sia dal punto di vista grafico che dei contenuti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In questo modo chi progetta il sito e le sue funzionalità ha già da subito le idee chiare su quali saranno i contenuti primari e secondari del sito, quindi si adopererà per visualizzare gli elementi importanti nel migliore dei modi, senza introdurre contenuti superflui o di poca importanza</a:t>
            </a:r>
            <a:endParaRPr sz="1300">
              <a:highlight>
                <a:schemeClr val="lt1"/>
              </a:highlight>
            </a:endParaRPr>
          </a:p>
        </p:txBody>
      </p:sp>
      <p:sp>
        <p:nvSpPr>
          <p:cNvPr id="277" name="Google Shape;277;p41">
            <a:hlinkClick r:id="rId3"/>
          </p:cNvPr>
          <p:cNvSpPr/>
          <p:nvPr/>
        </p:nvSpPr>
        <p:spPr>
          <a:xfrm>
            <a:off x="0" y="5092700"/>
            <a:ext cx="47106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42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Mobile first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84" name="Google Shape;284;p42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Dal punto di vista pratico questo si traduce in:</a:t>
            </a:r>
            <a:endParaRPr sz="1300"/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definizione del </a:t>
            </a:r>
            <a:r>
              <a:rPr b="1" lang="en" sz="1300"/>
              <a:t>css base</a:t>
            </a:r>
            <a:r>
              <a:rPr lang="en" sz="1300"/>
              <a:t> pensato per la fruizione su schermi piccoli (ad esempio smartphone 320 x 640 pixel)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/>
              <a:t>applicazione delle media queries </a:t>
            </a:r>
            <a:r>
              <a:rPr b="1" lang="en" sz="1300"/>
              <a:t>per sovrascrivere</a:t>
            </a:r>
            <a:r>
              <a:rPr lang="en" sz="1300"/>
              <a:t> gli stili che devono essere diversi su schermi più grandi</a:t>
            </a:r>
            <a:endParaRPr sz="1300"/>
          </a:p>
        </p:txBody>
      </p:sp>
      <p:sp>
        <p:nvSpPr>
          <p:cNvPr id="285" name="Google Shape;285;p42"/>
          <p:cNvSpPr txBox="1"/>
          <p:nvPr/>
        </p:nvSpPr>
        <p:spPr>
          <a:xfrm>
            <a:off x="5177825" y="236650"/>
            <a:ext cx="37728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Definiamo la dimensione base di h1 */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{ font-size: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2rem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Cambiamo la dimensione di h1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su schermi più grandi di 760px */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@media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only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screen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and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(min-width: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760px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{ font-size: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3rem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Cambiamo la dimensione di h1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su schermi più grandi di 1200px */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@media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only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screen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and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(min-width: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1200px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h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{ font-size: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5rem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6" name="Google Shape;286;p42"/>
          <p:cNvSpPr txBox="1"/>
          <p:nvPr/>
        </p:nvSpPr>
        <p:spPr>
          <a:xfrm>
            <a:off x="5177825" y="3434350"/>
            <a:ext cx="37728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N.B. Su schermi di dimensioni maggiori di 1200px entrambe le media queries potrebbero essere applicate; la seconda è però più recente e, viste le regole di priorità di CSS, la scelta ricadrà su quella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7" name="Google Shape;287;p42">
            <a:hlinkClick r:id="rId3"/>
          </p:cNvPr>
          <p:cNvSpPr/>
          <p:nvPr/>
        </p:nvSpPr>
        <p:spPr>
          <a:xfrm>
            <a:off x="0" y="5092700"/>
            <a:ext cx="4987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43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1</a:t>
            </a:r>
            <a:endParaRPr/>
          </a:p>
        </p:txBody>
      </p:sp>
      <p:sp>
        <p:nvSpPr>
          <p:cNvPr id="294" name="Google Shape;294;p43"/>
          <p:cNvSpPr txBox="1"/>
          <p:nvPr>
            <p:ph idx="4294967295" type="body"/>
          </p:nvPr>
        </p:nvSpPr>
        <p:spPr>
          <a:xfrm>
            <a:off x="838250" y="1504950"/>
            <a:ext cx="5842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Utilizzate le media query per creare una pagina con due elementi che siano disposti uno sotto l’altro su mobile e uno accanto all’altro su desktop. Cambiate anche la dimensione del font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Aggiungete un elemento che venga mostrato soltanto su desktop</a:t>
            </a:r>
            <a:endParaRPr sz="1500"/>
          </a:p>
        </p:txBody>
      </p:sp>
      <p:grpSp>
        <p:nvGrpSpPr>
          <p:cNvPr id="295" name="Google Shape;295;p43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296" name="Google Shape;296;p43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3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3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3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3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3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43">
            <a:hlinkClick r:id="rId3"/>
          </p:cNvPr>
          <p:cNvSpPr/>
          <p:nvPr/>
        </p:nvSpPr>
        <p:spPr>
          <a:xfrm>
            <a:off x="0" y="5092700"/>
            <a:ext cx="5264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/>
          <p:nvPr>
            <p:ph type="ctrTitle"/>
          </p:nvPr>
        </p:nvSpPr>
        <p:spPr>
          <a:xfrm>
            <a:off x="648300" y="1354750"/>
            <a:ext cx="39015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UNITÀ DI MISURA RELATIVE</a:t>
            </a:r>
            <a:endParaRPr/>
          </a:p>
        </p:txBody>
      </p:sp>
      <p:sp>
        <p:nvSpPr>
          <p:cNvPr id="308" name="Google Shape;308;p4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09" name="Google Shape;309;p44">
            <a:hlinkClick r:id="rId3"/>
          </p:cNvPr>
          <p:cNvSpPr/>
          <p:nvPr/>
        </p:nvSpPr>
        <p:spPr>
          <a:xfrm>
            <a:off x="0" y="5092700"/>
            <a:ext cx="5541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4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Pixel e unità di misura relative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16" name="Google Shape;316;p45"/>
          <p:cNvSpPr txBox="1"/>
          <p:nvPr>
            <p:ph idx="1" type="body"/>
          </p:nvPr>
        </p:nvSpPr>
        <p:spPr>
          <a:xfrm>
            <a:off x="838250" y="1504950"/>
            <a:ext cx="5324100" cy="18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I pixel sono utilizzati molto spesso nel web design. 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Si tratta tuttavia di un’unità di misura assoluta (benché la dimensione fisica del pixel dipenda dal tipo di schermo) 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Per realizzare layout responsive, è bene capire quali sono i casi in cui non conviene fare uso dei pixel. 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È preferibile scegliere unità di misure relative</a:t>
            </a:r>
            <a:endParaRPr sz="1500">
              <a:highlight>
                <a:schemeClr val="lt1"/>
              </a:highlight>
            </a:endParaRPr>
          </a:p>
        </p:txBody>
      </p:sp>
      <p:sp>
        <p:nvSpPr>
          <p:cNvPr id="317" name="Google Shape;317;p45">
            <a:hlinkClick r:id="rId3"/>
          </p:cNvPr>
          <p:cNvSpPr/>
          <p:nvPr/>
        </p:nvSpPr>
        <p:spPr>
          <a:xfrm>
            <a:off x="0" y="5092700"/>
            <a:ext cx="5818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4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Pixel e unità di misura relative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24" name="Google Shape;324;p46"/>
          <p:cNvSpPr txBox="1"/>
          <p:nvPr>
            <p:ph idx="1" type="body"/>
          </p:nvPr>
        </p:nvSpPr>
        <p:spPr>
          <a:xfrm>
            <a:off x="838250" y="1504950"/>
            <a:ext cx="5324100" cy="26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Le unità di misura relative vengono computate in pixel dal browser, in base alle dimensioni scelte nel vostro design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Il vantaggio delle unità relative è che con un po’ di pianificazione è possibile fare in modo che le dimensioni di elementi e testi </a:t>
            </a:r>
            <a:r>
              <a:rPr b="1" lang="en" sz="1300">
                <a:highlight>
                  <a:schemeClr val="lt1"/>
                </a:highlight>
              </a:rPr>
              <a:t>scalino in relazione a tutto il resto</a:t>
            </a:r>
            <a:r>
              <a:rPr lang="en" sz="1300">
                <a:highlight>
                  <a:schemeClr val="lt1"/>
                </a:highlight>
              </a:rPr>
              <a:t>.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Questo ci permette  non solo di ottenere una responsiveness perfetta, ma anche di risparmiare qualche media query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Alcune unità di misura relative: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b="1" lang="en" sz="1300">
                <a:highlight>
                  <a:schemeClr val="lt1"/>
                </a:highlight>
              </a:rPr>
              <a:t>percentuali</a:t>
            </a:r>
            <a:endParaRPr b="1"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b="1" lang="en" sz="1300">
                <a:highlight>
                  <a:schemeClr val="lt1"/>
                </a:highlight>
              </a:rPr>
              <a:t>em </a:t>
            </a:r>
            <a:r>
              <a:rPr lang="en" sz="1300">
                <a:highlight>
                  <a:schemeClr val="lt1"/>
                </a:highlight>
              </a:rPr>
              <a:t>e </a:t>
            </a:r>
            <a:r>
              <a:rPr b="1" lang="en" sz="1300">
                <a:highlight>
                  <a:schemeClr val="lt1"/>
                </a:highlight>
              </a:rPr>
              <a:t>rem</a:t>
            </a:r>
            <a:endParaRPr b="1"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b="1" lang="en" sz="1300">
                <a:highlight>
                  <a:schemeClr val="lt1"/>
                </a:highlight>
              </a:rPr>
              <a:t>vw </a:t>
            </a:r>
            <a:r>
              <a:rPr lang="en" sz="1300">
                <a:highlight>
                  <a:schemeClr val="lt1"/>
                </a:highlight>
              </a:rPr>
              <a:t>e </a:t>
            </a:r>
            <a:r>
              <a:rPr b="1" lang="en" sz="1300">
                <a:highlight>
                  <a:schemeClr val="lt1"/>
                </a:highlight>
              </a:rPr>
              <a:t>vh</a:t>
            </a:r>
            <a:endParaRPr b="1" sz="1300">
              <a:highlight>
                <a:schemeClr val="lt1"/>
              </a:highlight>
            </a:endParaRPr>
          </a:p>
        </p:txBody>
      </p:sp>
      <p:sp>
        <p:nvSpPr>
          <p:cNvPr id="325" name="Google Shape;325;p46">
            <a:hlinkClick r:id="rId3"/>
          </p:cNvPr>
          <p:cNvSpPr/>
          <p:nvPr/>
        </p:nvSpPr>
        <p:spPr>
          <a:xfrm>
            <a:off x="0" y="5092700"/>
            <a:ext cx="6096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4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Percentuali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32" name="Google Shape;332;p47"/>
          <p:cNvSpPr txBox="1"/>
          <p:nvPr>
            <p:ph idx="1" type="body"/>
          </p:nvPr>
        </p:nvSpPr>
        <p:spPr>
          <a:xfrm>
            <a:off x="838250" y="1504950"/>
            <a:ext cx="53241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Le percentuali sono molto utili e facili da usare. L’elemento avrà una dimensione relativa a quella del genitore.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66666"/>
                </a:solidFill>
              </a:rPr>
              <a:t>Nota: alcuni calcoli percentuali funzionano in modo non particolarmente intuitivo. </a:t>
            </a:r>
            <a:endParaRPr sz="15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66666"/>
                </a:solidFill>
              </a:rPr>
              <a:t>Ad esempio, margin e padding sono calcolati, in percentuale, a partire dalla larghezza del genitore. </a:t>
            </a:r>
            <a:endParaRPr sz="1300">
              <a:highlight>
                <a:schemeClr val="lt1"/>
              </a:highlight>
            </a:endParaRPr>
          </a:p>
        </p:txBody>
      </p:sp>
      <p:sp>
        <p:nvSpPr>
          <p:cNvPr id="333" name="Google Shape;333;p47"/>
          <p:cNvSpPr txBox="1"/>
          <p:nvPr/>
        </p:nvSpPr>
        <p:spPr>
          <a:xfrm>
            <a:off x="838250" y="3529675"/>
            <a:ext cx="5233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Per approfondire:</a:t>
            </a:r>
            <a:endParaRPr sz="13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Karla"/>
              <a:buChar char="▸"/>
            </a:pPr>
            <a:r>
              <a:rPr lang="en" sz="13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Oh Hey, Padding Percentage is Based on the Parent Element’s Width</a:t>
            </a:r>
            <a:endParaRPr sz="13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Karla"/>
              <a:buChar char="▸"/>
            </a:pPr>
            <a:r>
              <a:rPr lang="en" sz="13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Why are margin/padding percentages in CSS always calculated against width?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34" name="Google Shape;334;p47">
            <a:hlinkClick r:id="rId5"/>
          </p:cNvPr>
          <p:cNvSpPr/>
          <p:nvPr/>
        </p:nvSpPr>
        <p:spPr>
          <a:xfrm>
            <a:off x="0" y="5092700"/>
            <a:ext cx="6373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8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Gli em e i rem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41" name="Google Shape;341;p48"/>
          <p:cNvSpPr txBox="1"/>
          <p:nvPr>
            <p:ph idx="1" type="body"/>
          </p:nvPr>
        </p:nvSpPr>
        <p:spPr>
          <a:xfrm>
            <a:off x="838250" y="1504950"/>
            <a:ext cx="5324100" cy="24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In origine, l’</a:t>
            </a:r>
            <a:r>
              <a:rPr b="1" lang="en" sz="1500">
                <a:highlight>
                  <a:schemeClr val="lt1"/>
                </a:highlight>
              </a:rPr>
              <a:t>em</a:t>
            </a:r>
            <a:r>
              <a:rPr lang="en" sz="1500">
                <a:highlight>
                  <a:schemeClr val="lt1"/>
                </a:highlight>
              </a:rPr>
              <a:t> era la misura del blocco di metallo utilizzato per stampare un singolo carattere di uno specifico font (1 em era equivalente alla larghezza della M maiuscola)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L’em imposta la dimensione del testo in relazione a una misura ereditata: solitamente è la </a:t>
            </a:r>
            <a:r>
              <a:rPr b="1" lang="en" sz="1500">
                <a:highlight>
                  <a:schemeClr val="lt1"/>
                </a:highlight>
              </a:rPr>
              <a:t>font-size</a:t>
            </a:r>
            <a:r>
              <a:rPr lang="en" sz="1500">
                <a:highlight>
                  <a:schemeClr val="lt1"/>
                </a:highlight>
              </a:rPr>
              <a:t> del testo dell’</a:t>
            </a:r>
            <a:r>
              <a:rPr b="1" lang="en" sz="1500">
                <a:highlight>
                  <a:schemeClr val="lt1"/>
                </a:highlight>
              </a:rPr>
              <a:t>elemento genitore</a:t>
            </a:r>
            <a:r>
              <a:rPr lang="en" sz="1500">
                <a:highlight>
                  <a:schemeClr val="lt1"/>
                </a:highlight>
              </a:rPr>
              <a:t>. 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I </a:t>
            </a:r>
            <a:r>
              <a:rPr b="1" lang="en" sz="1500">
                <a:highlight>
                  <a:schemeClr val="lt1"/>
                </a:highlight>
              </a:rPr>
              <a:t>rem </a:t>
            </a:r>
            <a:r>
              <a:rPr lang="en" sz="1500">
                <a:highlight>
                  <a:schemeClr val="lt1"/>
                </a:highlight>
              </a:rPr>
              <a:t>fanno invece sempre riferimento al </a:t>
            </a:r>
            <a:r>
              <a:rPr b="1" lang="en" sz="1500">
                <a:highlight>
                  <a:schemeClr val="lt1"/>
                </a:highlight>
              </a:rPr>
              <a:t>font-size</a:t>
            </a:r>
            <a:r>
              <a:rPr lang="en" sz="1500">
                <a:highlight>
                  <a:schemeClr val="lt1"/>
                </a:highlight>
              </a:rPr>
              <a:t> del </a:t>
            </a:r>
            <a:r>
              <a:rPr b="1" lang="en" sz="1500">
                <a:highlight>
                  <a:schemeClr val="lt1"/>
                </a:highlight>
              </a:rPr>
              <a:t>root element</a:t>
            </a:r>
            <a:r>
              <a:rPr lang="en" sz="1500">
                <a:highlight>
                  <a:schemeClr val="lt1"/>
                </a:highlight>
              </a:rPr>
              <a:t> del documento.</a:t>
            </a:r>
            <a:endParaRPr sz="1500">
              <a:highlight>
                <a:schemeClr val="lt1"/>
              </a:highlight>
            </a:endParaRPr>
          </a:p>
        </p:txBody>
      </p:sp>
      <p:sp>
        <p:nvSpPr>
          <p:cNvPr id="342" name="Google Shape;342;p48">
            <a:hlinkClick r:id="rId3"/>
          </p:cNvPr>
          <p:cNvSpPr/>
          <p:nvPr/>
        </p:nvSpPr>
        <p:spPr>
          <a:xfrm>
            <a:off x="0" y="5092700"/>
            <a:ext cx="6650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Ereditarietà dell’em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49" name="Google Shape;349;p49"/>
          <p:cNvSpPr txBox="1"/>
          <p:nvPr>
            <p:ph idx="1" type="body"/>
          </p:nvPr>
        </p:nvSpPr>
        <p:spPr>
          <a:xfrm>
            <a:off x="838250" y="1504950"/>
            <a:ext cx="53241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Se imposto il font-size del body a 10px, i suoi discendenti con em a 1.2 avranno un font-size con una grandezza del 120% (12px). </a:t>
            </a:r>
            <a:endParaRPr sz="1500">
              <a:highlight>
                <a:schemeClr val="lt1"/>
              </a:highlight>
            </a:endParaRPr>
          </a:p>
        </p:txBody>
      </p:sp>
      <p:sp>
        <p:nvSpPr>
          <p:cNvPr id="350" name="Google Shape;350;p49"/>
          <p:cNvSpPr txBox="1"/>
          <p:nvPr/>
        </p:nvSpPr>
        <p:spPr>
          <a:xfrm>
            <a:off x="838350" y="2382150"/>
            <a:ext cx="5324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Attenzione</a:t>
            </a: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!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Se em a 1.2 viene assegnato ai discendenti di elementi con em a 1.2, i discendenti avranno una dimensione corrispondente al 120% del 120%</a:t>
            </a:r>
            <a:endParaRPr/>
          </a:p>
        </p:txBody>
      </p:sp>
      <p:sp>
        <p:nvSpPr>
          <p:cNvPr id="351" name="Google Shape;351;p49"/>
          <p:cNvSpPr txBox="1"/>
          <p:nvPr/>
        </p:nvSpPr>
        <p:spPr>
          <a:xfrm>
            <a:off x="940725" y="3567450"/>
            <a:ext cx="5324100" cy="1223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body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 font-size: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}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10px */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 font-size: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1.2em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}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12px */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p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 font-size: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1.2em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}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se p è dentro al div, 14.39px */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2" name="Google Shape;352;p49"/>
          <p:cNvSpPr txBox="1"/>
          <p:nvPr/>
        </p:nvSpPr>
        <p:spPr>
          <a:xfrm>
            <a:off x="5578425" y="3567450"/>
            <a:ext cx="686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/>
              </a:rPr>
              <a:t>Try!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53" name="Google Shape;353;p49">
            <a:hlinkClick r:id="rId4"/>
          </p:cNvPr>
          <p:cNvSpPr/>
          <p:nvPr/>
        </p:nvSpPr>
        <p:spPr>
          <a:xfrm>
            <a:off x="0" y="5092700"/>
            <a:ext cx="6927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5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Viewport units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60" name="Google Shape;360;p50"/>
          <p:cNvSpPr txBox="1"/>
          <p:nvPr>
            <p:ph idx="1" type="body"/>
          </p:nvPr>
        </p:nvSpPr>
        <p:spPr>
          <a:xfrm>
            <a:off x="838250" y="1504950"/>
            <a:ext cx="5324100" cy="24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Queste unità, relativamente recenti, corrispondono ad una percentuale dell’attuale viewport del browser. </a:t>
            </a:r>
            <a:endParaRPr sz="15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Quando l’altezza o larghezza della viewport viene modificata, la dimensione computata viene scalata di conseguenza.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>
                <a:highlight>
                  <a:schemeClr val="lt1"/>
                </a:highlight>
              </a:rPr>
              <a:t>Viewport width (</a:t>
            </a:r>
            <a:r>
              <a:rPr b="1" lang="en" sz="1500">
                <a:highlight>
                  <a:schemeClr val="lt1"/>
                </a:highlight>
              </a:rPr>
              <a:t>vw</a:t>
            </a:r>
            <a:r>
              <a:rPr lang="en" sz="1500">
                <a:highlight>
                  <a:schemeClr val="lt1"/>
                </a:highlight>
              </a:rPr>
              <a:t>). 1 vw corrisponde ad 1% della larghezza della finestra.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>
                <a:highlight>
                  <a:schemeClr val="lt1"/>
                </a:highlight>
              </a:rPr>
              <a:t>Viewport height (</a:t>
            </a:r>
            <a:r>
              <a:rPr b="1" lang="en" sz="1500">
                <a:highlight>
                  <a:schemeClr val="lt1"/>
                </a:highlight>
              </a:rPr>
              <a:t>vh</a:t>
            </a:r>
            <a:r>
              <a:rPr lang="en" sz="1500">
                <a:highlight>
                  <a:schemeClr val="lt1"/>
                </a:highlight>
              </a:rPr>
              <a:t>). 1 vh corrisponde ad 1% dell’altezza della finestra.</a:t>
            </a:r>
            <a:endParaRPr sz="1500">
              <a:highlight>
                <a:schemeClr val="lt1"/>
              </a:highlight>
            </a:endParaRPr>
          </a:p>
        </p:txBody>
      </p:sp>
      <p:sp>
        <p:nvSpPr>
          <p:cNvPr id="361" name="Google Shape;361;p50">
            <a:hlinkClick r:id="rId3"/>
          </p:cNvPr>
          <p:cNvSpPr/>
          <p:nvPr/>
        </p:nvSpPr>
        <p:spPr>
          <a:xfrm>
            <a:off x="0" y="5092700"/>
            <a:ext cx="7204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7" name="Google Shape;367;p51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Tipografia responsive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68" name="Google Shape;368;p51"/>
          <p:cNvSpPr txBox="1"/>
          <p:nvPr>
            <p:ph idx="1" type="body"/>
          </p:nvPr>
        </p:nvSpPr>
        <p:spPr>
          <a:xfrm>
            <a:off x="838250" y="1504950"/>
            <a:ext cx="53241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Utilizzare le viewport units per la tipografia può essere comodo, ma c’è il rischio di creare caratteri troppo piccoli su schermi piccoli. 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</a:rPr>
              <a:t>La funzione clamp() può risolvere questo problema</a:t>
            </a:r>
            <a:endParaRPr sz="1300">
              <a:highlight>
                <a:schemeClr val="lt1"/>
              </a:highlight>
            </a:endParaRPr>
          </a:p>
        </p:txBody>
      </p:sp>
      <p:sp>
        <p:nvSpPr>
          <p:cNvPr id="369" name="Google Shape;369;p51"/>
          <p:cNvSpPr txBox="1"/>
          <p:nvPr/>
        </p:nvSpPr>
        <p:spPr>
          <a:xfrm>
            <a:off x="952050" y="2366850"/>
            <a:ext cx="52104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div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font-size: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clamp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min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val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max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51"/>
          <p:cNvSpPr txBox="1"/>
          <p:nvPr/>
        </p:nvSpPr>
        <p:spPr>
          <a:xfrm>
            <a:off x="838350" y="4279200"/>
            <a:ext cx="5324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  <a:hlinkClick r:id="rId3"/>
              </a:rPr>
              <a:t>Esempio di applicazione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  <a:hlinkClick r:id="rId4"/>
              </a:rPr>
              <a:t>Video approfondimento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71" name="Google Shape;371;p51">
            <a:hlinkClick r:id="rId5"/>
          </p:cNvPr>
          <p:cNvSpPr/>
          <p:nvPr/>
        </p:nvSpPr>
        <p:spPr>
          <a:xfrm>
            <a:off x="0" y="5092700"/>
            <a:ext cx="74814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52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Vari tipi di layout responsive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78" name="Google Shape;378;p52"/>
          <p:cNvSpPr txBox="1"/>
          <p:nvPr>
            <p:ph idx="1" type="body"/>
          </p:nvPr>
        </p:nvSpPr>
        <p:spPr>
          <a:xfrm>
            <a:off x="838250" y="1504950"/>
            <a:ext cx="5324100" cy="11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</a:rPr>
              <a:t>Esempi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ighlight>
                  <a:schemeClr val="lt1"/>
                </a:highlight>
                <a:hlinkClick r:id="rId3"/>
              </a:rPr>
              <a:t>Layout a due colonne con unità relative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ighlight>
                  <a:schemeClr val="lt1"/>
                </a:highlight>
                <a:hlinkClick r:id="rId4"/>
              </a:rPr>
              <a:t>Utilizzo di vh per sito one-page</a:t>
            </a:r>
            <a:endParaRPr sz="1500"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 u="sng">
                <a:solidFill>
                  <a:schemeClr val="hlink"/>
                </a:solidFill>
                <a:highlight>
                  <a:schemeClr val="lt1"/>
                </a:highlight>
                <a:hlinkClick r:id="rId5"/>
              </a:rPr>
              <a:t>Responsive layout con flexbox e em</a:t>
            </a:r>
            <a:r>
              <a:rPr lang="en" sz="1500">
                <a:highlight>
                  <a:schemeClr val="lt1"/>
                </a:highlight>
              </a:rPr>
              <a:t> </a:t>
            </a:r>
            <a:endParaRPr sz="1500">
              <a:highlight>
                <a:schemeClr val="lt1"/>
              </a:highlight>
            </a:endParaRPr>
          </a:p>
        </p:txBody>
      </p:sp>
      <p:sp>
        <p:nvSpPr>
          <p:cNvPr id="379" name="Google Shape;379;p52">
            <a:hlinkClick r:id="rId6"/>
          </p:cNvPr>
          <p:cNvSpPr/>
          <p:nvPr/>
        </p:nvSpPr>
        <p:spPr>
          <a:xfrm>
            <a:off x="0" y="5092700"/>
            <a:ext cx="77586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53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2</a:t>
            </a:r>
            <a:endParaRPr/>
          </a:p>
        </p:txBody>
      </p:sp>
      <p:sp>
        <p:nvSpPr>
          <p:cNvPr id="386" name="Google Shape;386;p53"/>
          <p:cNvSpPr txBox="1"/>
          <p:nvPr>
            <p:ph idx="4294967295" type="body"/>
          </p:nvPr>
        </p:nvSpPr>
        <p:spPr>
          <a:xfrm>
            <a:off x="838250" y="1504950"/>
            <a:ext cx="5842800" cy="26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Sfruttando tutto ciò che abbiamo visto finora, create un layout a 4 colonne con una unità di misura relativa, seguendo queste specifiche:</a:t>
            </a:r>
            <a:endParaRPr sz="1500"/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Su mobile, le colonne devono comparire una sotto l’altra. Su desktop, invece, una accanto all’altra.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Su desktop, deve esserci almeno una colonna che è metà di un’altra.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Su ogni tipo di schermo, una colonna deve avere un font decisamente più piccolo e un’altra un font più grande.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/>
              <a:t>Seguite un approccio mobile first</a:t>
            </a:r>
            <a:endParaRPr b="1" sz="1500"/>
          </a:p>
        </p:txBody>
      </p:sp>
      <p:grpSp>
        <p:nvGrpSpPr>
          <p:cNvPr id="387" name="Google Shape;387;p53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388" name="Google Shape;388;p53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3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3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3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3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3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p53">
            <a:hlinkClick r:id="rId3"/>
          </p:cNvPr>
          <p:cNvSpPr/>
          <p:nvPr/>
        </p:nvSpPr>
        <p:spPr>
          <a:xfrm>
            <a:off x="0" y="5092700"/>
            <a:ext cx="80355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54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3</a:t>
            </a:r>
            <a:endParaRPr/>
          </a:p>
        </p:txBody>
      </p:sp>
      <p:sp>
        <p:nvSpPr>
          <p:cNvPr id="401" name="Google Shape;401;p54"/>
          <p:cNvSpPr txBox="1"/>
          <p:nvPr>
            <p:ph idx="4294967295" type="body"/>
          </p:nvPr>
        </p:nvSpPr>
        <p:spPr>
          <a:xfrm>
            <a:off x="838250" y="1504950"/>
            <a:ext cx="5842800" cy="30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Cercate di riprodurre il layout delle slide successive.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La linea tratteggiata delimita la viewport e divide (approssimativamente) i contenuti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above the fold</a:t>
            </a:r>
            <a:r>
              <a:rPr lang="en" sz="1500"/>
              <a:t> da quelli below the fold.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La stringa di testo nel riquadro azzurro deve essere esattamente quella riportata in figura, o comunque una stringa con lo stesso numero di caratteri.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 numeri grigi indicano proporzioni che devono essere rispettate.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Potete adattare la visualizzazione per fare in modo che gli elementi con bordo verde assumano una larghezza a vostra scelta rispetto alla larghezza totale della viewport</a:t>
            </a:r>
            <a:endParaRPr sz="1500"/>
          </a:p>
        </p:txBody>
      </p:sp>
      <p:grpSp>
        <p:nvGrpSpPr>
          <p:cNvPr id="402" name="Google Shape;402;p54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403" name="Google Shape;403;p54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4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4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4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4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4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" name="Google Shape;409;p54">
            <a:hlinkClick r:id="rId4"/>
          </p:cNvPr>
          <p:cNvSpPr/>
          <p:nvPr/>
        </p:nvSpPr>
        <p:spPr>
          <a:xfrm>
            <a:off x="0" y="5092700"/>
            <a:ext cx="8312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4"/>
          <p:cNvSpPr txBox="1"/>
          <p:nvPr/>
        </p:nvSpPr>
        <p:spPr>
          <a:xfrm>
            <a:off x="7594250" y="890050"/>
            <a:ext cx="10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5"/>
              </a:rPr>
              <a:t>soluzione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16" name="Google Shape;416;p55"/>
          <p:cNvSpPr txBox="1"/>
          <p:nvPr/>
        </p:nvSpPr>
        <p:spPr>
          <a:xfrm>
            <a:off x="585475" y="544150"/>
            <a:ext cx="79578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17" name="Google Shape;417;p55"/>
          <p:cNvCxnSpPr/>
          <p:nvPr/>
        </p:nvCxnSpPr>
        <p:spPr>
          <a:xfrm>
            <a:off x="4692225" y="7826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55"/>
          <p:cNvSpPr/>
          <p:nvPr/>
        </p:nvSpPr>
        <p:spPr>
          <a:xfrm>
            <a:off x="2474125" y="956225"/>
            <a:ext cx="3488100" cy="1077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9" name="Google Shape;419;p55"/>
          <p:cNvCxnSpPr/>
          <p:nvPr/>
        </p:nvCxnSpPr>
        <p:spPr>
          <a:xfrm>
            <a:off x="315250" y="564125"/>
            <a:ext cx="0" cy="1791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55"/>
          <p:cNvSpPr txBox="1"/>
          <p:nvPr/>
        </p:nvSpPr>
        <p:spPr>
          <a:xfrm>
            <a:off x="-34350" y="12941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60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21" name="Google Shape;421;p55"/>
          <p:cNvCxnSpPr/>
          <p:nvPr/>
        </p:nvCxnSpPr>
        <p:spPr>
          <a:xfrm>
            <a:off x="3022813" y="561250"/>
            <a:ext cx="0" cy="367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55"/>
          <p:cNvCxnSpPr/>
          <p:nvPr/>
        </p:nvCxnSpPr>
        <p:spPr>
          <a:xfrm>
            <a:off x="3022813" y="2006900"/>
            <a:ext cx="0" cy="367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55"/>
          <p:cNvSpPr txBox="1"/>
          <p:nvPr/>
        </p:nvSpPr>
        <p:spPr>
          <a:xfrm>
            <a:off x="2474125" y="54505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4" name="Google Shape;424;p55"/>
          <p:cNvSpPr txBox="1"/>
          <p:nvPr/>
        </p:nvSpPr>
        <p:spPr>
          <a:xfrm>
            <a:off x="2474125" y="19907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5" name="Google Shape;425;p55"/>
          <p:cNvSpPr txBox="1"/>
          <p:nvPr/>
        </p:nvSpPr>
        <p:spPr>
          <a:xfrm>
            <a:off x="2674951" y="1210025"/>
            <a:ext cx="29202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FFFFF"/>
                </a:highlight>
              </a:rPr>
              <a:t>Lorem ipsum dolor sit amet, consectetur adipiscing elit. Fusce id euismod purus. Proin id egestas turpis, quis semper est. Suspendisse fringilla dui eu egestas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6" name="Google Shape;426;p55"/>
          <p:cNvSpPr txBox="1"/>
          <p:nvPr/>
        </p:nvSpPr>
        <p:spPr>
          <a:xfrm>
            <a:off x="2741313" y="962225"/>
            <a:ext cx="285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Titolo h1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27" name="Google Shape;427;p55"/>
          <p:cNvCxnSpPr>
            <a:endCxn id="420" idx="3"/>
          </p:cNvCxnSpPr>
          <p:nvPr/>
        </p:nvCxnSpPr>
        <p:spPr>
          <a:xfrm flipH="1">
            <a:off x="514350" y="1493675"/>
            <a:ext cx="1922700" cy="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55"/>
          <p:cNvCxnSpPr/>
          <p:nvPr/>
        </p:nvCxnSpPr>
        <p:spPr>
          <a:xfrm rot="10800000">
            <a:off x="6009325" y="1494725"/>
            <a:ext cx="2508600" cy="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55"/>
          <p:cNvSpPr txBox="1"/>
          <p:nvPr/>
        </p:nvSpPr>
        <p:spPr>
          <a:xfrm>
            <a:off x="1199625" y="10954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0" name="Google Shape;430;p55"/>
          <p:cNvSpPr txBox="1"/>
          <p:nvPr/>
        </p:nvSpPr>
        <p:spPr>
          <a:xfrm>
            <a:off x="7109775" y="10954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25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1" name="Google Shape;431;p55"/>
          <p:cNvSpPr txBox="1"/>
          <p:nvPr/>
        </p:nvSpPr>
        <p:spPr>
          <a:xfrm>
            <a:off x="593100" y="2478950"/>
            <a:ext cx="17463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2" name="Google Shape;432;p55"/>
          <p:cNvSpPr txBox="1"/>
          <p:nvPr/>
        </p:nvSpPr>
        <p:spPr>
          <a:xfrm>
            <a:off x="2474125" y="2478950"/>
            <a:ext cx="43785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3" name="Google Shape;433;p55"/>
          <p:cNvSpPr txBox="1"/>
          <p:nvPr/>
        </p:nvSpPr>
        <p:spPr>
          <a:xfrm>
            <a:off x="6987350" y="2478950"/>
            <a:ext cx="15558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(IMMAGINE)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34" name="Google Shape;434;p55"/>
          <p:cNvCxnSpPr/>
          <p:nvPr/>
        </p:nvCxnSpPr>
        <p:spPr>
          <a:xfrm>
            <a:off x="-24000" y="3915700"/>
            <a:ext cx="91920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5" name="Google Shape;435;p55"/>
          <p:cNvSpPr txBox="1"/>
          <p:nvPr/>
        </p:nvSpPr>
        <p:spPr>
          <a:xfrm>
            <a:off x="2617125" y="2571000"/>
            <a:ext cx="2452200" cy="10779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40640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1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6" name="Google Shape;436;p55"/>
          <p:cNvSpPr txBox="1"/>
          <p:nvPr/>
        </p:nvSpPr>
        <p:spPr>
          <a:xfrm>
            <a:off x="5180100" y="2571000"/>
            <a:ext cx="1571100" cy="16335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	3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7" name="Google Shape;437;p55"/>
          <p:cNvSpPr txBox="1"/>
          <p:nvPr/>
        </p:nvSpPr>
        <p:spPr>
          <a:xfrm>
            <a:off x="2617125" y="3715600"/>
            <a:ext cx="2452200" cy="4890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40640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 2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8" name="Google Shape;438;p55"/>
          <p:cNvSpPr/>
          <p:nvPr/>
        </p:nvSpPr>
        <p:spPr>
          <a:xfrm>
            <a:off x="798850" y="2634825"/>
            <a:ext cx="489000" cy="489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5"/>
          <p:cNvSpPr/>
          <p:nvPr/>
        </p:nvSpPr>
        <p:spPr>
          <a:xfrm>
            <a:off x="1636488" y="2634825"/>
            <a:ext cx="489000" cy="489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5"/>
          <p:cNvSpPr txBox="1"/>
          <p:nvPr/>
        </p:nvSpPr>
        <p:spPr>
          <a:xfrm>
            <a:off x="798850" y="3200025"/>
            <a:ext cx="5487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highlight>
                  <a:srgbClr val="FFFFFF"/>
                </a:highlight>
              </a:rPr>
              <a:t>Lorem ipsum</a:t>
            </a:r>
            <a:endParaRPr sz="13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1" name="Google Shape;441;p55"/>
          <p:cNvSpPr txBox="1"/>
          <p:nvPr/>
        </p:nvSpPr>
        <p:spPr>
          <a:xfrm>
            <a:off x="1637050" y="3200025"/>
            <a:ext cx="5487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highlight>
                  <a:srgbClr val="FFFFFF"/>
                </a:highlight>
              </a:rPr>
              <a:t>Lorem ipsum</a:t>
            </a:r>
            <a:endParaRPr sz="1300"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42" name="Google Shape;442;p55"/>
          <p:cNvCxnSpPr/>
          <p:nvPr/>
        </p:nvCxnSpPr>
        <p:spPr>
          <a:xfrm rot="10800000">
            <a:off x="585525" y="363450"/>
            <a:ext cx="79383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55"/>
          <p:cNvSpPr txBox="1"/>
          <p:nvPr/>
        </p:nvSpPr>
        <p:spPr>
          <a:xfrm>
            <a:off x="1748325" y="-455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100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4" name="Google Shape;444;p55">
            <a:hlinkClick r:id="rId3"/>
          </p:cNvPr>
          <p:cNvSpPr/>
          <p:nvPr/>
        </p:nvSpPr>
        <p:spPr>
          <a:xfrm>
            <a:off x="0" y="5092700"/>
            <a:ext cx="8589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50" name="Google Shape;450;p56"/>
          <p:cNvSpPr txBox="1"/>
          <p:nvPr/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13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56"/>
          <p:cNvSpPr txBox="1"/>
          <p:nvPr/>
        </p:nvSpPr>
        <p:spPr>
          <a:xfrm>
            <a:off x="1012350" y="470825"/>
            <a:ext cx="1995300" cy="250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52" name="Google Shape;452;p56"/>
          <p:cNvCxnSpPr/>
          <p:nvPr/>
        </p:nvCxnSpPr>
        <p:spPr>
          <a:xfrm>
            <a:off x="4692225" y="7826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56"/>
          <p:cNvCxnSpPr/>
          <p:nvPr/>
        </p:nvCxnSpPr>
        <p:spPr>
          <a:xfrm flipH="1">
            <a:off x="350300" y="399575"/>
            <a:ext cx="21000" cy="2571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56"/>
          <p:cNvSpPr txBox="1"/>
          <p:nvPr/>
        </p:nvSpPr>
        <p:spPr>
          <a:xfrm>
            <a:off x="-34350" y="12941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100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55" name="Google Shape;455;p56"/>
          <p:cNvCxnSpPr/>
          <p:nvPr/>
        </p:nvCxnSpPr>
        <p:spPr>
          <a:xfrm>
            <a:off x="1803613" y="485050"/>
            <a:ext cx="0" cy="167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56"/>
          <p:cNvSpPr txBox="1"/>
          <p:nvPr/>
        </p:nvSpPr>
        <p:spPr>
          <a:xfrm>
            <a:off x="1494300" y="3946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10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57" name="Google Shape;457;p56"/>
          <p:cNvCxnSpPr>
            <a:stCxn id="454" idx="3"/>
            <a:endCxn id="454" idx="3"/>
          </p:cNvCxnSpPr>
          <p:nvPr/>
        </p:nvCxnSpPr>
        <p:spPr>
          <a:xfrm>
            <a:off x="514350" y="1494275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56"/>
          <p:cNvCxnSpPr/>
          <p:nvPr/>
        </p:nvCxnSpPr>
        <p:spPr>
          <a:xfrm rot="10800000">
            <a:off x="982200" y="1495175"/>
            <a:ext cx="2835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56"/>
          <p:cNvSpPr txBox="1"/>
          <p:nvPr/>
        </p:nvSpPr>
        <p:spPr>
          <a:xfrm>
            <a:off x="982200" y="10931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0" name="Google Shape;460;p56"/>
          <p:cNvSpPr txBox="1"/>
          <p:nvPr/>
        </p:nvSpPr>
        <p:spPr>
          <a:xfrm>
            <a:off x="2521488" y="10931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5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1" name="Google Shape;461;p56"/>
          <p:cNvSpPr/>
          <p:nvPr/>
        </p:nvSpPr>
        <p:spPr>
          <a:xfrm>
            <a:off x="1181075" y="721000"/>
            <a:ext cx="1669500" cy="194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6"/>
          <p:cNvSpPr txBox="1"/>
          <p:nvPr/>
        </p:nvSpPr>
        <p:spPr>
          <a:xfrm>
            <a:off x="1161033" y="1033950"/>
            <a:ext cx="14916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highlight>
                  <a:srgbClr val="FFFFFF"/>
                </a:highlight>
              </a:rPr>
              <a:t>Lorem ipsum dolor sit amet, consectetur adipiscing elit. Fusce id euismod purus. Proin id egestas turpis, quis semper est. Suspendisse fringilla dui eu egestas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3" name="Google Shape;463;p56"/>
          <p:cNvSpPr txBox="1"/>
          <p:nvPr/>
        </p:nvSpPr>
        <p:spPr>
          <a:xfrm>
            <a:off x="1239819" y="721000"/>
            <a:ext cx="149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Titolo h1 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4" name="Google Shape;464;p56"/>
          <p:cNvSpPr txBox="1"/>
          <p:nvPr/>
        </p:nvSpPr>
        <p:spPr>
          <a:xfrm>
            <a:off x="1018175" y="3086500"/>
            <a:ext cx="1995300" cy="194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65" name="Google Shape;465;p56"/>
          <p:cNvCxnSpPr/>
          <p:nvPr/>
        </p:nvCxnSpPr>
        <p:spPr>
          <a:xfrm>
            <a:off x="-42050" y="2988600"/>
            <a:ext cx="45135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66" name="Google Shape;466;p56"/>
          <p:cNvSpPr/>
          <p:nvPr/>
        </p:nvSpPr>
        <p:spPr>
          <a:xfrm>
            <a:off x="1765494" y="3207975"/>
            <a:ext cx="489000" cy="489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6"/>
          <p:cNvSpPr/>
          <p:nvPr/>
        </p:nvSpPr>
        <p:spPr>
          <a:xfrm>
            <a:off x="1765494" y="4162725"/>
            <a:ext cx="489000" cy="4890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6"/>
          <p:cNvSpPr txBox="1"/>
          <p:nvPr/>
        </p:nvSpPr>
        <p:spPr>
          <a:xfrm>
            <a:off x="1735650" y="3664388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highlight>
                  <a:srgbClr val="FFFFFF"/>
                </a:highlight>
              </a:rPr>
              <a:t>Lorem ipsum</a:t>
            </a:r>
            <a:endParaRPr sz="13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9" name="Google Shape;469;p56"/>
          <p:cNvSpPr txBox="1"/>
          <p:nvPr/>
        </p:nvSpPr>
        <p:spPr>
          <a:xfrm>
            <a:off x="1735650" y="4576600"/>
            <a:ext cx="5487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highlight>
                  <a:srgbClr val="FFFFFF"/>
                </a:highlight>
              </a:rPr>
              <a:t>Lorem ipsum</a:t>
            </a:r>
            <a:endParaRPr sz="13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0" name="Google Shape;470;p56"/>
          <p:cNvSpPr txBox="1"/>
          <p:nvPr/>
        </p:nvSpPr>
        <p:spPr>
          <a:xfrm>
            <a:off x="6426750" y="380225"/>
            <a:ext cx="1555800" cy="182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(IMMAGINE)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71" name="Google Shape;471;p56"/>
          <p:cNvCxnSpPr/>
          <p:nvPr/>
        </p:nvCxnSpPr>
        <p:spPr>
          <a:xfrm flipH="1">
            <a:off x="4470825" y="164275"/>
            <a:ext cx="9900" cy="4758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56"/>
          <p:cNvSpPr txBox="1"/>
          <p:nvPr/>
        </p:nvSpPr>
        <p:spPr>
          <a:xfrm>
            <a:off x="6426750" y="2474700"/>
            <a:ext cx="1555800" cy="2508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3" name="Google Shape;473;p56"/>
          <p:cNvSpPr txBox="1"/>
          <p:nvPr/>
        </p:nvSpPr>
        <p:spPr>
          <a:xfrm>
            <a:off x="6698250" y="2571000"/>
            <a:ext cx="1012800" cy="10779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40640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1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4" name="Google Shape;474;p56"/>
          <p:cNvSpPr txBox="1"/>
          <p:nvPr/>
        </p:nvSpPr>
        <p:spPr>
          <a:xfrm>
            <a:off x="6751200" y="4386450"/>
            <a:ext cx="960000" cy="4890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	3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5" name="Google Shape;475;p56"/>
          <p:cNvSpPr txBox="1"/>
          <p:nvPr/>
        </p:nvSpPr>
        <p:spPr>
          <a:xfrm>
            <a:off x="6751200" y="3773175"/>
            <a:ext cx="960000" cy="489000"/>
          </a:xfrm>
          <a:prstGeom prst="rect">
            <a:avLst/>
          </a:prstGeom>
          <a:noFill/>
          <a:ln cap="flat" cmpd="sng" w="9525">
            <a:solidFill>
              <a:srgbClr val="FF7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275">
            <a:no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40640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Karla"/>
                <a:ea typeface="Karla"/>
                <a:cs typeface="Karla"/>
                <a:sym typeface="Karla"/>
              </a:rPr>
              <a:t> 2</a:t>
            </a:r>
            <a:endParaRPr sz="1000">
              <a:solidFill>
                <a:srgbClr val="66666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476" name="Google Shape;476;p56"/>
          <p:cNvCxnSpPr/>
          <p:nvPr/>
        </p:nvCxnSpPr>
        <p:spPr>
          <a:xfrm rot="10800000">
            <a:off x="1010575" y="363450"/>
            <a:ext cx="19767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" name="Google Shape;477;p56"/>
          <p:cNvSpPr txBox="1"/>
          <p:nvPr/>
        </p:nvSpPr>
        <p:spPr>
          <a:xfrm>
            <a:off x="1748325" y="-455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100</a:t>
            </a:r>
            <a:endParaRPr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8" name="Google Shape;478;p56">
            <a:hlinkClick r:id="rId3"/>
          </p:cNvPr>
          <p:cNvSpPr/>
          <p:nvPr/>
        </p:nvSpPr>
        <p:spPr>
          <a:xfrm>
            <a:off x="0" y="5092700"/>
            <a:ext cx="8866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7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</a:t>
            </a:r>
            <a:endParaRPr sz="3000"/>
          </a:p>
        </p:txBody>
      </p:sp>
      <p:grpSp>
        <p:nvGrpSpPr>
          <p:cNvPr id="484" name="Google Shape;484;p57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485" name="Google Shape;485;p57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57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87" name="Google Shape;487;p57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57"/>
          <p:cNvSpPr txBox="1"/>
          <p:nvPr>
            <p:ph type="ctrTitle"/>
          </p:nvPr>
        </p:nvSpPr>
        <p:spPr>
          <a:xfrm>
            <a:off x="682250" y="2416625"/>
            <a:ext cx="1754700" cy="3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ESERCITAZIONE 3</a:t>
            </a:r>
            <a:endParaRPr sz="1200"/>
          </a:p>
        </p:txBody>
      </p:sp>
      <p:sp>
        <p:nvSpPr>
          <p:cNvPr id="489" name="Google Shape;489;p57">
            <a:hlinkClick r:id="rId3"/>
          </p:cNvPr>
          <p:cNvSpPr/>
          <p:nvPr/>
        </p:nvSpPr>
        <p:spPr>
          <a:xfrm>
            <a:off x="0" y="5092700"/>
            <a:ext cx="9144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viragus template">
  <a:themeElements>
    <a:clrScheme name="Custom 347">
      <a:dk1>
        <a:srgbClr val="555555"/>
      </a:dk1>
      <a:lt1>
        <a:srgbClr val="FFFFFF"/>
      </a:lt1>
      <a:dk2>
        <a:srgbClr val="838383"/>
      </a:dk2>
      <a:lt2>
        <a:srgbClr val="FFFFFF"/>
      </a:lt2>
      <a:accent1>
        <a:srgbClr val="5D2C3E"/>
      </a:accent1>
      <a:accent2>
        <a:srgbClr val="EAAD38"/>
      </a:accent2>
      <a:accent3>
        <a:srgbClr val="035162"/>
      </a:accent3>
      <a:accent4>
        <a:srgbClr val="CC0000"/>
      </a:accent4>
      <a:accent5>
        <a:srgbClr val="FF9800"/>
      </a:accent5>
      <a:accent6>
        <a:srgbClr val="FFEB3B"/>
      </a:accent6>
      <a:hlink>
        <a:srgbClr val="2196F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